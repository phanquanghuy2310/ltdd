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12192000"/>
  <p:notesSz cx="6858000" cy="9144000"/>
  <p:embeddedFontLst>
    <p:embeddedFont>
      <p:font typeface="Mate"/>
      <p:regular r:id="rId34"/>
      <p:italic r:id="rId35"/>
    </p:embeddedFont>
    <p:embeddedFont>
      <p:font typeface="Inter SemiBold"/>
      <p:regular r:id="rId36"/>
      <p:bold r:id="rId37"/>
      <p:italic r:id="rId38"/>
      <p:boldItalic r:id="rId39"/>
    </p:embeddedFont>
    <p:embeddedFont>
      <p:font typeface="Montserrat"/>
      <p:regular r:id="rId40"/>
      <p:bold r:id="rId41"/>
      <p:italic r:id="rId42"/>
      <p:boldItalic r:id="rId43"/>
    </p:embeddedFont>
    <p:embeddedFont>
      <p:font typeface="Inter"/>
      <p:regular r:id="rId44"/>
      <p:bold r:id="rId45"/>
      <p:italic r:id="rId46"/>
      <p:boldItalic r:id="rId47"/>
    </p:embeddedFont>
    <p:embeddedFont>
      <p:font typeface="Tahoma"/>
      <p:regular r:id="rId48"/>
      <p:bold r:id="rId49"/>
    </p:embeddedFont>
    <p:embeddedFont>
      <p:font typeface="Balthazar"/>
      <p:regular r:id="rId50"/>
    </p:embeddedFont>
    <p:embeddedFont>
      <p:font typeface="Montserrat ExtraBold"/>
      <p:bold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53" roundtripDataSignature="AMtx7miI1Rq3sPj17OfxT0vzlF5Yp2589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5D9E98C-522B-4CAF-ADCD-44C560AE9DAC}">
  <a:tblStyle styleId="{F5D9E98C-522B-4CAF-ADCD-44C560AE9DAC}" styleName="Table_0">
    <a:wholeTbl>
      <a:tcTxStyle b="off" i="off">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Montserrat-regular.fntdata"/><Relationship Id="rId42" Type="http://schemas.openxmlformats.org/officeDocument/2006/relationships/font" Target="fonts/Montserrat-italic.fntdata"/><Relationship Id="rId41" Type="http://schemas.openxmlformats.org/officeDocument/2006/relationships/font" Target="fonts/Montserrat-bold.fntdata"/><Relationship Id="rId44" Type="http://schemas.openxmlformats.org/officeDocument/2006/relationships/font" Target="fonts/Inter-regular.fntdata"/><Relationship Id="rId43" Type="http://schemas.openxmlformats.org/officeDocument/2006/relationships/font" Target="fonts/Montserrat-boldItalic.fntdata"/><Relationship Id="rId46" Type="http://schemas.openxmlformats.org/officeDocument/2006/relationships/font" Target="fonts/Inter-italic.fntdata"/><Relationship Id="rId45" Type="http://schemas.openxmlformats.org/officeDocument/2006/relationships/font" Target="fonts/Inter-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Tahoma-regular.fntdata"/><Relationship Id="rId47" Type="http://schemas.openxmlformats.org/officeDocument/2006/relationships/font" Target="fonts/Inter-boldItalic.fntdata"/><Relationship Id="rId49" Type="http://schemas.openxmlformats.org/officeDocument/2006/relationships/font" Target="fonts/Tahoma-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font" Target="fonts/Mate-italic.fntdata"/><Relationship Id="rId34" Type="http://schemas.openxmlformats.org/officeDocument/2006/relationships/font" Target="fonts/Mate-regular.fntdata"/><Relationship Id="rId37" Type="http://schemas.openxmlformats.org/officeDocument/2006/relationships/font" Target="fonts/InterSemiBold-bold.fntdata"/><Relationship Id="rId36" Type="http://schemas.openxmlformats.org/officeDocument/2006/relationships/font" Target="fonts/InterSemiBold-regular.fntdata"/><Relationship Id="rId39" Type="http://schemas.openxmlformats.org/officeDocument/2006/relationships/font" Target="fonts/InterSemiBold-boldItalic.fntdata"/><Relationship Id="rId38" Type="http://schemas.openxmlformats.org/officeDocument/2006/relationships/font" Target="fonts/InterSemiBold-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ontserratExtraBold-bold.fntdata"/><Relationship Id="rId50" Type="http://schemas.openxmlformats.org/officeDocument/2006/relationships/font" Target="fonts/Balthazar-regular.fntdata"/><Relationship Id="rId53" Type="http://customschemas.google.com/relationships/presentationmetadata" Target="metadata"/><Relationship Id="rId52" Type="http://schemas.openxmlformats.org/officeDocument/2006/relationships/font" Target="fonts/MontserratExtraBold-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en-US">
                <a:latin typeface="Montserrat"/>
                <a:ea typeface="Montserrat"/>
                <a:cs typeface="Montserrat"/>
                <a:sym typeface="Montserrat"/>
              </a:rPr>
              <a:t>TRANG ĐẦU</a:t>
            </a:r>
            <a:endParaRPr b="1">
              <a:latin typeface="Montserrat"/>
              <a:ea typeface="Montserrat"/>
              <a:cs typeface="Montserrat"/>
              <a:sym typeface="Montserrat"/>
            </a:endParaRPr>
          </a:p>
        </p:txBody>
      </p:sp>
      <p:sp>
        <p:nvSpPr>
          <p:cNvPr id="23" name="Google Shape;23;p1:notes"/>
          <p:cNvSpPr/>
          <p:nvPr>
            <p:ph idx="2" type="sldImg"/>
          </p:nvPr>
        </p:nvSpPr>
        <p:spPr>
          <a:xfrm>
            <a:off x="6283325" y="847725"/>
            <a:ext cx="7539038" cy="4241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0" name="Google Shape;3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 name="Shape 34"/>
        <p:cNvGrpSpPr/>
        <p:nvPr/>
      </p:nvGrpSpPr>
      <p:grpSpPr>
        <a:xfrm>
          <a:off x="0" y="0"/>
          <a:ext cx="0" cy="0"/>
          <a:chOff x="0" y="0"/>
          <a:chExt cx="0" cy="0"/>
        </a:xfrm>
      </p:grpSpPr>
      <p:sp>
        <p:nvSpPr>
          <p:cNvPr id="35" name="Google Shape;35;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 name="Google Shape;36;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37" name="Google Shape;37;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43" name="Google Shape;4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 name="Shape 48"/>
        <p:cNvGrpSpPr/>
        <p:nvPr/>
      </p:nvGrpSpPr>
      <p:grpSpPr>
        <a:xfrm>
          <a:off x="0" y="0"/>
          <a:ext cx="0" cy="0"/>
          <a:chOff x="0" y="0"/>
          <a:chExt cx="0" cy="0"/>
        </a:xfrm>
      </p:grpSpPr>
      <p:sp>
        <p:nvSpPr>
          <p:cNvPr id="49" name="Google Shape;4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 name="Google Shape;5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In the previous section, we found Flutter to be powerful in every respect.</a:t>
            </a:r>
            <a:endParaRPr/>
          </a:p>
          <a:p>
            <a:pPr indent="0" lvl="0" marL="0" rtl="0" algn="l">
              <a:lnSpc>
                <a:spcPct val="100000"/>
              </a:lnSpc>
              <a:spcBef>
                <a:spcPts val="0"/>
              </a:spcBef>
              <a:spcAft>
                <a:spcPts val="0"/>
              </a:spcAft>
              <a:buSzPts val="1400"/>
              <a:buNone/>
            </a:pPr>
            <a:r>
              <a:rPr lang="en-US"/>
              <a:t>Now, we move on to a more important practical question:</a:t>
            </a:r>
            <a:endParaRPr/>
          </a:p>
          <a:p>
            <a:pPr indent="0" lvl="0" marL="0" rtl="0" algn="l">
              <a:lnSpc>
                <a:spcPct val="100000"/>
              </a:lnSpc>
              <a:spcBef>
                <a:spcPts val="0"/>
              </a:spcBef>
              <a:spcAft>
                <a:spcPts val="0"/>
              </a:spcAft>
              <a:buSzPts val="1400"/>
              <a:buNone/>
            </a:pPr>
            <a:r>
              <a:rPr lang="en-US"/>
              <a:t>Should we use Flutter for this project?</a:t>
            </a:r>
            <a:endParaRPr/>
          </a:p>
        </p:txBody>
      </p:sp>
      <p:sp>
        <p:nvSpPr>
          <p:cNvPr id="51" name="Google Shape;5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Most enterprise applications don't need to be 100% native, and this is where Flutter is a great fit.</a:t>
            </a:r>
            <a:endParaRPr/>
          </a:p>
        </p:txBody>
      </p:sp>
      <p:sp>
        <p:nvSpPr>
          <p:cNvPr id="59" name="Google Shape;5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 name="Google Shape;65;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66" name="Google Shape;6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There are cases where the original approach is a more logical choice from the start,</a:t>
            </a:r>
            <a:endParaRPr/>
          </a:p>
          <a:p>
            <a:pPr indent="0" lvl="0" marL="0" rtl="0" algn="l">
              <a:lnSpc>
                <a:spcPct val="100000"/>
              </a:lnSpc>
              <a:spcBef>
                <a:spcPts val="0"/>
              </a:spcBef>
              <a:spcAft>
                <a:spcPts val="0"/>
              </a:spcAft>
              <a:buSzPts val="1400"/>
              <a:buNone/>
            </a:pPr>
            <a:r>
              <a:rPr lang="en-US"/>
              <a:t>For example, graphically intensive games, applications that require deep integration with the operating system, or applications that demand specific principles unique to Android or iOS.</a:t>
            </a:r>
            <a:endParaRPr/>
          </a:p>
          <a:p>
            <a:pPr indent="0" lvl="0" marL="0" rtl="0" algn="l">
              <a:lnSpc>
                <a:spcPct val="100000"/>
              </a:lnSpc>
              <a:spcBef>
                <a:spcPts val="0"/>
              </a:spcBef>
              <a:spcAft>
                <a:spcPts val="0"/>
              </a:spcAft>
              <a:buSzPts val="1400"/>
              <a:buNone/>
            </a:pPr>
            <a:r>
              <a:rPr lang="en-US"/>
              <a:t>The important thing is to choose the right tool for the right problem.</a:t>
            </a:r>
            <a:endParaRPr/>
          </a:p>
        </p:txBody>
      </p:sp>
      <p:sp>
        <p:nvSpPr>
          <p:cNvPr id="74" name="Google Shape;7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80" name="Google Shape;8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87" name="Google Shape;8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94" name="Google Shape;9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00" name="Google Shape;10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09" name="Google Shape;10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17" name="Google Shape;117;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23" name="Google Shape;12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29" name="Google Shape;12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36" name="Google Shape;13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2" name="Google Shape;142;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Arial"/>
              <a:buNone/>
            </a:pPr>
            <a:r>
              <a:rPr b="0" lang="en-US"/>
              <a:t>Notes</a:t>
            </a:r>
            <a:r>
              <a:rPr i="1" lang="en-US" sz="1200"/>
              <a:t> </a:t>
            </a:r>
            <a:endParaRPr i="1" sz="1200"/>
          </a:p>
          <a:p>
            <a:pPr indent="0" lvl="0" marL="0" rtl="0" algn="l">
              <a:lnSpc>
                <a:spcPct val="100000"/>
              </a:lnSpc>
              <a:spcBef>
                <a:spcPts val="0"/>
              </a:spcBef>
              <a:spcAft>
                <a:spcPts val="0"/>
              </a:spcAft>
              <a:buClr>
                <a:schemeClr val="dk1"/>
              </a:buClr>
              <a:buSzPts val="1200"/>
              <a:buFont typeface="Arial"/>
              <a:buNone/>
            </a:pPr>
            <a:r>
              <a:rPr b="0" i="0" lang="en-US"/>
              <a:t>macOS users need Xcode for iOS builds.</a:t>
            </a:r>
            <a:endParaRPr b="0" i="0"/>
          </a:p>
          <a:p>
            <a:pPr indent="0" lvl="0" marL="0" rtl="0" algn="l">
              <a:lnSpc>
                <a:spcPct val="100000"/>
              </a:lnSpc>
              <a:spcBef>
                <a:spcPts val="0"/>
              </a:spcBef>
              <a:spcAft>
                <a:spcPts val="0"/>
              </a:spcAft>
              <a:buSzPts val="1400"/>
              <a:buNone/>
            </a:pPr>
            <a:r>
              <a:rPr b="0" i="0" lang="en-US"/>
              <a:t>Windows users should enable virtualization for emulator support.</a:t>
            </a:r>
            <a:endParaRPr b="0" i="0"/>
          </a:p>
          <a:p>
            <a:pPr indent="0" lvl="0" marL="0" rtl="0" algn="l">
              <a:lnSpc>
                <a:spcPct val="100000"/>
              </a:lnSpc>
              <a:spcBef>
                <a:spcPts val="0"/>
              </a:spcBef>
              <a:spcAft>
                <a:spcPts val="0"/>
              </a:spcAft>
              <a:buSzPts val="1400"/>
              <a:buNone/>
            </a:pPr>
            <a:r>
              <a:t/>
            </a:r>
            <a:endParaRPr b="0" i="0"/>
          </a:p>
        </p:txBody>
      </p:sp>
      <p:sp>
        <p:nvSpPr>
          <p:cNvPr id="143" name="Google Shape;143;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67" name="Google Shape;16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76" name="Google Shape;17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83" name="Google Shape;18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90" name="Google Shape;190;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199" name="Google Shape;199;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2000"/>
              <a:t>Advantages</a:t>
            </a:r>
            <a:endParaRPr sz="2000"/>
          </a:p>
          <a:p>
            <a:pPr indent="0" lvl="1" marL="457200" rtl="0" algn="l">
              <a:lnSpc>
                <a:spcPct val="100000"/>
              </a:lnSpc>
              <a:spcBef>
                <a:spcPts val="0"/>
              </a:spcBef>
              <a:spcAft>
                <a:spcPts val="0"/>
              </a:spcAft>
              <a:buSzPts val="1400"/>
              <a:buNone/>
            </a:pPr>
            <a:r>
              <a:rPr lang="en-US"/>
              <a:t>Fast startup &amp; low memory usage</a:t>
            </a:r>
            <a:endParaRPr/>
          </a:p>
          <a:p>
            <a:pPr indent="0" lvl="1" marL="457200" rtl="0" algn="l">
              <a:lnSpc>
                <a:spcPct val="100000"/>
              </a:lnSpc>
              <a:spcBef>
                <a:spcPts val="0"/>
              </a:spcBef>
              <a:spcAft>
                <a:spcPts val="0"/>
              </a:spcAft>
              <a:buSzPts val="1400"/>
              <a:buNone/>
            </a:pPr>
            <a:r>
              <a:rPr lang="en-US"/>
              <a:t>Easy extensions management</a:t>
            </a:r>
            <a:endParaRPr/>
          </a:p>
          <a:p>
            <a:pPr indent="0" lvl="1" marL="457200" rtl="0" algn="l">
              <a:lnSpc>
                <a:spcPct val="100000"/>
              </a:lnSpc>
              <a:spcBef>
                <a:spcPts val="0"/>
              </a:spcBef>
              <a:spcAft>
                <a:spcPts val="0"/>
              </a:spcAft>
              <a:buSzPts val="1400"/>
              <a:buNone/>
            </a:pPr>
            <a:r>
              <a:rPr lang="en-US"/>
              <a:t>Integrated terminal</a:t>
            </a:r>
            <a:endParaRPr/>
          </a:p>
          <a:p>
            <a:pPr indent="0" lvl="0" marL="0" rtl="0" algn="l">
              <a:lnSpc>
                <a:spcPct val="100000"/>
              </a:lnSpc>
              <a:spcBef>
                <a:spcPts val="0"/>
              </a:spcBef>
              <a:spcAft>
                <a:spcPts val="0"/>
              </a:spcAft>
              <a:buSzPts val="1400"/>
              <a:buNone/>
            </a:pPr>
            <a:r>
              <a:t/>
            </a:r>
            <a:endParaRPr/>
          </a:p>
        </p:txBody>
      </p:sp>
      <p:sp>
        <p:nvSpPr>
          <p:cNvPr id="207" name="Google Shape;207;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sz="2000"/>
              <a:t>import 'package:flutter/material.dart';</a:t>
            </a:r>
            <a:endParaRPr sz="2000"/>
          </a:p>
          <a:p>
            <a:pPr indent="0" lvl="0" marL="0" rtl="0" algn="l">
              <a:lnSpc>
                <a:spcPct val="100000"/>
              </a:lnSpc>
              <a:spcBef>
                <a:spcPts val="0"/>
              </a:spcBef>
              <a:spcAft>
                <a:spcPts val="0"/>
              </a:spcAft>
              <a:buSzPts val="1400"/>
              <a:buNone/>
            </a:pPr>
            <a:r>
              <a:t/>
            </a:r>
            <a:endParaRPr sz="2000"/>
          </a:p>
          <a:p>
            <a:pPr indent="0" lvl="0" marL="0" rtl="0" algn="l">
              <a:lnSpc>
                <a:spcPct val="100000"/>
              </a:lnSpc>
              <a:spcBef>
                <a:spcPts val="0"/>
              </a:spcBef>
              <a:spcAft>
                <a:spcPts val="0"/>
              </a:spcAft>
              <a:buSzPts val="1400"/>
              <a:buNone/>
            </a:pPr>
            <a:r>
              <a:rPr lang="en-US" sz="2000"/>
              <a:t>void main() =&gt; runApp(const MaterialApp(</a:t>
            </a:r>
            <a:endParaRPr sz="2000"/>
          </a:p>
          <a:p>
            <a:pPr indent="0" lvl="0" marL="0" rtl="0" algn="l">
              <a:lnSpc>
                <a:spcPct val="100000"/>
              </a:lnSpc>
              <a:spcBef>
                <a:spcPts val="0"/>
              </a:spcBef>
              <a:spcAft>
                <a:spcPts val="0"/>
              </a:spcAft>
              <a:buSzPts val="1400"/>
              <a:buNone/>
            </a:pPr>
            <a:r>
              <a:rPr lang="en-US" sz="2000"/>
              <a:t>  home: Scaffold(</a:t>
            </a:r>
            <a:endParaRPr sz="2000"/>
          </a:p>
          <a:p>
            <a:pPr indent="0" lvl="0" marL="0" rtl="0" algn="l">
              <a:lnSpc>
                <a:spcPct val="100000"/>
              </a:lnSpc>
              <a:spcBef>
                <a:spcPts val="0"/>
              </a:spcBef>
              <a:spcAft>
                <a:spcPts val="0"/>
              </a:spcAft>
              <a:buSzPts val="1400"/>
              <a:buNone/>
            </a:pPr>
            <a:r>
              <a:rPr lang="en-US" sz="2000"/>
              <a:t>    body: Center(</a:t>
            </a:r>
            <a:endParaRPr sz="2000"/>
          </a:p>
          <a:p>
            <a:pPr indent="0" lvl="0" marL="0" rtl="0" algn="l">
              <a:lnSpc>
                <a:spcPct val="100000"/>
              </a:lnSpc>
              <a:spcBef>
                <a:spcPts val="0"/>
              </a:spcBef>
              <a:spcAft>
                <a:spcPts val="0"/>
              </a:spcAft>
              <a:buSzPts val="1400"/>
              <a:buNone/>
            </a:pPr>
            <a:r>
              <a:rPr lang="en-US" sz="2000"/>
              <a:t>      child: Text('Hello, World ',</a:t>
            </a:r>
            <a:endParaRPr sz="2000"/>
          </a:p>
          <a:p>
            <a:pPr indent="0" lvl="0" marL="0" rtl="0" algn="l">
              <a:lnSpc>
                <a:spcPct val="100000"/>
              </a:lnSpc>
              <a:spcBef>
                <a:spcPts val="0"/>
              </a:spcBef>
              <a:spcAft>
                <a:spcPts val="0"/>
              </a:spcAft>
              <a:buSzPts val="1400"/>
              <a:buNone/>
            </a:pPr>
            <a:r>
              <a:rPr lang="en-US" sz="2000"/>
              <a:t>          style: TextStyle(fontSize: 28, fontWeight: FontWeight.bold)),</a:t>
            </a:r>
            <a:endParaRPr sz="2000"/>
          </a:p>
          <a:p>
            <a:pPr indent="0" lvl="0" marL="0" rtl="0" algn="l">
              <a:lnSpc>
                <a:spcPct val="100000"/>
              </a:lnSpc>
              <a:spcBef>
                <a:spcPts val="0"/>
              </a:spcBef>
              <a:spcAft>
                <a:spcPts val="0"/>
              </a:spcAft>
              <a:buSzPts val="1400"/>
              <a:buNone/>
            </a:pPr>
            <a:r>
              <a:rPr lang="en-US" sz="2000"/>
              <a:t>    ),</a:t>
            </a:r>
            <a:endParaRPr sz="2000"/>
          </a:p>
          <a:p>
            <a:pPr indent="0" lvl="0" marL="0" rtl="0" algn="l">
              <a:lnSpc>
                <a:spcPct val="100000"/>
              </a:lnSpc>
              <a:spcBef>
                <a:spcPts val="0"/>
              </a:spcBef>
              <a:spcAft>
                <a:spcPts val="0"/>
              </a:spcAft>
              <a:buSzPts val="1400"/>
              <a:buNone/>
            </a:pPr>
            <a:r>
              <a:rPr lang="en-US" sz="2000"/>
              <a:t>  ),</a:t>
            </a:r>
            <a:endParaRPr sz="2000"/>
          </a:p>
          <a:p>
            <a:pPr indent="0" lvl="0" marL="0" rtl="0" algn="l">
              <a:lnSpc>
                <a:spcPct val="100000"/>
              </a:lnSpc>
              <a:spcBef>
                <a:spcPts val="0"/>
              </a:spcBef>
              <a:spcAft>
                <a:spcPts val="0"/>
              </a:spcAft>
              <a:buSzPts val="1400"/>
              <a:buNone/>
            </a:pPr>
            <a:r>
              <a:rPr lang="en-US" sz="2000"/>
              <a:t>));</a:t>
            </a:r>
            <a:endParaRPr sz="2000"/>
          </a:p>
        </p:txBody>
      </p:sp>
      <p:sp>
        <p:nvSpPr>
          <p:cNvPr id="218" name="Google Shape;218;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225" name="Google Shape;225;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1" name="Google Shape;231;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b="0" i="0" sz="1200" u="none" cap="none" strike="noStrike">
              <a:solidFill>
                <a:schemeClr val="dk1"/>
              </a:solidFill>
              <a:latin typeface="Arial"/>
              <a:ea typeface="Arial"/>
              <a:cs typeface="Arial"/>
              <a:sym typeface="Arial"/>
            </a:endParaRPr>
          </a:p>
        </p:txBody>
      </p:sp>
      <p:sp>
        <p:nvSpPr>
          <p:cNvPr id="232" name="Google Shape;232;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13" name="Shape 13"/>
        <p:cNvGrpSpPr/>
        <p:nvPr/>
      </p:nvGrpSpPr>
      <p:grpSpPr>
        <a:xfrm>
          <a:off x="0" y="0"/>
          <a:ext cx="0" cy="0"/>
          <a:chOff x="0" y="0"/>
          <a:chExt cx="0" cy="0"/>
        </a:xfrm>
      </p:grpSpPr>
      <p:sp>
        <p:nvSpPr>
          <p:cNvPr id="14" name="Google Shape;14;p29"/>
          <p:cNvSpPr txBox="1"/>
          <p:nvPr>
            <p:ph idx="1" type="body"/>
          </p:nvPr>
        </p:nvSpPr>
        <p:spPr>
          <a:xfrm>
            <a:off x="681997" y="1348371"/>
            <a:ext cx="11090638" cy="4435944"/>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0"/>
              </a:spcBef>
              <a:spcAft>
                <a:spcPts val="0"/>
              </a:spcAft>
              <a:buClr>
                <a:srgbClr val="000000"/>
              </a:buClr>
              <a:buSzPts val="1400"/>
              <a:buFont typeface="Arial"/>
              <a:buNone/>
              <a:defRPr b="1" i="0" sz="1245" u="none" cap="none" strike="noStrike">
                <a:solidFill>
                  <a:srgbClr val="292A75"/>
                </a:solidFill>
                <a:latin typeface="Tahoma"/>
                <a:ea typeface="Tahoma"/>
                <a:cs typeface="Tahoma"/>
                <a:sym typeface="Tahoma"/>
              </a:defRPr>
            </a:lvl1pPr>
            <a:lvl2pPr indent="-228600" lvl="1" marL="9144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2pPr>
            <a:lvl3pPr indent="-228600" lvl="2" marL="13716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3pPr>
            <a:lvl4pPr indent="-228600" lvl="3" marL="18288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4pPr>
            <a:lvl5pPr indent="-228600" lvl="4" marL="22860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5pPr>
            <a:lvl6pPr indent="-228600" lvl="5" marL="27432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6pPr>
            <a:lvl7pPr indent="-228600" lvl="6" marL="32004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7pPr>
            <a:lvl8pPr indent="-228600" lvl="7" marL="36576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8pPr>
            <a:lvl9pPr indent="-228600" lvl="8" marL="41148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30"/>
          <p:cNvSpPr txBox="1"/>
          <p:nvPr>
            <p:ph idx="1" type="body"/>
          </p:nvPr>
        </p:nvSpPr>
        <p:spPr>
          <a:xfrm>
            <a:off x="681997" y="1348371"/>
            <a:ext cx="11090638" cy="4435944"/>
          </a:xfrm>
          <a:prstGeom prst="rect">
            <a:avLst/>
          </a:prstGeom>
          <a:noFill/>
          <a:ln>
            <a:noFill/>
          </a:ln>
        </p:spPr>
        <p:txBody>
          <a:bodyPr anchorCtr="0" anchor="t" bIns="0" lIns="0" spcFirstLastPara="1" rIns="0" wrap="square" tIns="0">
            <a:spAutoFit/>
          </a:bodyPr>
          <a:lstStyle>
            <a:lvl1pPr indent="-228600" lvl="0" marL="457200" marR="0" algn="l">
              <a:lnSpc>
                <a:spcPct val="100000"/>
              </a:lnSpc>
              <a:spcBef>
                <a:spcPts val="0"/>
              </a:spcBef>
              <a:spcAft>
                <a:spcPts val="0"/>
              </a:spcAft>
              <a:buClr>
                <a:srgbClr val="000000"/>
              </a:buClr>
              <a:buSzPts val="1400"/>
              <a:buFont typeface="Arial"/>
              <a:buNone/>
              <a:defRPr b="1" i="0" sz="1245" u="none" cap="none" strike="noStrike">
                <a:solidFill>
                  <a:srgbClr val="292A75"/>
                </a:solidFill>
                <a:latin typeface="Tahoma"/>
                <a:ea typeface="Tahoma"/>
                <a:cs typeface="Tahoma"/>
                <a:sym typeface="Tahoma"/>
              </a:defRPr>
            </a:lvl1pPr>
            <a:lvl2pPr indent="-228600" lvl="1" marL="9144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2pPr>
            <a:lvl3pPr indent="-228600" lvl="2" marL="13716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3pPr>
            <a:lvl4pPr indent="-228600" lvl="3" marL="18288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4pPr>
            <a:lvl5pPr indent="-228600" lvl="4" marL="22860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5pPr>
            <a:lvl6pPr indent="-228600" lvl="5" marL="27432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6pPr>
            <a:lvl7pPr indent="-228600" lvl="6" marL="32004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7pPr>
            <a:lvl8pPr indent="-228600" lvl="7" marL="36576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8pPr>
            <a:lvl9pPr indent="-228600" lvl="8" marL="4114800" marR="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17" name="Shape 17"/>
        <p:cNvGrpSpPr/>
        <p:nvPr/>
      </p:nvGrpSpPr>
      <p:grpSpPr>
        <a:xfrm>
          <a:off x="0" y="0"/>
          <a:ext cx="0" cy="0"/>
          <a:chOff x="0" y="0"/>
          <a:chExt cx="0" cy="0"/>
        </a:xfrm>
      </p:grpSpPr>
      <p:sp>
        <p:nvSpPr>
          <p:cNvPr id="18" name="Google Shape;18;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9" name="Google Shape;19;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20" name="Google Shape;20;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28" title="Slide template-05.jpg"/>
          <p:cNvPicPr preferRelativeResize="0"/>
          <p:nvPr/>
        </p:nvPicPr>
        <p:blipFill rotWithShape="1">
          <a:blip r:embed="rId1">
            <a:alphaModFix/>
          </a:blip>
          <a:srcRect b="0" l="0" r="0" t="0"/>
          <a:stretch/>
        </p:blipFill>
        <p:spPr>
          <a:xfrm>
            <a:off x="0" y="-3199"/>
            <a:ext cx="12192000" cy="1017913"/>
          </a:xfrm>
          <a:prstGeom prst="rect">
            <a:avLst/>
          </a:prstGeom>
          <a:noFill/>
          <a:ln>
            <a:noFill/>
          </a:ln>
        </p:spPr>
      </p:pic>
      <p:sp>
        <p:nvSpPr>
          <p:cNvPr id="11" name="Google Shape;11;p28"/>
          <p:cNvSpPr txBox="1"/>
          <p:nvPr>
            <p:ph idx="1" type="body"/>
          </p:nvPr>
        </p:nvSpPr>
        <p:spPr>
          <a:xfrm>
            <a:off x="681997" y="1348370"/>
            <a:ext cx="11090638" cy="191135"/>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1" i="0" sz="1245" u="none" cap="none" strike="noStrike">
                <a:solidFill>
                  <a:srgbClr val="292A75"/>
                </a:solidFill>
                <a:latin typeface="Tahoma"/>
                <a:ea typeface="Tahoma"/>
                <a:cs typeface="Tahoma"/>
                <a:sym typeface="Tahoma"/>
              </a:defRPr>
            </a:lvl1pPr>
            <a:lvl2pPr indent="-228600" lvl="1" marL="9144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090" u="none" cap="none" strike="noStrike">
                <a:solidFill>
                  <a:srgbClr val="000000"/>
                </a:solidFill>
                <a:latin typeface="Calibri"/>
                <a:ea typeface="Calibri"/>
                <a:cs typeface="Calibri"/>
                <a:sym typeface="Calibri"/>
              </a:defRPr>
            </a:lvl9pPr>
          </a:lstStyle>
          <a:p/>
        </p:txBody>
      </p:sp>
      <p:sp>
        <p:nvSpPr>
          <p:cNvPr id="12" name="Google Shape;12;p28"/>
          <p:cNvSpPr txBox="1"/>
          <p:nvPr>
            <p:ph type="title"/>
          </p:nvPr>
        </p:nvSpPr>
        <p:spPr>
          <a:xfrm>
            <a:off x="2297430" y="96520"/>
            <a:ext cx="8046720" cy="818515"/>
          </a:xfrm>
          <a:prstGeom prst="rect">
            <a:avLst/>
          </a:prstGeom>
          <a:solidFill>
            <a:srgbClr val="000000">
              <a:alpha val="0"/>
            </a:srgbClr>
          </a:solidFill>
          <a:ln>
            <a:noFill/>
          </a:ln>
        </p:spPr>
        <p:txBody>
          <a:bodyPr anchorCtr="0" anchor="ctr" bIns="45700" lIns="91400" spcFirstLastPara="1" rIns="91400" wrap="square" tIns="45700">
            <a:noAutofit/>
          </a:bodyPr>
          <a:lstStyle>
            <a:lvl1pPr lvl="0" marR="0" rtl="0" algn="l">
              <a:lnSpc>
                <a:spcPct val="100000"/>
              </a:lnSpc>
              <a:spcBef>
                <a:spcPts val="0"/>
              </a:spcBef>
              <a:spcAft>
                <a:spcPts val="0"/>
              </a:spcAft>
              <a:buSzPts val="1400"/>
              <a:buNone/>
              <a:defRPr b="0" i="0" sz="85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hyperlink" Target="https://dartpad.dev/"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dartpad.dev/"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dartpad.dev/"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bg>
      <p:bgPr>
        <a:noFill/>
      </p:bgPr>
    </p:bg>
    <p:spTree>
      <p:nvGrpSpPr>
        <p:cNvPr id="24" name="Shape 24"/>
        <p:cNvGrpSpPr/>
        <p:nvPr/>
      </p:nvGrpSpPr>
      <p:grpSpPr>
        <a:xfrm>
          <a:off x="0" y="0"/>
          <a:ext cx="0" cy="0"/>
          <a:chOff x="0" y="0"/>
          <a:chExt cx="0" cy="0"/>
        </a:xfrm>
      </p:grpSpPr>
      <p:sp>
        <p:nvSpPr>
          <p:cNvPr id="25" name="Google Shape;25;p1"/>
          <p:cNvSpPr/>
          <p:nvPr/>
        </p:nvSpPr>
        <p:spPr>
          <a:xfrm>
            <a:off x="428" y="2239502"/>
            <a:ext cx="12191144" cy="3251773"/>
          </a:xfrm>
          <a:prstGeom prst="rect">
            <a:avLst/>
          </a:prstGeom>
          <a:solidFill>
            <a:srgbClr val="282A75"/>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850" u="none" cap="none" strike="noStrike">
              <a:solidFill>
                <a:schemeClr val="lt1"/>
              </a:solidFill>
              <a:latin typeface="Arial"/>
              <a:ea typeface="Arial"/>
              <a:cs typeface="Arial"/>
              <a:sym typeface="Arial"/>
            </a:endParaRPr>
          </a:p>
        </p:txBody>
      </p:sp>
      <p:sp>
        <p:nvSpPr>
          <p:cNvPr id="26" name="Google Shape;26;p1"/>
          <p:cNvSpPr txBox="1"/>
          <p:nvPr>
            <p:ph idx="4294967295" type="title"/>
          </p:nvPr>
        </p:nvSpPr>
        <p:spPr>
          <a:xfrm>
            <a:off x="605790" y="2413635"/>
            <a:ext cx="11262995" cy="2766695"/>
          </a:xfrm>
          <a:prstGeom prst="rect">
            <a:avLst/>
          </a:prstGeom>
          <a:noFill/>
          <a:ln>
            <a:noFill/>
          </a:ln>
        </p:spPr>
        <p:txBody>
          <a:bodyPr anchorCtr="0" anchor="t" bIns="0" lIns="0" spcFirstLastPara="1" rIns="0" wrap="square" tIns="7300">
            <a:noAutofit/>
          </a:bodyPr>
          <a:lstStyle/>
          <a:p>
            <a:pPr indent="0" lvl="0" marL="12700" rtl="0" algn="ctr">
              <a:lnSpc>
                <a:spcPct val="117000"/>
              </a:lnSpc>
              <a:spcBef>
                <a:spcPts val="0"/>
              </a:spcBef>
              <a:spcAft>
                <a:spcPts val="0"/>
              </a:spcAft>
              <a:buSzPts val="1400"/>
              <a:buNone/>
            </a:pPr>
            <a:br>
              <a:rPr b="0" lang="en-US" sz="4485">
                <a:solidFill>
                  <a:srgbClr val="FAA61A"/>
                </a:solidFill>
                <a:latin typeface="Montserrat ExtraBold"/>
                <a:ea typeface="Montserrat ExtraBold"/>
                <a:cs typeface="Montserrat ExtraBold"/>
                <a:sym typeface="Montserrat ExtraBold"/>
              </a:rPr>
            </a:br>
            <a:r>
              <a:rPr b="0" lang="en-US" sz="4485">
                <a:solidFill>
                  <a:srgbClr val="FAA61A"/>
                </a:solidFill>
                <a:latin typeface="Montserrat ExtraBold"/>
                <a:ea typeface="Montserrat ExtraBold"/>
                <a:cs typeface="Montserrat ExtraBold"/>
                <a:sym typeface="Montserrat ExtraBold"/>
              </a:rPr>
              <a:t>TỔNG QUAN VỀ FLUTTER </a:t>
            </a:r>
            <a:br>
              <a:rPr b="1" lang="en-US" sz="4485">
                <a:solidFill>
                  <a:srgbClr val="FF0000"/>
                </a:solidFill>
                <a:latin typeface="Balthazar"/>
                <a:ea typeface="Balthazar"/>
                <a:cs typeface="Balthazar"/>
                <a:sym typeface="Balthazar"/>
              </a:rPr>
            </a:br>
            <a:br>
              <a:rPr b="1" lang="en-US" sz="4485">
                <a:solidFill>
                  <a:srgbClr val="FF0000"/>
                </a:solidFill>
                <a:latin typeface="Balthazar"/>
                <a:ea typeface="Balthazar"/>
                <a:cs typeface="Balthazar"/>
                <a:sym typeface="Balthazar"/>
              </a:rPr>
            </a:br>
            <a:r>
              <a:rPr b="1" lang="en-US" sz="3600">
                <a:solidFill>
                  <a:schemeClr val="lt1"/>
                </a:solidFill>
                <a:latin typeface="Balthazar"/>
                <a:ea typeface="Balthazar"/>
                <a:cs typeface="Balthazar"/>
                <a:sym typeface="Balthazar"/>
              </a:rPr>
              <a:t>ThS. Nguyễn Hoàng Anh</a:t>
            </a:r>
            <a:endParaRPr b="1" sz="3600">
              <a:solidFill>
                <a:schemeClr val="lt1"/>
              </a:solidFill>
              <a:latin typeface="Balthazar"/>
              <a:ea typeface="Balthazar"/>
              <a:cs typeface="Balthazar"/>
              <a:sym typeface="Balthazar"/>
            </a:endParaRPr>
          </a:p>
        </p:txBody>
      </p:sp>
      <p:pic>
        <p:nvPicPr>
          <p:cNvPr id="27" name="Google Shape;27;p1" title="Slide template-15.png"/>
          <p:cNvPicPr preferRelativeResize="0"/>
          <p:nvPr/>
        </p:nvPicPr>
        <p:blipFill rotWithShape="1">
          <a:blip r:embed="rId3">
            <a:alphaModFix/>
          </a:blip>
          <a:srcRect b="0" l="0" r="0" t="0"/>
          <a:stretch/>
        </p:blipFill>
        <p:spPr>
          <a:xfrm>
            <a:off x="754671" y="636344"/>
            <a:ext cx="2995659" cy="114866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2"/>
          <p:cNvSpPr txBox="1"/>
          <p:nvPr>
            <p:ph idx="4294967295" type="title"/>
          </p:nvPr>
        </p:nvSpPr>
        <p:spPr>
          <a:xfrm>
            <a:off x="2278380" y="97790"/>
            <a:ext cx="82296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Nội dung chính</a:t>
            </a:r>
            <a:endParaRPr b="1" sz="3200">
              <a:solidFill>
                <a:schemeClr val="accent6"/>
              </a:solidFill>
              <a:latin typeface="Times New Roman"/>
              <a:ea typeface="Times New Roman"/>
              <a:cs typeface="Times New Roman"/>
              <a:sym typeface="Times New Roman"/>
            </a:endParaRPr>
          </a:p>
        </p:txBody>
      </p:sp>
      <p:sp>
        <p:nvSpPr>
          <p:cNvPr id="33" name="Google Shape;33;p2"/>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68300" lvl="0" marL="457200" rtl="0" algn="l">
              <a:lnSpc>
                <a:spcPct val="100000"/>
              </a:lnSpc>
              <a:spcBef>
                <a:spcPts val="450"/>
              </a:spcBef>
              <a:spcAft>
                <a:spcPts val="0"/>
              </a:spcAft>
              <a:buClr>
                <a:srgbClr val="000000"/>
              </a:buClr>
              <a:buSzPts val="2200"/>
              <a:buFont typeface="Times New Roman"/>
              <a:buChar char="●"/>
            </a:pPr>
            <a:r>
              <a:rPr b="0" lang="en-US" sz="2200">
                <a:solidFill>
                  <a:srgbClr val="000000"/>
                </a:solidFill>
                <a:latin typeface="Times New Roman"/>
                <a:ea typeface="Times New Roman"/>
                <a:cs typeface="Times New Roman"/>
                <a:sym typeface="Times New Roman"/>
              </a:rPr>
              <a:t>Tổng quan về Flutter</a:t>
            </a:r>
            <a:endParaRPr b="0" sz="2200">
              <a:solidFill>
                <a:srgbClr val="000000"/>
              </a:solidFill>
              <a:latin typeface="Times New Roman"/>
              <a:ea typeface="Times New Roman"/>
              <a:cs typeface="Times New Roman"/>
              <a:sym typeface="Times New Roman"/>
            </a:endParaRPr>
          </a:p>
          <a:p>
            <a:pPr indent="-368300" lvl="1" marL="914400" rtl="0" algn="l">
              <a:lnSpc>
                <a:spcPct val="100000"/>
              </a:lnSpc>
              <a:spcBef>
                <a:spcPts val="450"/>
              </a:spcBef>
              <a:spcAft>
                <a:spcPts val="0"/>
              </a:spcAft>
              <a:buClr>
                <a:srgbClr val="000000"/>
              </a:buClr>
              <a:buSzPts val="2200"/>
              <a:buFont typeface="Times New Roman"/>
              <a:buChar char="○"/>
            </a:pPr>
            <a:r>
              <a:rPr b="0" lang="en-US" sz="2000">
                <a:solidFill>
                  <a:srgbClr val="000000"/>
                </a:solidFill>
                <a:latin typeface="Times New Roman"/>
                <a:ea typeface="Times New Roman"/>
                <a:cs typeface="Times New Roman"/>
                <a:sym typeface="Times New Roman"/>
              </a:rPr>
              <a:t>Flutter là gì - Tại sao chọn Flutter</a:t>
            </a:r>
            <a:endParaRPr b="0" sz="2200">
              <a:solidFill>
                <a:srgbClr val="000000"/>
              </a:solidFill>
              <a:latin typeface="Times New Roman"/>
              <a:ea typeface="Times New Roman"/>
              <a:cs typeface="Times New Roman"/>
              <a:sym typeface="Times New Roman"/>
            </a:endParaRPr>
          </a:p>
          <a:p>
            <a:pPr indent="-368300" lvl="1" marL="914400" rtl="0" algn="l">
              <a:lnSpc>
                <a:spcPct val="100000"/>
              </a:lnSpc>
              <a:spcBef>
                <a:spcPts val="450"/>
              </a:spcBef>
              <a:spcAft>
                <a:spcPts val="0"/>
              </a:spcAft>
              <a:buClr>
                <a:srgbClr val="000000"/>
              </a:buClr>
              <a:buSzPts val="2200"/>
              <a:buFont typeface="Times New Roman"/>
              <a:buChar char="○"/>
            </a:pPr>
            <a:r>
              <a:rPr b="0" lang="en-US" sz="2000">
                <a:solidFill>
                  <a:srgbClr val="000000"/>
                </a:solidFill>
                <a:latin typeface="Times New Roman"/>
                <a:ea typeface="Times New Roman"/>
                <a:cs typeface="Times New Roman"/>
                <a:sym typeface="Times New Roman"/>
              </a:rPr>
              <a:t>Kiến trúc của Flutter</a:t>
            </a:r>
            <a:endParaRPr b="0" sz="2200">
              <a:solidFill>
                <a:srgbClr val="000000"/>
              </a:solidFill>
              <a:latin typeface="Times New Roman"/>
              <a:ea typeface="Times New Roman"/>
              <a:cs typeface="Times New Roman"/>
              <a:sym typeface="Times New Roman"/>
            </a:endParaRPr>
          </a:p>
          <a:p>
            <a:pPr indent="-368300" lvl="0" marL="457200" rtl="0" algn="l">
              <a:lnSpc>
                <a:spcPct val="100000"/>
              </a:lnSpc>
              <a:spcBef>
                <a:spcPts val="450"/>
              </a:spcBef>
              <a:spcAft>
                <a:spcPts val="0"/>
              </a:spcAft>
              <a:buClr>
                <a:srgbClr val="000000"/>
              </a:buClr>
              <a:buSzPts val="2200"/>
              <a:buFont typeface="Times New Roman"/>
              <a:buChar char="●"/>
            </a:pPr>
            <a:r>
              <a:rPr b="0" lang="en-US" sz="2200">
                <a:solidFill>
                  <a:srgbClr val="000000"/>
                </a:solidFill>
                <a:latin typeface="Times New Roman"/>
                <a:ea typeface="Times New Roman"/>
                <a:cs typeface="Times New Roman"/>
                <a:sym typeface="Times New Roman"/>
              </a:rPr>
              <a:t>Nền tảng ngôn ngữ Dart</a:t>
            </a:r>
            <a:endParaRPr b="0" sz="2200">
              <a:solidFill>
                <a:srgbClr val="000000"/>
              </a:solidFill>
              <a:latin typeface="Times New Roman"/>
              <a:ea typeface="Times New Roman"/>
              <a:cs typeface="Times New Roman"/>
              <a:sym typeface="Times New Roman"/>
            </a:endParaRPr>
          </a:p>
          <a:p>
            <a:pPr indent="-368300" lvl="1" marL="914400" rtl="0" algn="l">
              <a:lnSpc>
                <a:spcPct val="100000"/>
              </a:lnSpc>
              <a:spcBef>
                <a:spcPts val="450"/>
              </a:spcBef>
              <a:spcAft>
                <a:spcPts val="0"/>
              </a:spcAft>
              <a:buClr>
                <a:srgbClr val="000000"/>
              </a:buClr>
              <a:buSzPts val="2200"/>
              <a:buFont typeface="Times New Roman"/>
              <a:buChar char="○"/>
            </a:pPr>
            <a:r>
              <a:rPr b="0" lang="en-US" sz="2000">
                <a:solidFill>
                  <a:srgbClr val="000000"/>
                </a:solidFill>
                <a:latin typeface="Times New Roman"/>
                <a:ea typeface="Times New Roman"/>
                <a:cs typeface="Times New Roman"/>
                <a:sym typeface="Times New Roman"/>
              </a:rPr>
              <a:t>Giới thiệu về Dart và vai trò trong Flutter</a:t>
            </a:r>
            <a:endParaRPr b="0" sz="2200">
              <a:solidFill>
                <a:srgbClr val="000000"/>
              </a:solidFill>
              <a:latin typeface="Times New Roman"/>
              <a:ea typeface="Times New Roman"/>
              <a:cs typeface="Times New Roman"/>
              <a:sym typeface="Times New Roman"/>
            </a:endParaRPr>
          </a:p>
          <a:p>
            <a:pPr indent="-368300" lvl="0" marL="457200" rtl="0" algn="l">
              <a:lnSpc>
                <a:spcPct val="100000"/>
              </a:lnSpc>
              <a:spcBef>
                <a:spcPts val="450"/>
              </a:spcBef>
              <a:spcAft>
                <a:spcPts val="0"/>
              </a:spcAft>
              <a:buClr>
                <a:srgbClr val="000000"/>
              </a:buClr>
              <a:buSzPts val="2200"/>
              <a:buFont typeface="Times New Roman"/>
              <a:buChar char="●"/>
            </a:pPr>
            <a:r>
              <a:rPr b="0" lang="en-US" sz="2200">
                <a:solidFill>
                  <a:srgbClr val="000000"/>
                </a:solidFill>
                <a:latin typeface="Times New Roman"/>
                <a:ea typeface="Times New Roman"/>
                <a:cs typeface="Times New Roman"/>
                <a:sym typeface="Times New Roman"/>
              </a:rPr>
              <a:t>Môi trường phát triển</a:t>
            </a:r>
            <a:endParaRPr b="0" sz="2200">
              <a:solidFill>
                <a:srgbClr val="000000"/>
              </a:solidFill>
              <a:latin typeface="Times New Roman"/>
              <a:ea typeface="Times New Roman"/>
              <a:cs typeface="Times New Roman"/>
              <a:sym typeface="Times New Roman"/>
            </a:endParaRPr>
          </a:p>
          <a:p>
            <a:pPr indent="-368300" lvl="1" marL="914400" rtl="0" algn="l">
              <a:lnSpc>
                <a:spcPct val="100000"/>
              </a:lnSpc>
              <a:spcBef>
                <a:spcPts val="450"/>
              </a:spcBef>
              <a:spcAft>
                <a:spcPts val="0"/>
              </a:spcAft>
              <a:buClr>
                <a:srgbClr val="000000"/>
              </a:buClr>
              <a:buSzPts val="2200"/>
              <a:buFont typeface="Times New Roman"/>
              <a:buChar char="○"/>
            </a:pPr>
            <a:r>
              <a:rPr b="0" lang="en-US" sz="2000">
                <a:solidFill>
                  <a:srgbClr val="000000"/>
                </a:solidFill>
                <a:latin typeface="Times New Roman"/>
                <a:ea typeface="Times New Roman"/>
                <a:cs typeface="Times New Roman"/>
                <a:sym typeface="Times New Roman"/>
              </a:rPr>
              <a:t>DartPad, VS Code, Android Studio</a:t>
            </a:r>
            <a:endParaRPr b="0" sz="2200">
              <a:solidFill>
                <a:srgbClr val="000000"/>
              </a:solidFill>
              <a:latin typeface="Times New Roman"/>
              <a:ea typeface="Times New Roman"/>
              <a:cs typeface="Times New Roman"/>
              <a:sym typeface="Times New Roman"/>
            </a:endParaRPr>
          </a:p>
          <a:p>
            <a:pPr indent="-368300" lvl="0" marL="457200" rtl="0" algn="l">
              <a:lnSpc>
                <a:spcPct val="100000"/>
              </a:lnSpc>
              <a:spcBef>
                <a:spcPts val="450"/>
              </a:spcBef>
              <a:spcAft>
                <a:spcPts val="0"/>
              </a:spcAft>
              <a:buClr>
                <a:srgbClr val="000000"/>
              </a:buClr>
              <a:buSzPts val="2200"/>
              <a:buFont typeface="Times New Roman"/>
              <a:buChar char="●"/>
            </a:pPr>
            <a:r>
              <a:rPr b="0" lang="en-US" sz="2200">
                <a:solidFill>
                  <a:srgbClr val="000000"/>
                </a:solidFill>
                <a:latin typeface="Times New Roman"/>
                <a:ea typeface="Times New Roman"/>
                <a:cs typeface="Times New Roman"/>
                <a:sym typeface="Times New Roman"/>
              </a:rPr>
              <a:t>Cài đặt Flutter</a:t>
            </a:r>
            <a:endParaRPr b="0" sz="2200">
              <a:solidFill>
                <a:srgbClr val="000000"/>
              </a:solidFill>
              <a:latin typeface="Times New Roman"/>
              <a:ea typeface="Times New Roman"/>
              <a:cs typeface="Times New Roman"/>
              <a:sym typeface="Times New Roman"/>
            </a:endParaRPr>
          </a:p>
          <a:p>
            <a:pPr indent="-368300" lvl="1" marL="914400" rtl="0" algn="l">
              <a:lnSpc>
                <a:spcPct val="100000"/>
              </a:lnSpc>
              <a:spcBef>
                <a:spcPts val="450"/>
              </a:spcBef>
              <a:spcAft>
                <a:spcPts val="0"/>
              </a:spcAft>
              <a:buClr>
                <a:srgbClr val="000000"/>
              </a:buClr>
              <a:buSzPts val="2200"/>
              <a:buFont typeface="Times New Roman"/>
              <a:buChar char="○"/>
            </a:pPr>
            <a:r>
              <a:rPr b="0" lang="en-US" sz="2000">
                <a:solidFill>
                  <a:srgbClr val="000000"/>
                </a:solidFill>
                <a:latin typeface="Times New Roman"/>
                <a:ea typeface="Times New Roman"/>
                <a:cs typeface="Times New Roman"/>
                <a:sym typeface="Times New Roman"/>
              </a:rPr>
              <a:t>Cài đặt SDK &amp; Android Studio</a:t>
            </a:r>
            <a:endParaRPr b="0" sz="2200">
              <a:solidFill>
                <a:srgbClr val="000000"/>
              </a:solidFill>
              <a:latin typeface="Times New Roman"/>
              <a:ea typeface="Times New Roman"/>
              <a:cs typeface="Times New Roman"/>
              <a:sym typeface="Times New Roman"/>
            </a:endParaRPr>
          </a:p>
          <a:p>
            <a:pPr indent="-368300" lvl="1" marL="914400" rtl="0" algn="l">
              <a:lnSpc>
                <a:spcPct val="100000"/>
              </a:lnSpc>
              <a:spcBef>
                <a:spcPts val="450"/>
              </a:spcBef>
              <a:spcAft>
                <a:spcPts val="0"/>
              </a:spcAft>
              <a:buClr>
                <a:srgbClr val="000000"/>
              </a:buClr>
              <a:buSzPts val="2200"/>
              <a:buFont typeface="Times New Roman"/>
              <a:buChar char="○"/>
            </a:pPr>
            <a:r>
              <a:rPr b="0" lang="en-US" sz="2000">
                <a:solidFill>
                  <a:srgbClr val="000000"/>
                </a:solidFill>
                <a:latin typeface="Times New Roman"/>
                <a:ea typeface="Times New Roman"/>
                <a:cs typeface="Times New Roman"/>
                <a:sym typeface="Times New Roman"/>
              </a:rPr>
              <a:t>Cấu hình thiết bị ảo (Emulator)</a:t>
            </a:r>
            <a:endParaRPr b="0" sz="2200">
              <a:solidFill>
                <a:srgbClr val="000000"/>
              </a:solidFill>
              <a:latin typeface="Times New Roman"/>
              <a:ea typeface="Times New Roman"/>
              <a:cs typeface="Times New Roman"/>
              <a:sym typeface="Times New Roman"/>
            </a:endParaRPr>
          </a:p>
          <a:p>
            <a:pPr indent="-368300" lvl="0" marL="457200" rtl="0" algn="l">
              <a:lnSpc>
                <a:spcPct val="100000"/>
              </a:lnSpc>
              <a:spcBef>
                <a:spcPts val="450"/>
              </a:spcBef>
              <a:spcAft>
                <a:spcPts val="450"/>
              </a:spcAft>
              <a:buClr>
                <a:srgbClr val="000000"/>
              </a:buClr>
              <a:buSzPts val="2200"/>
              <a:buFont typeface="Times New Roman"/>
              <a:buChar char="●"/>
            </a:pPr>
            <a:r>
              <a:rPr b="0" lang="en-US" sz="2200">
                <a:solidFill>
                  <a:srgbClr val="000000"/>
                </a:solidFill>
                <a:latin typeface="Times New Roman"/>
                <a:ea typeface="Times New Roman"/>
                <a:cs typeface="Times New Roman"/>
                <a:sym typeface="Times New Roman"/>
              </a:rPr>
              <a:t>Tạo và chạy ứng dụng đầu tiên</a:t>
            </a:r>
            <a:endParaRPr b="0" sz="2200">
              <a:solidFill>
                <a:srgbClr val="000000"/>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3"/>
          <p:cNvSpPr txBox="1"/>
          <p:nvPr>
            <p:ph idx="4294967295" type="title"/>
          </p:nvPr>
        </p:nvSpPr>
        <p:spPr>
          <a:xfrm>
            <a:off x="1824990" y="73660"/>
            <a:ext cx="9594215" cy="818515"/>
          </a:xfrm>
          <a:prstGeom prst="rect">
            <a:avLst/>
          </a:prstGeom>
          <a:solidFill>
            <a:srgbClr val="000000">
              <a:alpha val="0"/>
            </a:srgbClr>
          </a:solidFill>
          <a:ln>
            <a:noFill/>
          </a:ln>
        </p:spPr>
        <p:txBody>
          <a:bodyPr anchorCtr="0" anchor="ctr" bIns="45700" lIns="91400" spcFirstLastPara="1" rIns="91400" wrap="square" tIns="45700">
            <a:norm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Flutter là gì?</a:t>
            </a:r>
            <a:endParaRPr b="1" sz="3200">
              <a:solidFill>
                <a:schemeClr val="accent6"/>
              </a:solidFill>
              <a:latin typeface="Times New Roman"/>
              <a:ea typeface="Times New Roman"/>
              <a:cs typeface="Times New Roman"/>
              <a:sym typeface="Times New Roman"/>
            </a:endParaRPr>
          </a:p>
        </p:txBody>
      </p:sp>
      <p:sp>
        <p:nvSpPr>
          <p:cNvPr id="40" name="Google Shape;40;p3"/>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Flutter là bộ công cụ thiết kế giao diện (UI toolkit) do Google phát triển để xây dựng các ứng dụng biên dịch native từ một cơ sở mã nguồn duy nhất (single codebase).</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Hỗ trợ Android, iOS, Web, macOS, Linux và Windows.</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Được viết bằng ngôn ngữ Dart và sử dụng động cơ dựng hình riêng (Skia/Impeller).</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Cho phép phát triển giao diện nhanh chóng thông qua các thành phần tái sử dụng (reusable widgets).</a:t>
            </a:r>
            <a:endParaRPr b="0" sz="240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4"/>
          <p:cNvSpPr txBox="1"/>
          <p:nvPr>
            <p:ph idx="1" type="body"/>
          </p:nvPr>
        </p:nvSpPr>
        <p:spPr>
          <a:xfrm>
            <a:off x="681997" y="1348371"/>
            <a:ext cx="11090638" cy="4435944"/>
          </a:xfrm>
          <a:prstGeom prst="rect">
            <a:avLst/>
          </a:prstGeom>
          <a:noFill/>
          <a:ln>
            <a:noFill/>
          </a:ln>
        </p:spPr>
        <p:txBody>
          <a:bodyPr anchorCtr="0" anchor="t" bIns="0" lIns="0" spcFirstLastPara="1" rIns="0" wrap="square" tIns="0">
            <a:spAutoFit/>
          </a:bodyPr>
          <a:lstStyle/>
          <a:p>
            <a:pPr indent="-138430" lvl="0" marL="277495" marR="0" rtl="0" algn="l">
              <a:lnSpc>
                <a:spcPct val="100000"/>
              </a:lnSpc>
              <a:spcBef>
                <a:spcPts val="0"/>
              </a:spcBef>
              <a:spcAft>
                <a:spcPts val="0"/>
              </a:spcAft>
              <a:buClr>
                <a:srgbClr val="000000"/>
              </a:buClr>
              <a:buSzPts val="1400"/>
              <a:buFont typeface="Arial"/>
              <a:buNone/>
            </a:pPr>
            <a:r>
              <a:t/>
            </a:r>
            <a:endParaRPr/>
          </a:p>
        </p:txBody>
      </p:sp>
      <p:graphicFrame>
        <p:nvGraphicFramePr>
          <p:cNvPr id="46" name="Google Shape;46;p4"/>
          <p:cNvGraphicFramePr/>
          <p:nvPr/>
        </p:nvGraphicFramePr>
        <p:xfrm>
          <a:off x="1512275" y="1600200"/>
          <a:ext cx="3000000" cy="3000000"/>
        </p:xfrm>
        <a:graphic>
          <a:graphicData uri="http://schemas.openxmlformats.org/drawingml/2006/table">
            <a:tbl>
              <a:tblPr>
                <a:noFill/>
                <a:tableStyleId>{F5D9E98C-522B-4CAF-ADCD-44C560AE9DAC}</a:tableStyleId>
              </a:tblPr>
              <a:tblGrid>
                <a:gridCol w="2735000"/>
                <a:gridCol w="5963525"/>
              </a:tblGrid>
              <a:tr h="370850">
                <a:tc>
                  <a:txBody>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highlight>
                            <a:srgbClr val="4F81BD"/>
                          </a:highlight>
                          <a:latin typeface="Times New Roman"/>
                          <a:ea typeface="Times New Roman"/>
                          <a:cs typeface="Times New Roman"/>
                          <a:sym typeface="Times New Roman"/>
                        </a:rPr>
                        <a:t>Tính năng</a:t>
                      </a:r>
                      <a:endParaRPr b="1" i="0" sz="2400" u="none" cap="none" strike="noStrike">
                        <a:solidFill>
                          <a:srgbClr val="FFFFFF"/>
                        </a:solidFill>
                        <a:highlight>
                          <a:srgbClr val="4F81BD"/>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c>
                  <a:txBody>
                    <a:bodyPr/>
                    <a:lstStyle/>
                    <a:p>
                      <a:pPr indent="0" lvl="0" marL="0" marR="0" rtl="0" algn="ctr">
                        <a:lnSpc>
                          <a:spcPct val="100000"/>
                        </a:lnSpc>
                        <a:spcBef>
                          <a:spcPts val="0"/>
                        </a:spcBef>
                        <a:spcAft>
                          <a:spcPts val="0"/>
                        </a:spcAft>
                        <a:buClr>
                          <a:srgbClr val="000000"/>
                        </a:buClr>
                        <a:buSzPts val="2400"/>
                        <a:buFont typeface="Arial"/>
                        <a:buNone/>
                      </a:pPr>
                      <a:r>
                        <a:rPr b="1" i="0" lang="en-US" sz="2400" u="none" cap="none" strike="noStrike">
                          <a:solidFill>
                            <a:srgbClr val="FFFFFF"/>
                          </a:solidFill>
                          <a:highlight>
                            <a:srgbClr val="4F81BD"/>
                          </a:highlight>
                          <a:latin typeface="Times New Roman"/>
                          <a:ea typeface="Times New Roman"/>
                          <a:cs typeface="Times New Roman"/>
                          <a:sym typeface="Times New Roman"/>
                        </a:rPr>
                        <a:t>Mô tả</a:t>
                      </a:r>
                      <a:endParaRPr b="1" i="0" sz="2400" u="none" cap="none" strike="noStrike">
                        <a:solidFill>
                          <a:srgbClr val="FFFFFF"/>
                        </a:solidFill>
                        <a:highlight>
                          <a:srgbClr val="4F81BD"/>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highlight>
                            <a:srgbClr val="CFD7E7"/>
                          </a:highlight>
                          <a:latin typeface="Times New Roman"/>
                          <a:ea typeface="Times New Roman"/>
                          <a:cs typeface="Times New Roman"/>
                          <a:sym typeface="Times New Roman"/>
                        </a:rPr>
                        <a:t>Phát triển nhanh chóng</a:t>
                      </a:r>
                      <a:endParaRPr b="0" i="0" sz="24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highlight>
                            <a:srgbClr val="CFD7E7"/>
                          </a:highlight>
                          <a:latin typeface="Times New Roman"/>
                          <a:ea typeface="Times New Roman"/>
                          <a:cs typeface="Times New Roman"/>
                          <a:sym typeface="Times New Roman"/>
                        </a:rPr>
                        <a:t>Hot Reload / Hot Restart</a:t>
                      </a:r>
                      <a:endParaRPr b="0" i="0" sz="24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Giao diện đẹp mắt</a:t>
                      </a:r>
                      <a:endParaRPr b="0" i="0" sz="24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Bộ Widget chuẩn Material &amp; Cupertino</a:t>
                      </a:r>
                      <a:endParaRPr b="0" i="0" sz="24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highlight>
                            <a:srgbClr val="CFD7E7"/>
                          </a:highlight>
                          <a:latin typeface="Times New Roman"/>
                          <a:ea typeface="Times New Roman"/>
                          <a:cs typeface="Times New Roman"/>
                          <a:sym typeface="Times New Roman"/>
                        </a:rPr>
                        <a:t>Mã nguồn duy nhất</a:t>
                      </a:r>
                      <a:endParaRPr b="0" i="0" sz="24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highlight>
                            <a:srgbClr val="CFD7E7"/>
                          </a:highlight>
                          <a:latin typeface="Times New Roman"/>
                          <a:ea typeface="Times New Roman"/>
                          <a:cs typeface="Times New Roman"/>
                          <a:sym typeface="Times New Roman"/>
                        </a:rPr>
                        <a:t>Viết một lần → triển khai mọi nơi</a:t>
                      </a:r>
                      <a:endParaRPr b="0" i="0" sz="24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370850">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Hiệu năng cao</a:t>
                      </a:r>
                      <a:endParaRPr b="0" i="0" sz="24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rgbClr val="000000"/>
                          </a:solidFill>
                          <a:latin typeface="Times New Roman"/>
                          <a:ea typeface="Times New Roman"/>
                          <a:cs typeface="Times New Roman"/>
                          <a:sym typeface="Times New Roman"/>
                        </a:rPr>
                        <a:t>Tốc độ tiệm cận Native</a:t>
                      </a:r>
                      <a:endParaRPr b="0" i="0" sz="24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r>
            </a:tbl>
          </a:graphicData>
        </a:graphic>
      </p:graphicFrame>
      <p:sp>
        <p:nvSpPr>
          <p:cNvPr id="47" name="Google Shape;47;p4"/>
          <p:cNvSpPr txBox="1"/>
          <p:nvPr>
            <p:ph idx="4294967295" type="title"/>
          </p:nvPr>
        </p:nvSpPr>
        <p:spPr>
          <a:xfrm>
            <a:off x="1086485" y="61595"/>
            <a:ext cx="109728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i="0" lang="en-US" sz="3200">
                <a:solidFill>
                  <a:schemeClr val="accent6"/>
                </a:solidFill>
                <a:latin typeface="Times New Roman"/>
                <a:ea typeface="Times New Roman"/>
                <a:cs typeface="Times New Roman"/>
                <a:sym typeface="Times New Roman"/>
              </a:rPr>
              <a:t>Tại sao chọn Flutter?</a:t>
            </a:r>
            <a:endParaRPr b="1" i="0" sz="3200">
              <a:solidFill>
                <a:schemeClr val="accent6"/>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5"/>
          <p:cNvSpPr txBox="1"/>
          <p:nvPr>
            <p:ph idx="4294967295" type="title"/>
          </p:nvPr>
        </p:nvSpPr>
        <p:spPr>
          <a:xfrm>
            <a:off x="881380" y="85725"/>
            <a:ext cx="10972800" cy="81851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Lựa chọn Flutter một cách hợp lý</a:t>
            </a:r>
            <a:endParaRPr b="1" sz="3200">
              <a:solidFill>
                <a:schemeClr val="accent6"/>
              </a:solidFill>
              <a:latin typeface="Times New Roman"/>
              <a:ea typeface="Times New Roman"/>
              <a:cs typeface="Times New Roman"/>
              <a:sym typeface="Times New Roman"/>
            </a:endParaRPr>
          </a:p>
        </p:txBody>
      </p:sp>
      <p:pic>
        <p:nvPicPr>
          <p:cNvPr descr="A diagram of a flowchart&#10;&#10;AI-generated content may be incorrect." id="54" name="Google Shape;54;p5"/>
          <p:cNvPicPr preferRelativeResize="0"/>
          <p:nvPr/>
        </p:nvPicPr>
        <p:blipFill rotWithShape="1">
          <a:blip r:embed="rId3">
            <a:alphaModFix/>
          </a:blip>
          <a:srcRect b="0" l="0" r="0" t="0"/>
          <a:stretch/>
        </p:blipFill>
        <p:spPr>
          <a:xfrm>
            <a:off x="8140700" y="1351754"/>
            <a:ext cx="3467100" cy="4629150"/>
          </a:xfrm>
          <a:prstGeom prst="rect">
            <a:avLst/>
          </a:prstGeom>
          <a:noFill/>
          <a:ln cap="flat" cmpd="sng" w="9525">
            <a:solidFill>
              <a:schemeClr val="dk1"/>
            </a:solidFill>
            <a:prstDash val="solid"/>
            <a:round/>
            <a:headEnd len="sm" w="sm" type="none"/>
            <a:tailEnd len="sm" w="sm" type="none"/>
          </a:ln>
        </p:spPr>
      </p:pic>
      <p:sp>
        <p:nvSpPr>
          <p:cNvPr id="55" name="Google Shape;55;p5"/>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25" spcFirstLastPara="1" rIns="91425" wrap="square" tIns="45700">
            <a:noAutofit/>
          </a:bodyPr>
          <a:lstStyle/>
          <a:p>
            <a:pPr indent="0" lvl="0" marL="0" rtl="0" algn="l">
              <a:lnSpc>
                <a:spcPct val="100000"/>
              </a:lnSpc>
              <a:spcBef>
                <a:spcPts val="450"/>
              </a:spcBef>
              <a:spcAft>
                <a:spcPts val="0"/>
              </a:spcAft>
              <a:buSzPts val="1400"/>
              <a:buNone/>
            </a:pPr>
            <a:r>
              <a:rPr b="1" lang="en-US" sz="2400">
                <a:solidFill>
                  <a:srgbClr val="000000"/>
                </a:solidFill>
                <a:latin typeface="Times New Roman"/>
                <a:ea typeface="Times New Roman"/>
                <a:cs typeface="Times New Roman"/>
                <a:sym typeface="Times New Roman"/>
              </a:rPr>
              <a:t>Từ tính năng đến quyết định dự án</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Flutter cung cấp nhiều tính năng mạnh mẽ</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Tuy nhiên, không có công nghệ nào phù hợp với mọi dự án</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Lựa chọn công cụ phù hợp phụ thuộc vào bối cảnh dự án</a:t>
            </a:r>
            <a:endParaRPr b="0" sz="2400">
              <a:solidFill>
                <a:srgbClr val="000000"/>
              </a:solidFill>
              <a:latin typeface="Times New Roman"/>
              <a:ea typeface="Times New Roman"/>
              <a:cs typeface="Times New Roman"/>
              <a:sym typeface="Times New Roman"/>
            </a:endParaRPr>
          </a:p>
          <a:p>
            <a:pPr indent="0" lvl="0" marL="0" rtl="0" algn="l">
              <a:lnSpc>
                <a:spcPct val="100000"/>
              </a:lnSpc>
              <a:spcBef>
                <a:spcPts val="1800"/>
              </a:spcBef>
              <a:spcAft>
                <a:spcPts val="0"/>
              </a:spcAft>
              <a:buSzPts val="1400"/>
              <a:buNone/>
            </a:pPr>
            <a:r>
              <a:rPr b="1" lang="en-US" sz="2400">
                <a:solidFill>
                  <a:srgbClr val="000000"/>
                </a:solidFill>
                <a:latin typeface="Times New Roman"/>
                <a:ea typeface="Times New Roman"/>
                <a:cs typeface="Times New Roman"/>
                <a:sym typeface="Times New Roman"/>
              </a:rPr>
              <a:t>Thông điệp cốt lõi:</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i="1" lang="en-US" sz="2400">
                <a:solidFill>
                  <a:srgbClr val="000000"/>
                </a:solidFill>
                <a:latin typeface="Times New Roman"/>
                <a:ea typeface="Times New Roman"/>
                <a:cs typeface="Times New Roman"/>
                <a:sym typeface="Times New Roman"/>
              </a:rPr>
              <a:t>Hiểu rõ khi nào nên dùng Flutter cũng quan trọng như việc biết tại sao Flutter lại mạnh mẽ.</a:t>
            </a:r>
            <a:endParaRPr b="0" i="1" sz="2400">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6"/>
          <p:cNvSpPr txBox="1"/>
          <p:nvPr>
            <p:ph idx="4294967295" type="title"/>
          </p:nvPr>
        </p:nvSpPr>
        <p:spPr>
          <a:xfrm>
            <a:off x="1086485" y="121920"/>
            <a:ext cx="109728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i="0" lang="en-US" sz="3200">
                <a:solidFill>
                  <a:schemeClr val="accent6"/>
                </a:solidFill>
                <a:latin typeface="Times New Roman"/>
                <a:ea typeface="Times New Roman"/>
                <a:cs typeface="Times New Roman"/>
                <a:sym typeface="Times New Roman"/>
              </a:rPr>
              <a:t>Khi nào Flutter là sự lựa chọn tốt?</a:t>
            </a:r>
            <a:endParaRPr b="1" i="0" sz="3200">
              <a:solidFill>
                <a:schemeClr val="accent6"/>
              </a:solidFill>
              <a:latin typeface="Times New Roman"/>
              <a:ea typeface="Times New Roman"/>
              <a:cs typeface="Times New Roman"/>
              <a:sym typeface="Times New Roman"/>
            </a:endParaRPr>
          </a:p>
        </p:txBody>
      </p:sp>
      <p:sp>
        <p:nvSpPr>
          <p:cNvPr id="62" name="Google Shape;62;p6"/>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Ứng dụng đa nền tảng cần dùng chung giao diện và logic</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Các dự án MVP, startup và làm sản phẩm mẫu nhanh (rapid prototyping)</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Ứng dụng doanh nghiệp (thương mại điện tử, đặt lịch, bảng điều khiển/dashboard)</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Ứng dụng sử dụng tính năng thiết bị ở mức độ vừa phải</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Đội ngũ có nguồn lực hạn chế về lập trình Native Android/iOS</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i="1" lang="en-US" sz="2400">
                <a:solidFill>
                  <a:srgbClr val="000000"/>
                </a:solidFill>
                <a:latin typeface="Times New Roman"/>
                <a:ea typeface="Times New Roman"/>
                <a:cs typeface="Times New Roman"/>
                <a:sym typeface="Times New Roman"/>
              </a:rPr>
              <a:t>Flutter hiệu quả nhất khi mục tiêu là rút ngắn thời gian ra mắt thị trường (time to market), tiết kiệm chi phí phát triển và duy trì một mã nguồn duy nhất.</a:t>
            </a:r>
            <a:endParaRPr b="0" i="0" sz="240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7"/>
          <p:cNvSpPr txBox="1"/>
          <p:nvPr>
            <p:ph idx="4294967295" type="title"/>
          </p:nvPr>
        </p:nvSpPr>
        <p:spPr>
          <a:xfrm>
            <a:off x="1122680" y="85725"/>
            <a:ext cx="109728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Tích hợp Flutter với Native</a:t>
            </a:r>
            <a:endParaRPr b="1" sz="3200">
              <a:solidFill>
                <a:schemeClr val="accent6"/>
              </a:solidFill>
              <a:latin typeface="Times New Roman"/>
              <a:ea typeface="Times New Roman"/>
              <a:cs typeface="Times New Roman"/>
              <a:sym typeface="Times New Roman"/>
            </a:endParaRPr>
          </a:p>
        </p:txBody>
      </p:sp>
      <p:sp>
        <p:nvSpPr>
          <p:cNvPr id="69" name="Google Shape;69;p7"/>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0" lvl="0" marL="0" rtl="0" algn="l">
              <a:lnSpc>
                <a:spcPct val="100000"/>
              </a:lnSpc>
              <a:spcBef>
                <a:spcPts val="450"/>
              </a:spcBef>
              <a:spcAft>
                <a:spcPts val="0"/>
              </a:spcAft>
              <a:buSzPts val="1400"/>
              <a:buNone/>
            </a:pPr>
            <a:r>
              <a:rPr b="1" lang="en-US" sz="2000">
                <a:solidFill>
                  <a:srgbClr val="000000"/>
                </a:solidFill>
                <a:latin typeface="Times New Roman"/>
                <a:ea typeface="Times New Roman"/>
                <a:cs typeface="Times New Roman"/>
                <a:sym typeface="Times New Roman"/>
              </a:rPr>
              <a:t>Nội dung:</a:t>
            </a:r>
            <a:endParaRPr b="1"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lang="en-US" sz="2000">
                <a:solidFill>
                  <a:srgbClr val="000000"/>
                </a:solidFill>
                <a:latin typeface="Times New Roman"/>
                <a:ea typeface="Times New Roman"/>
                <a:cs typeface="Times New Roman"/>
                <a:sym typeface="Times New Roman"/>
              </a:rPr>
              <a:t>Flutter đảm nhận giao diện (UI) và logic nghiệp vụ</a:t>
            </a:r>
            <a:endParaRPr b="1"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lang="en-US" sz="2000">
                <a:solidFill>
                  <a:srgbClr val="000000"/>
                </a:solidFill>
                <a:latin typeface="Times New Roman"/>
                <a:ea typeface="Times New Roman"/>
                <a:cs typeface="Times New Roman"/>
                <a:sym typeface="Times New Roman"/>
              </a:rPr>
              <a:t>Mã Native xử lý các tính năng đặc thù của nền tảng</a:t>
            </a:r>
            <a:endParaRPr b="1"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lang="en-US" sz="2000">
                <a:solidFill>
                  <a:srgbClr val="000000"/>
                </a:solidFill>
                <a:latin typeface="Times New Roman"/>
                <a:ea typeface="Times New Roman"/>
                <a:cs typeface="Times New Roman"/>
                <a:sym typeface="Times New Roman"/>
              </a:rPr>
              <a:t>Giao tiếp thông qua Platform Channels</a:t>
            </a:r>
            <a:endParaRPr b="1" sz="2000">
              <a:solidFill>
                <a:srgbClr val="000000"/>
              </a:solidFill>
              <a:latin typeface="Times New Roman"/>
              <a:ea typeface="Times New Roman"/>
              <a:cs typeface="Times New Roman"/>
              <a:sym typeface="Times New Roman"/>
            </a:endParaRPr>
          </a:p>
          <a:p>
            <a:pPr indent="0" lvl="0" marL="0" rtl="0" algn="l">
              <a:lnSpc>
                <a:spcPct val="100000"/>
              </a:lnSpc>
              <a:spcBef>
                <a:spcPts val="1500"/>
              </a:spcBef>
              <a:spcAft>
                <a:spcPts val="0"/>
              </a:spcAft>
              <a:buSzPts val="1400"/>
              <a:buNone/>
            </a:pPr>
            <a:r>
              <a:rPr b="1" lang="en-US" sz="2000">
                <a:solidFill>
                  <a:srgbClr val="000000"/>
                </a:solidFill>
                <a:latin typeface="Times New Roman"/>
                <a:ea typeface="Times New Roman"/>
                <a:cs typeface="Times New Roman"/>
                <a:sym typeface="Times New Roman"/>
              </a:rPr>
              <a:t>Ví dụ về tích hợp Native:</a:t>
            </a:r>
            <a:endParaRPr b="1"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lang="en-US" sz="2000">
                <a:solidFill>
                  <a:srgbClr val="000000"/>
                </a:solidFill>
                <a:latin typeface="Times New Roman"/>
                <a:ea typeface="Times New Roman"/>
                <a:cs typeface="Times New Roman"/>
                <a:sym typeface="Times New Roman"/>
              </a:rPr>
              <a:t>Camera, Bluetooth, NFC</a:t>
            </a:r>
            <a:endParaRPr b="1"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lang="en-US" sz="2000">
                <a:solidFill>
                  <a:srgbClr val="000000"/>
                </a:solidFill>
                <a:latin typeface="Times New Roman"/>
                <a:ea typeface="Times New Roman"/>
                <a:cs typeface="Times New Roman"/>
                <a:sym typeface="Times New Roman"/>
              </a:rPr>
              <a:t>SDK thanh toán</a:t>
            </a:r>
            <a:endParaRPr b="1"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450"/>
              </a:spcAft>
              <a:buClr>
                <a:srgbClr val="000000"/>
              </a:buClr>
              <a:buSzPts val="2000"/>
              <a:buFont typeface="Times New Roman"/>
              <a:buChar char="●"/>
            </a:pPr>
            <a:r>
              <a:rPr b="0" lang="en-US" sz="2000">
                <a:solidFill>
                  <a:srgbClr val="000000"/>
                </a:solidFill>
                <a:latin typeface="Times New Roman"/>
                <a:ea typeface="Times New Roman"/>
                <a:cs typeface="Times New Roman"/>
                <a:sym typeface="Times New Roman"/>
              </a:rPr>
              <a:t>Dịch vụ cấp hệ điều hành</a:t>
            </a:r>
            <a:endParaRPr b="1" sz="2000">
              <a:solidFill>
                <a:srgbClr val="000000"/>
              </a:solidFill>
              <a:latin typeface="Times New Roman"/>
              <a:ea typeface="Times New Roman"/>
              <a:cs typeface="Times New Roman"/>
              <a:sym typeface="Times New Roman"/>
            </a:endParaRPr>
          </a:p>
        </p:txBody>
      </p:sp>
      <p:sp>
        <p:nvSpPr>
          <p:cNvPr id="70" name="Google Shape;70;p7"/>
          <p:cNvSpPr txBox="1"/>
          <p:nvPr/>
        </p:nvSpPr>
        <p:spPr>
          <a:xfrm>
            <a:off x="6795907" y="1326499"/>
            <a:ext cx="5170200" cy="5229600"/>
          </a:xfrm>
          <a:prstGeom prst="rect">
            <a:avLst/>
          </a:prstGeom>
          <a:solidFill>
            <a:srgbClr val="000000">
              <a:alpha val="0"/>
            </a:srgbClr>
          </a:solidFill>
          <a:ln>
            <a:noFill/>
          </a:ln>
        </p:spPr>
        <p:txBody>
          <a:bodyPr anchorCtr="0" anchor="t" bIns="45700" lIns="91400" spcFirstLastPara="1" rIns="91400" wrap="square" tIns="457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000000"/>
                </a:solidFill>
                <a:latin typeface="Times New Roman"/>
                <a:ea typeface="Times New Roman"/>
                <a:cs typeface="Times New Roman"/>
                <a:sym typeface="Times New Roman"/>
              </a:rPr>
              <a:t>Flutter không loại bỏ mã Native mà kết nối linh hoạt với nó.</a:t>
            </a:r>
            <a:endParaRPr b="1"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90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Khi Flutter chưa hỗ trợ trực tiếp một tính năng, chúng ta có thể viết mã Android Native (Kotlin/Java) hoặc iOS Native (Swift) và kết nối qua Platform Channels.</a:t>
            </a:r>
            <a:endParaRPr b="1" i="0" sz="2000" u="none" cap="none" strike="noStrike">
              <a:solidFill>
                <a:srgbClr val="000000"/>
              </a:solidFill>
              <a:latin typeface="Times New Roman"/>
              <a:ea typeface="Times New Roman"/>
              <a:cs typeface="Times New Roman"/>
              <a:sym typeface="Times New Roman"/>
            </a:endParaRPr>
          </a:p>
          <a:p>
            <a:pPr indent="-355600" lvl="0" marL="457200" marR="0" rtl="0" algn="l">
              <a:lnSpc>
                <a:spcPct val="100000"/>
              </a:lnSpc>
              <a:spcBef>
                <a:spcPts val="900"/>
              </a:spcBef>
              <a:spcAft>
                <a:spcPts val="0"/>
              </a:spcAft>
              <a:buClr>
                <a:srgbClr val="000000"/>
              </a:buClr>
              <a:buSzPts val="2000"/>
              <a:buFont typeface="Times New Roman"/>
              <a:buChar char="●"/>
            </a:pPr>
            <a:r>
              <a:rPr b="0" i="0" lang="en-US" sz="2000" u="none" cap="none" strike="noStrike">
                <a:solidFill>
                  <a:srgbClr val="000000"/>
                </a:solidFill>
                <a:latin typeface="Times New Roman"/>
                <a:ea typeface="Times New Roman"/>
                <a:cs typeface="Times New Roman"/>
                <a:sym typeface="Times New Roman"/>
              </a:rPr>
              <a:t>Đây là mô hình rất phổ biến trong các dự án thực tế.</a:t>
            </a:r>
            <a:endParaRPr b="1"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8"/>
          <p:cNvSpPr txBox="1"/>
          <p:nvPr>
            <p:ph idx="4294967295" type="title"/>
          </p:nvPr>
        </p:nvSpPr>
        <p:spPr>
          <a:xfrm>
            <a:off x="1122680" y="125095"/>
            <a:ext cx="10972800" cy="817880"/>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Khi nào nên ưu tiên phát triển Native?</a:t>
            </a:r>
            <a:endParaRPr b="1" sz="3200">
              <a:solidFill>
                <a:schemeClr val="accent6"/>
              </a:solidFill>
              <a:latin typeface="Times New Roman"/>
              <a:ea typeface="Times New Roman"/>
              <a:cs typeface="Times New Roman"/>
              <a:sym typeface="Times New Roman"/>
            </a:endParaRPr>
          </a:p>
        </p:txBody>
      </p:sp>
      <p:sp>
        <p:nvSpPr>
          <p:cNvPr id="77" name="Google Shape;77;p8"/>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Các ứng dụng yêu cầu can thiệp và tùy biến sâu vào hệ điều hành</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Game đồ họa cao hoặc xử lý đồ họa thời gian thực (real-time graphics)</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Yêu cầu truy cập phần cứng ở mức rất thấp (low-level hardware access)</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Yêu cầu nghiêm ngặt về chuẩn UI/UX riêng biệt của từng nền tảng</a:t>
            </a:r>
            <a:endParaRPr b="0" sz="2400">
              <a:solidFill>
                <a:srgbClr val="000000"/>
              </a:solidFill>
              <a:latin typeface="Times New Roman"/>
              <a:ea typeface="Times New Roman"/>
              <a:cs typeface="Times New Roman"/>
              <a:sym typeface="Times New Roman"/>
            </a:endParaRPr>
          </a:p>
          <a:p>
            <a:pPr indent="0" lvl="0" marL="0" rtl="0" algn="l">
              <a:lnSpc>
                <a:spcPct val="100000"/>
              </a:lnSpc>
              <a:spcBef>
                <a:spcPts val="1800"/>
              </a:spcBef>
              <a:spcAft>
                <a:spcPts val="0"/>
              </a:spcAft>
              <a:buSzPts val="1400"/>
              <a:buNone/>
            </a:pPr>
            <a:r>
              <a:rPr b="1" lang="en-US" sz="2400">
                <a:solidFill>
                  <a:srgbClr val="000000"/>
                </a:solidFill>
                <a:latin typeface="Times New Roman"/>
                <a:ea typeface="Times New Roman"/>
                <a:cs typeface="Times New Roman"/>
                <a:sym typeface="Times New Roman"/>
              </a:rPr>
              <a:t>Bài học chính:</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Flutter rất mạnh mẽ, nhưng không phải lúc nào cũng là lựa chọn tối ưu nhất.</a:t>
            </a:r>
            <a:endParaRPr b="0" sz="2400">
              <a:solidFill>
                <a:srgbClr val="000000"/>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9"/>
          <p:cNvSpPr txBox="1"/>
          <p:nvPr>
            <p:ph idx="4294967295" type="title"/>
          </p:nvPr>
        </p:nvSpPr>
        <p:spPr>
          <a:xfrm>
            <a:off x="1086485" y="73660"/>
            <a:ext cx="109728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Sơ lược lịch sử phát triển</a:t>
            </a:r>
            <a:endParaRPr b="1" sz="3200">
              <a:solidFill>
                <a:schemeClr val="accent6"/>
              </a:solidFill>
              <a:latin typeface="Times New Roman"/>
              <a:ea typeface="Times New Roman"/>
              <a:cs typeface="Times New Roman"/>
              <a:sym typeface="Times New Roman"/>
            </a:endParaRPr>
          </a:p>
        </p:txBody>
      </p:sp>
      <p:sp>
        <p:nvSpPr>
          <p:cNvPr id="83" name="Google Shape;83;p9"/>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2015: Khởi đầu với dự án Sky.</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2017: Ra mắt bản thử nghiệm Flutter Alpha.</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2018: Phát hành phiên bản chính thức Flutter 1.0.</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2021: Flutter 2.0 hỗ trợ thêm Web và Desktop.</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2023–2025: Flutter 3.x ổn định và phát triển mở rộng.</a:t>
            </a:r>
            <a:endParaRPr b="0" sz="2400">
              <a:solidFill>
                <a:srgbClr val="000000"/>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0"/>
          <p:cNvSpPr txBox="1"/>
          <p:nvPr>
            <p:ph idx="4294967295" type="title"/>
          </p:nvPr>
        </p:nvSpPr>
        <p:spPr>
          <a:xfrm>
            <a:off x="929640" y="97790"/>
            <a:ext cx="10972800" cy="81851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b="1" i="0" lang="en-US" sz="3200">
                <a:solidFill>
                  <a:schemeClr val="accent6"/>
                </a:solidFill>
                <a:latin typeface="Times New Roman"/>
                <a:ea typeface="Times New Roman"/>
                <a:cs typeface="Times New Roman"/>
                <a:sym typeface="Times New Roman"/>
              </a:rPr>
              <a:t>Tổng quan kiến trúc Flutter</a:t>
            </a:r>
            <a:endParaRPr b="1" i="0" sz="3200">
              <a:solidFill>
                <a:schemeClr val="accent6"/>
              </a:solidFill>
              <a:latin typeface="Times New Roman"/>
              <a:ea typeface="Times New Roman"/>
              <a:cs typeface="Times New Roman"/>
              <a:sym typeface="Times New Roman"/>
            </a:endParaRPr>
          </a:p>
        </p:txBody>
      </p:sp>
      <p:sp>
        <p:nvSpPr>
          <p:cNvPr id="90" name="Google Shape;90;p10"/>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25" spcFirstLastPara="1" rIns="91425" wrap="square" tIns="45700">
            <a:noAutofit/>
          </a:bodyPr>
          <a:lstStyle/>
          <a:p>
            <a:pPr indent="0" lvl="0" marL="0" rtl="0" algn="l">
              <a:lnSpc>
                <a:spcPct val="100000"/>
              </a:lnSpc>
              <a:spcBef>
                <a:spcPts val="450"/>
              </a:spcBef>
              <a:spcAft>
                <a:spcPts val="0"/>
              </a:spcAft>
              <a:buSzPts val="1400"/>
              <a:buNone/>
            </a:pPr>
            <a:r>
              <a:rPr b="0" i="0" lang="en-US" sz="2000">
                <a:solidFill>
                  <a:srgbClr val="000000"/>
                </a:solidFill>
                <a:latin typeface="Times New Roman"/>
                <a:ea typeface="Times New Roman"/>
                <a:cs typeface="Times New Roman"/>
                <a:sym typeface="Times New Roman"/>
              </a:rPr>
              <a:t>3 Lớp kiến trúc chính:</a:t>
            </a:r>
            <a:endParaRPr b="0" i="0"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i="0" lang="en-US" sz="2000">
                <a:solidFill>
                  <a:srgbClr val="000000"/>
                </a:solidFill>
                <a:latin typeface="Times New Roman"/>
                <a:ea typeface="Times New Roman"/>
                <a:cs typeface="Times New Roman"/>
                <a:sym typeface="Times New Roman"/>
              </a:rPr>
              <a:t>1. Framework (Dart)</a:t>
            </a:r>
            <a:endParaRPr b="0" i="0"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i="0" lang="en-US" sz="2000">
                <a:solidFill>
                  <a:srgbClr val="000000"/>
                </a:solidFill>
                <a:latin typeface="Times New Roman"/>
                <a:ea typeface="Times New Roman"/>
                <a:cs typeface="Times New Roman"/>
                <a:sym typeface="Times New Roman"/>
              </a:rPr>
              <a:t>2. Engine (C++)</a:t>
            </a:r>
            <a:endParaRPr b="0" i="0"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0"/>
              </a:spcAft>
              <a:buClr>
                <a:srgbClr val="000000"/>
              </a:buClr>
              <a:buSzPts val="2000"/>
              <a:buFont typeface="Times New Roman"/>
              <a:buChar char="●"/>
            </a:pPr>
            <a:r>
              <a:rPr b="0" i="0" lang="en-US" sz="2000">
                <a:solidFill>
                  <a:srgbClr val="000000"/>
                </a:solidFill>
                <a:latin typeface="Times New Roman"/>
                <a:ea typeface="Times New Roman"/>
                <a:cs typeface="Times New Roman"/>
                <a:sym typeface="Times New Roman"/>
              </a:rPr>
              <a:t>3. Embedder</a:t>
            </a:r>
            <a:endParaRPr b="0" i="0" sz="2000">
              <a:solidFill>
                <a:srgbClr val="000000"/>
              </a:solidFill>
              <a:latin typeface="Times New Roman"/>
              <a:ea typeface="Times New Roman"/>
              <a:cs typeface="Times New Roman"/>
              <a:sym typeface="Times New Roman"/>
            </a:endParaRPr>
          </a:p>
          <a:p>
            <a:pPr indent="0" lvl="0" marL="0" rtl="0" algn="l">
              <a:lnSpc>
                <a:spcPct val="100000"/>
              </a:lnSpc>
              <a:spcBef>
                <a:spcPts val="1800"/>
              </a:spcBef>
              <a:spcAft>
                <a:spcPts val="450"/>
              </a:spcAft>
              <a:buSzPts val="1400"/>
              <a:buNone/>
            </a:pPr>
            <a:r>
              <a:rPr b="0" i="0" lang="en-US" sz="2000">
                <a:solidFill>
                  <a:srgbClr val="000000"/>
                </a:solidFill>
                <a:latin typeface="Times New Roman"/>
                <a:ea typeface="Times New Roman"/>
                <a:cs typeface="Times New Roman"/>
                <a:sym typeface="Times New Roman"/>
              </a:rPr>
              <a:t>Quy trình: Cây Widget (Widget Tree) → Cây Dựng hình (Render Tree) → Cảnh Tổng hợp (Composited Scene) → Dựng hình GPU (GPU Rendering)</a:t>
            </a:r>
            <a:endParaRPr b="0" i="0" sz="2000">
              <a:solidFill>
                <a:srgbClr val="000000"/>
              </a:solidFill>
              <a:latin typeface="Times New Roman"/>
              <a:ea typeface="Times New Roman"/>
              <a:cs typeface="Times New Roman"/>
              <a:sym typeface="Times New Roman"/>
            </a:endParaRPr>
          </a:p>
        </p:txBody>
      </p:sp>
      <p:pic>
        <p:nvPicPr>
          <p:cNvPr descr="A screenshot of a computer screen&#10;&#10;AI-generated content may be incorrect." id="91" name="Google Shape;91;p10"/>
          <p:cNvPicPr preferRelativeResize="0"/>
          <p:nvPr/>
        </p:nvPicPr>
        <p:blipFill rotWithShape="1">
          <a:blip r:embed="rId3">
            <a:alphaModFix/>
          </a:blip>
          <a:srcRect b="0" l="0" r="0" t="0"/>
          <a:stretch/>
        </p:blipFill>
        <p:spPr>
          <a:xfrm>
            <a:off x="6306019" y="1600730"/>
            <a:ext cx="4107795" cy="43709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1"/>
          <p:cNvSpPr txBox="1"/>
          <p:nvPr>
            <p:ph idx="4294967295" type="title"/>
          </p:nvPr>
        </p:nvSpPr>
        <p:spPr>
          <a:xfrm>
            <a:off x="1146810" y="85725"/>
            <a:ext cx="10972800" cy="818515"/>
          </a:xfrm>
          <a:prstGeom prst="rect">
            <a:avLst/>
          </a:prstGeom>
          <a:solidFill>
            <a:srgbClr val="000000">
              <a:alpha val="0"/>
            </a:srgbClr>
          </a:solidFill>
          <a:ln>
            <a:noFill/>
          </a:ln>
        </p:spPr>
        <p:txBody>
          <a:bodyPr anchorCtr="0" anchor="ctr" bIns="47625" lIns="95250" spcFirstLastPara="1" rIns="95250" wrap="square" tIns="47625">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Lớp Khung làm việc (Framework Layer)</a:t>
            </a:r>
            <a:endParaRPr b="1" sz="3200">
              <a:solidFill>
                <a:schemeClr val="accent6"/>
              </a:solidFill>
              <a:latin typeface="Times New Roman"/>
              <a:ea typeface="Times New Roman"/>
              <a:cs typeface="Times New Roman"/>
              <a:sym typeface="Times New Roman"/>
            </a:endParaRPr>
          </a:p>
        </p:txBody>
      </p:sp>
      <p:sp>
        <p:nvSpPr>
          <p:cNvPr id="97" name="Google Shape;97;p11"/>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7625" lIns="95250" spcFirstLastPara="1" rIns="95250" wrap="square" tIns="47625">
            <a:noAutofit/>
          </a:bodyPr>
          <a:lstStyle/>
          <a:p>
            <a:pPr indent="-381000" lvl="0" marL="457200" rtl="0" algn="l">
              <a:lnSpc>
                <a:spcPct val="100000"/>
              </a:lnSpc>
              <a:spcBef>
                <a:spcPts val="45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Widgets (Stateless, Stateful)</a:t>
            </a:r>
            <a:endParaRPr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Hệ thống Rendering &amp; Layout</a:t>
            </a:r>
            <a:endParaRPr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Thư viện nền tảng (Foundation libraries)</a:t>
            </a:r>
            <a:endParaRPr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90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Khái niệm cốt lõi: Mọi thứ trong Flutter đều là Widget.</a:t>
            </a:r>
            <a:endParaRPr sz="2400">
              <a:solidFill>
                <a:srgbClr val="000000"/>
              </a:solidFill>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2"/>
          <p:cNvSpPr txBox="1"/>
          <p:nvPr>
            <p:ph idx="4294967295" type="title"/>
          </p:nvPr>
        </p:nvSpPr>
        <p:spPr>
          <a:xfrm>
            <a:off x="1496695" y="85725"/>
            <a:ext cx="10972800" cy="818515"/>
          </a:xfrm>
          <a:prstGeom prst="rect">
            <a:avLst/>
          </a:prstGeom>
          <a:solidFill>
            <a:srgbClr val="000000">
              <a:alpha val="0"/>
            </a:srgbClr>
          </a:solidFill>
          <a:ln>
            <a:noFill/>
          </a:ln>
        </p:spPr>
        <p:txBody>
          <a:bodyPr anchorCtr="0" anchor="ctr" bIns="47625" lIns="47625" spcFirstLastPara="1" rIns="47625" wrap="square" tIns="47625">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Engine &amp; Embedder Layers)</a:t>
            </a:r>
            <a:endParaRPr b="1" sz="3200">
              <a:solidFill>
                <a:schemeClr val="accent6"/>
              </a:solidFill>
              <a:latin typeface="Times New Roman"/>
              <a:ea typeface="Times New Roman"/>
              <a:cs typeface="Times New Roman"/>
              <a:sym typeface="Times New Roman"/>
            </a:endParaRPr>
          </a:p>
        </p:txBody>
      </p:sp>
      <p:sp>
        <p:nvSpPr>
          <p:cNvPr id="103" name="Google Shape;103;p12"/>
          <p:cNvSpPr txBox="1"/>
          <p:nvPr>
            <p:ph idx="1" type="body"/>
          </p:nvPr>
        </p:nvSpPr>
        <p:spPr>
          <a:xfrm>
            <a:off x="681990" y="2118360"/>
            <a:ext cx="6104255" cy="3369945"/>
          </a:xfrm>
          <a:prstGeom prst="rect">
            <a:avLst/>
          </a:prstGeom>
          <a:solidFill>
            <a:srgbClr val="000000">
              <a:alpha val="0"/>
            </a:srgbClr>
          </a:solidFill>
          <a:ln>
            <a:noFill/>
          </a:ln>
        </p:spPr>
        <p:txBody>
          <a:bodyPr anchorCtr="0" anchor="t" bIns="47625" lIns="47625" spcFirstLastPara="1" rIns="47625" wrap="square" tIns="47625">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Được viết bằng C++, vận hành bởi Skia/Impeller.</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Xử lý dựng hình, khả năng truy cập (accessibility), bố cục văn bản.</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Tăng tốc bằng GPU giúp đảm bảo sự nhất quán.</a:t>
            </a:r>
            <a:endParaRPr b="0" sz="2400">
              <a:solidFill>
                <a:srgbClr val="000000"/>
              </a:solidFill>
              <a:latin typeface="Times New Roman"/>
              <a:ea typeface="Times New Roman"/>
              <a:cs typeface="Times New Roman"/>
              <a:sym typeface="Times New Roman"/>
            </a:endParaRPr>
          </a:p>
        </p:txBody>
      </p:sp>
      <p:sp>
        <p:nvSpPr>
          <p:cNvPr id="104" name="Google Shape;104;p12"/>
          <p:cNvSpPr txBox="1"/>
          <p:nvPr/>
        </p:nvSpPr>
        <p:spPr>
          <a:xfrm>
            <a:off x="6506575" y="1952625"/>
            <a:ext cx="4466100" cy="4525800"/>
          </a:xfrm>
          <a:prstGeom prst="rect">
            <a:avLst/>
          </a:prstGeom>
          <a:solidFill>
            <a:srgbClr val="000000">
              <a:alpha val="0"/>
            </a:srgbClr>
          </a:solidFill>
          <a:ln>
            <a:noFill/>
          </a:ln>
        </p:spPr>
        <p:txBody>
          <a:bodyPr anchorCtr="0" anchor="t" bIns="47625" lIns="47625" spcFirstLastPara="1" rIns="47625" wrap="square" tIns="47625">
            <a:noAutofit/>
          </a:bodyPr>
          <a:lstStyle/>
          <a:p>
            <a:pPr indent="-381000" lvl="0" marL="45720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Tích hợp riêng cho từng nền tảng.</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90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Xử lý sự kiện đầu vào, vòng đời ứng dụng, quản lý cửa sổ.</a:t>
            </a:r>
            <a:endParaRPr b="0" i="0" sz="2400" u="none" cap="none" strike="noStrike">
              <a:solidFill>
                <a:srgbClr val="000000"/>
              </a:solidFill>
              <a:latin typeface="Times New Roman"/>
              <a:ea typeface="Times New Roman"/>
              <a:cs typeface="Times New Roman"/>
              <a:sym typeface="Times New Roman"/>
            </a:endParaRPr>
          </a:p>
          <a:p>
            <a:pPr indent="-381000" lvl="0" marL="457200" marR="0" rtl="0" algn="l">
              <a:lnSpc>
                <a:spcPct val="100000"/>
              </a:lnSpc>
              <a:spcBef>
                <a:spcPts val="90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Hỗ trợ bộ nhúng tùy chỉnh cho Raspberry Pi.</a:t>
            </a:r>
            <a:endParaRPr b="0" i="0" sz="2400" u="none" cap="none" strike="noStrike">
              <a:solidFill>
                <a:srgbClr val="000000"/>
              </a:solidFill>
              <a:latin typeface="Times New Roman"/>
              <a:ea typeface="Times New Roman"/>
              <a:cs typeface="Times New Roman"/>
              <a:sym typeface="Times New Roman"/>
            </a:endParaRPr>
          </a:p>
        </p:txBody>
      </p:sp>
      <p:sp>
        <p:nvSpPr>
          <p:cNvPr id="105" name="Google Shape;105;p12"/>
          <p:cNvSpPr txBox="1"/>
          <p:nvPr/>
        </p:nvSpPr>
        <p:spPr>
          <a:xfrm>
            <a:off x="820617" y="1428750"/>
            <a:ext cx="4466100" cy="464185"/>
          </a:xfrm>
          <a:prstGeom prst="rect">
            <a:avLst/>
          </a:prstGeom>
          <a:solidFill>
            <a:srgbClr val="000000">
              <a:alpha val="0"/>
            </a:srgbClr>
          </a:solidFill>
          <a:ln>
            <a:noFill/>
          </a:ln>
        </p:spPr>
        <p:txBody>
          <a:bodyPr anchorCtr="0" anchor="t" bIns="47625" lIns="47625" spcFirstLastPara="1" rIns="47625" wrap="square" tIns="476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Lớp Engine (Engine Layer):</a:t>
            </a:r>
            <a:endParaRPr b="1" i="0" sz="2400" u="none" cap="none" strike="noStrike">
              <a:solidFill>
                <a:srgbClr val="000000"/>
              </a:solidFill>
              <a:latin typeface="Times New Roman"/>
              <a:ea typeface="Times New Roman"/>
              <a:cs typeface="Times New Roman"/>
              <a:sym typeface="Times New Roman"/>
            </a:endParaRPr>
          </a:p>
        </p:txBody>
      </p:sp>
      <p:sp>
        <p:nvSpPr>
          <p:cNvPr id="106" name="Google Shape;106;p12"/>
          <p:cNvSpPr txBox="1"/>
          <p:nvPr/>
        </p:nvSpPr>
        <p:spPr>
          <a:xfrm>
            <a:off x="6506575" y="1356360"/>
            <a:ext cx="4466100" cy="461700"/>
          </a:xfrm>
          <a:prstGeom prst="rect">
            <a:avLst/>
          </a:prstGeom>
          <a:solidFill>
            <a:srgbClr val="000000">
              <a:alpha val="0"/>
            </a:srgbClr>
          </a:solidFill>
          <a:ln>
            <a:noFill/>
          </a:ln>
        </p:spPr>
        <p:txBody>
          <a:bodyPr anchorCtr="0" anchor="t" bIns="47625" lIns="47625" spcFirstLastPara="1" rIns="47625" wrap="square" tIns="47625">
            <a:spAutoFit/>
          </a:bodyPr>
          <a:lstStyle/>
          <a:p>
            <a:pPr indent="0" lvl="0" marL="0" marR="0" rtl="0" algn="l">
              <a:lnSpc>
                <a:spcPct val="100000"/>
              </a:lnSpc>
              <a:spcBef>
                <a:spcPts val="0"/>
              </a:spcBef>
              <a:spcAft>
                <a:spcPts val="0"/>
              </a:spcAft>
              <a:buClr>
                <a:srgbClr val="000000"/>
              </a:buClr>
              <a:buSzPts val="2400"/>
              <a:buFont typeface="Arial"/>
              <a:buNone/>
            </a:pPr>
            <a:r>
              <a:rPr b="1" i="0" lang="en-US" sz="2400" u="none" cap="none" strike="noStrike">
                <a:solidFill>
                  <a:srgbClr val="000000"/>
                </a:solidFill>
                <a:latin typeface="Times New Roman"/>
                <a:ea typeface="Times New Roman"/>
                <a:cs typeface="Times New Roman"/>
                <a:sym typeface="Times New Roman"/>
              </a:rPr>
              <a:t>Lớp Nhúng (Embedder Layer):</a:t>
            </a:r>
            <a:endParaRPr b="1" i="0" sz="24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3"/>
          <p:cNvSpPr txBox="1"/>
          <p:nvPr>
            <p:ph idx="4294967295" type="title"/>
          </p:nvPr>
        </p:nvSpPr>
        <p:spPr>
          <a:xfrm>
            <a:off x="1219200" y="127000"/>
            <a:ext cx="109728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i="0" lang="en-US" sz="3200">
                <a:solidFill>
                  <a:schemeClr val="accent6"/>
                </a:solidFill>
                <a:latin typeface="Times New Roman"/>
                <a:ea typeface="Times New Roman"/>
                <a:cs typeface="Times New Roman"/>
                <a:sym typeface="Times New Roman"/>
              </a:rPr>
              <a:t>Lợi ích của Flutter</a:t>
            </a:r>
            <a:endParaRPr b="1" i="0" sz="3200">
              <a:solidFill>
                <a:schemeClr val="accent6"/>
              </a:solidFill>
              <a:latin typeface="Times New Roman"/>
              <a:ea typeface="Times New Roman"/>
              <a:cs typeface="Times New Roman"/>
              <a:sym typeface="Times New Roman"/>
            </a:endParaRPr>
          </a:p>
        </p:txBody>
      </p:sp>
      <p:sp>
        <p:nvSpPr>
          <p:cNvPr id="112" name="Google Shape;112;p13"/>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Hiệu năng: Biên dịch trực tiếp ra mã máy ARM native.</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Sự nhất quán: Giao diện hiển thị đồng nhất trên mọi thiết bị.</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Tính linh hoạt: Bộ Widget phong phú và tùy biến cao.</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So sánh Flutter với các giải pháp khác:</a:t>
            </a:r>
            <a:endParaRPr b="0" i="0" sz="2400">
              <a:solidFill>
                <a:srgbClr val="000000"/>
              </a:solidFill>
              <a:latin typeface="Times New Roman"/>
              <a:ea typeface="Times New Roman"/>
              <a:cs typeface="Times New Roman"/>
              <a:sym typeface="Times New Roman"/>
            </a:endParaRPr>
          </a:p>
        </p:txBody>
      </p:sp>
      <p:sp>
        <p:nvSpPr>
          <p:cNvPr id="113" name="Google Shape;113;p13"/>
          <p:cNvSpPr txBox="1"/>
          <p:nvPr/>
        </p:nvSpPr>
        <p:spPr>
          <a:xfrm>
            <a:off x="1981397" y="3978613"/>
            <a:ext cx="8229203" cy="2645923"/>
          </a:xfrm>
          <a:prstGeom prst="rect">
            <a:avLst/>
          </a:prstGeom>
          <a:noFill/>
          <a:ln>
            <a:noFill/>
          </a:ln>
        </p:spPr>
        <p:txBody>
          <a:bodyPr anchorCtr="0" anchor="t" bIns="45700" lIns="91425" spcFirstLastPara="1" rIns="91425" wrap="square" tIns="45700">
            <a:noAutofit/>
          </a:bodyPr>
          <a:lstStyle/>
          <a:p>
            <a:pPr indent="-227965" lvl="0" marL="342265" marR="0" rtl="0" algn="l">
              <a:lnSpc>
                <a:spcPct val="100000"/>
              </a:lnSpc>
              <a:spcBef>
                <a:spcPts val="0"/>
              </a:spcBef>
              <a:spcAft>
                <a:spcPts val="0"/>
              </a:spcAft>
              <a:buClr>
                <a:schemeClr val="dk1"/>
              </a:buClr>
              <a:buSzPts val="1800"/>
              <a:buFont typeface="Arial"/>
              <a:buNone/>
            </a:pPr>
            <a:r>
              <a:t/>
            </a:r>
            <a:endParaRPr b="1" i="0" sz="1800" u="none" cap="none" strike="noStrike">
              <a:solidFill>
                <a:schemeClr val="dk1"/>
              </a:solidFill>
              <a:latin typeface="Times New Roman"/>
              <a:ea typeface="Times New Roman"/>
              <a:cs typeface="Times New Roman"/>
              <a:sym typeface="Times New Roman"/>
            </a:endParaRPr>
          </a:p>
        </p:txBody>
      </p:sp>
      <p:graphicFrame>
        <p:nvGraphicFramePr>
          <p:cNvPr id="114" name="Google Shape;114;p13"/>
          <p:cNvGraphicFramePr/>
          <p:nvPr/>
        </p:nvGraphicFramePr>
        <p:xfrm>
          <a:off x="1871291" y="3684238"/>
          <a:ext cx="3000000" cy="3000000"/>
        </p:xfrm>
        <a:graphic>
          <a:graphicData uri="http://schemas.openxmlformats.org/drawingml/2006/table">
            <a:tbl>
              <a:tblPr>
                <a:noFill/>
                <a:tableStyleId>{F5D9E98C-522B-4CAF-ADCD-44C560AE9DAC}</a:tableStyleId>
              </a:tblPr>
              <a:tblGrid>
                <a:gridCol w="2743075"/>
                <a:gridCol w="2163000"/>
                <a:gridCol w="3323150"/>
              </a:tblGrid>
              <a:tr h="370850">
                <a:tc>
                  <a:txBody>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highlight>
                            <a:srgbClr val="4F81BD"/>
                          </a:highlight>
                          <a:latin typeface="Times New Roman"/>
                          <a:ea typeface="Times New Roman"/>
                          <a:cs typeface="Times New Roman"/>
                          <a:sym typeface="Times New Roman"/>
                        </a:rPr>
                        <a:t>Framework</a:t>
                      </a:r>
                      <a:endParaRPr b="1" i="0" sz="2000" u="none" cap="none" strike="noStrike">
                        <a:solidFill>
                          <a:srgbClr val="FFFFFF"/>
                        </a:solidFill>
                        <a:highlight>
                          <a:srgbClr val="4F81BD"/>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highlight>
                            <a:srgbClr val="4F81BD"/>
                          </a:highlight>
                          <a:latin typeface="Times New Roman"/>
                          <a:ea typeface="Times New Roman"/>
                          <a:cs typeface="Times New Roman"/>
                          <a:sym typeface="Times New Roman"/>
                        </a:rPr>
                        <a:t>Ngôn ngữ</a:t>
                      </a:r>
                      <a:endParaRPr b="1" i="0" sz="2000" u="none" cap="none" strike="noStrike">
                        <a:solidFill>
                          <a:srgbClr val="FFFFFF"/>
                        </a:solidFill>
                        <a:highlight>
                          <a:srgbClr val="4F81BD"/>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c>
                  <a:txBody>
                    <a:bodyPr/>
                    <a:lstStyle/>
                    <a:p>
                      <a:pPr indent="0" lvl="0" marL="0" marR="0" rtl="0" algn="ctr">
                        <a:lnSpc>
                          <a:spcPct val="100000"/>
                        </a:lnSpc>
                        <a:spcBef>
                          <a:spcPts val="0"/>
                        </a:spcBef>
                        <a:spcAft>
                          <a:spcPts val="0"/>
                        </a:spcAft>
                        <a:buClr>
                          <a:srgbClr val="000000"/>
                        </a:buClr>
                        <a:buSzPts val="2000"/>
                        <a:buFont typeface="Arial"/>
                        <a:buNone/>
                      </a:pPr>
                      <a:r>
                        <a:rPr b="1" i="0" lang="en-US" sz="2000" u="none" cap="none" strike="noStrike">
                          <a:solidFill>
                            <a:srgbClr val="FFFFFF"/>
                          </a:solidFill>
                          <a:highlight>
                            <a:srgbClr val="4F81BD"/>
                          </a:highlight>
                          <a:latin typeface="Times New Roman"/>
                          <a:ea typeface="Times New Roman"/>
                          <a:cs typeface="Times New Roman"/>
                          <a:sym typeface="Times New Roman"/>
                        </a:rPr>
                        <a:t>Sản phẩm đầu ra</a:t>
                      </a:r>
                      <a:endParaRPr b="1" i="0" sz="2000" u="none" cap="none" strike="noStrike">
                        <a:solidFill>
                          <a:srgbClr val="FFFFFF"/>
                        </a:solidFill>
                        <a:highlight>
                          <a:srgbClr val="4F81BD"/>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CFD7E7"/>
                          </a:highlight>
                          <a:latin typeface="Times New Roman"/>
                          <a:ea typeface="Times New Roman"/>
                          <a:cs typeface="Times New Roman"/>
                          <a:sym typeface="Times New Roman"/>
                        </a:rPr>
                        <a:t>Flutter</a:t>
                      </a:r>
                      <a:endParaRPr b="0" i="0" sz="20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CFD7E7"/>
                          </a:highlight>
                          <a:latin typeface="Times New Roman"/>
                          <a:ea typeface="Times New Roman"/>
                          <a:cs typeface="Times New Roman"/>
                          <a:sym typeface="Times New Roman"/>
                        </a:rPr>
                        <a:t>Dart</a:t>
                      </a:r>
                      <a:endParaRPr b="0" i="0" sz="20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CFD7E7"/>
                          </a:highlight>
                          <a:latin typeface="Times New Roman"/>
                          <a:ea typeface="Times New Roman"/>
                          <a:cs typeface="Times New Roman"/>
                          <a:sym typeface="Times New Roman"/>
                        </a:rPr>
                        <a:t>UI Native + Engine riêng</a:t>
                      </a:r>
                      <a:endParaRPr b="0" i="0" sz="20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370850">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React Native</a:t>
                      </a:r>
                      <a:endParaRPr b="0" i="0" sz="20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JavaScript</a:t>
                      </a:r>
                      <a:endParaRPr b="0" i="0" sz="20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Times New Roman"/>
                          <a:ea typeface="Times New Roman"/>
                          <a:cs typeface="Times New Roman"/>
                          <a:sym typeface="Times New Roman"/>
                        </a:rPr>
                        <a:t>Cầu nối (Bridge) gọi UI Native</a:t>
                      </a:r>
                      <a:endParaRPr b="0" i="0" sz="20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r>
              <a:tr h="309850">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CFD7E7"/>
                          </a:highlight>
                          <a:latin typeface="Times New Roman"/>
                          <a:ea typeface="Times New Roman"/>
                          <a:cs typeface="Times New Roman"/>
                          <a:sym typeface="Times New Roman"/>
                        </a:rPr>
                        <a:t>Native (Android/iOS)</a:t>
                      </a:r>
                      <a:endParaRPr b="0" i="0" sz="20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CFD7E7"/>
                          </a:highlight>
                          <a:latin typeface="Times New Roman"/>
                          <a:ea typeface="Times New Roman"/>
                          <a:cs typeface="Times New Roman"/>
                          <a:sym typeface="Times New Roman"/>
                        </a:rPr>
                        <a:t>Kotlin/Swift</a:t>
                      </a:r>
                      <a:endParaRPr b="0" i="0" sz="20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rgbClr val="000000"/>
                          </a:solidFill>
                          <a:highlight>
                            <a:srgbClr val="CFD7E7"/>
                          </a:highlight>
                          <a:latin typeface="Times New Roman"/>
                          <a:ea typeface="Times New Roman"/>
                          <a:cs typeface="Times New Roman"/>
                          <a:sym typeface="Times New Roman"/>
                        </a:rPr>
                        <a:t>Thuần Native (Pure Native)</a:t>
                      </a:r>
                      <a:endParaRPr b="0" i="0" sz="20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4"/>
          <p:cNvSpPr txBox="1"/>
          <p:nvPr>
            <p:ph idx="4294967295" type="title"/>
          </p:nvPr>
        </p:nvSpPr>
        <p:spPr>
          <a:xfrm>
            <a:off x="1219200" y="81915"/>
            <a:ext cx="10972800" cy="818515"/>
          </a:xfrm>
          <a:prstGeom prst="rect">
            <a:avLst/>
          </a:prstGeom>
          <a:solidFill>
            <a:srgbClr val="000000">
              <a:alpha val="0"/>
            </a:srgbClr>
          </a:solidFill>
          <a:ln>
            <a:noFill/>
          </a:ln>
        </p:spPr>
        <p:txBody>
          <a:bodyPr anchorCtr="0" anchor="ctr" bIns="45700" lIns="91400" spcFirstLastPara="1" rIns="91400" wrap="square" tIns="45700">
            <a:norm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Ngôn ngữ lập trình Dart</a:t>
            </a:r>
            <a:endParaRPr b="1" sz="3200">
              <a:solidFill>
                <a:schemeClr val="accent6"/>
              </a:solidFill>
              <a:latin typeface="Times New Roman"/>
              <a:ea typeface="Times New Roman"/>
              <a:cs typeface="Times New Roman"/>
              <a:sym typeface="Times New Roman"/>
            </a:endParaRPr>
          </a:p>
        </p:txBody>
      </p:sp>
      <p:sp>
        <p:nvSpPr>
          <p:cNvPr id="120" name="Google Shape;120;p14"/>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Được thiết kế tối ưu cho việc tạo giao diện ứng dụng.</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Kết hợp cả hai cơ chế biên dịch AOT (Ahead-Of-Time) và JIT (Just-In-Time).</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Hỗ trợ Null Safety (an toàn con trỏ rỗng) và kiểu dữ liệu mạnh (strong typing).</a:t>
            </a:r>
            <a:endParaRPr b="0" sz="2400">
              <a:solidFill>
                <a:srgbClr val="000000"/>
              </a:solidFill>
              <a:latin typeface="Times New Roman"/>
              <a:ea typeface="Times New Roman"/>
              <a:cs typeface="Times New Roman"/>
              <a:sym typeface="Times New Roman"/>
            </a:endParaRPr>
          </a:p>
          <a:p>
            <a:pPr indent="0" lvl="0" marL="0" rtl="0" algn="l">
              <a:lnSpc>
                <a:spcPct val="100000"/>
              </a:lnSpc>
              <a:spcBef>
                <a:spcPts val="1800"/>
              </a:spcBef>
              <a:spcAft>
                <a:spcPts val="0"/>
              </a:spcAft>
              <a:buSzPts val="1400"/>
              <a:buNone/>
            </a:pPr>
            <a:r>
              <a:rPr b="0" lang="en-US" sz="2400">
                <a:solidFill>
                  <a:srgbClr val="000000"/>
                </a:solidFill>
                <a:latin typeface="Times New Roman"/>
                <a:ea typeface="Times New Roman"/>
                <a:cs typeface="Times New Roman"/>
                <a:sym typeface="Times New Roman"/>
              </a:rPr>
              <a:t>Ví dụ:</a:t>
            </a:r>
            <a:endParaRPr b="0" sz="2400">
              <a:solidFill>
                <a:srgbClr val="000000"/>
              </a:solidFill>
              <a:latin typeface="Times New Roman"/>
              <a:ea typeface="Times New Roman"/>
              <a:cs typeface="Times New Roman"/>
              <a:sym typeface="Times New Roman"/>
            </a:endParaRPr>
          </a:p>
          <a:p>
            <a:pPr indent="0" lvl="0" marL="0" rtl="0" algn="l">
              <a:lnSpc>
                <a:spcPct val="100000"/>
              </a:lnSpc>
              <a:spcBef>
                <a:spcPts val="900"/>
              </a:spcBef>
              <a:spcAft>
                <a:spcPts val="0"/>
              </a:spcAft>
              <a:buSzPts val="1400"/>
              <a:buNone/>
            </a:pPr>
            <a:r>
              <a:rPr b="0" lang="en-US" sz="2400">
                <a:solidFill>
                  <a:srgbClr val="000000"/>
                </a:solidFill>
                <a:latin typeface="Times New Roman"/>
                <a:ea typeface="Times New Roman"/>
                <a:cs typeface="Times New Roman"/>
                <a:sym typeface="Times New Roman"/>
              </a:rPr>
              <a:t>void main() {</a:t>
            </a:r>
            <a:endParaRPr b="0" sz="2400">
              <a:solidFill>
                <a:srgbClr val="000000"/>
              </a:solidFill>
              <a:latin typeface="Times New Roman"/>
              <a:ea typeface="Times New Roman"/>
              <a:cs typeface="Times New Roman"/>
              <a:sym typeface="Times New Roman"/>
            </a:endParaRPr>
          </a:p>
          <a:p>
            <a:pPr indent="0" lvl="0" marL="0" rtl="0" algn="l">
              <a:lnSpc>
                <a:spcPct val="100000"/>
              </a:lnSpc>
              <a:spcBef>
                <a:spcPts val="450"/>
              </a:spcBef>
              <a:spcAft>
                <a:spcPts val="0"/>
              </a:spcAft>
              <a:buSzPts val="1400"/>
              <a:buNone/>
            </a:pPr>
            <a:r>
              <a:rPr b="0" lang="en-US" sz="1800">
                <a:solidFill>
                  <a:srgbClr val="000000"/>
                </a:solidFill>
                <a:latin typeface="Times New Roman"/>
                <a:ea typeface="Times New Roman"/>
                <a:cs typeface="Times New Roman"/>
                <a:sym typeface="Times New Roman"/>
              </a:rPr>
              <a:t>print('Welcome to Flutter!');</a:t>
            </a:r>
            <a:endParaRPr b="0" sz="2400">
              <a:solidFill>
                <a:srgbClr val="000000"/>
              </a:solidFill>
              <a:latin typeface="Times New Roman"/>
              <a:ea typeface="Times New Roman"/>
              <a:cs typeface="Times New Roman"/>
              <a:sym typeface="Times New Roman"/>
            </a:endParaRPr>
          </a:p>
          <a:p>
            <a:pPr indent="0" lvl="0" marL="0" rtl="0" algn="l">
              <a:lnSpc>
                <a:spcPct val="100000"/>
              </a:lnSpc>
              <a:spcBef>
                <a:spcPts val="450"/>
              </a:spcBef>
              <a:spcAft>
                <a:spcPts val="450"/>
              </a:spcAft>
              <a:buSzPts val="1400"/>
              <a:buNone/>
            </a:pPr>
            <a:r>
              <a:rPr b="0" lang="en-US" sz="1800">
                <a:solidFill>
                  <a:srgbClr val="000000"/>
                </a:solidFill>
                <a:latin typeface="Times New Roman"/>
                <a:ea typeface="Times New Roman"/>
                <a:cs typeface="Times New Roman"/>
                <a:sym typeface="Times New Roman"/>
              </a:rPr>
              <a:t>}</a:t>
            </a:r>
            <a:endParaRPr b="0" sz="2400">
              <a:solidFill>
                <a:srgbClr val="000000"/>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5"/>
          <p:cNvSpPr txBox="1"/>
          <p:nvPr>
            <p:ph idx="4294967295" type="title"/>
          </p:nvPr>
        </p:nvSpPr>
        <p:spPr>
          <a:xfrm>
            <a:off x="1098550" y="97790"/>
            <a:ext cx="10972800" cy="818515"/>
          </a:xfrm>
          <a:prstGeom prst="rect">
            <a:avLst/>
          </a:prstGeom>
          <a:solidFill>
            <a:srgbClr val="000000">
              <a:alpha val="0"/>
            </a:srgbClr>
          </a:solidFill>
          <a:ln>
            <a:noFill/>
          </a:ln>
        </p:spPr>
        <p:txBody>
          <a:bodyPr anchorCtr="0" anchor="ctr" bIns="38100" lIns="85725" spcFirstLastPara="1" rIns="85725" wrap="square" tIns="381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Các tính năng cốt lõi của Dart</a:t>
            </a:r>
            <a:endParaRPr b="1" sz="3200">
              <a:solidFill>
                <a:schemeClr val="accent6"/>
              </a:solidFill>
              <a:latin typeface="Times New Roman"/>
              <a:ea typeface="Times New Roman"/>
              <a:cs typeface="Times New Roman"/>
              <a:sym typeface="Times New Roman"/>
            </a:endParaRPr>
          </a:p>
        </p:txBody>
      </p:sp>
      <p:sp>
        <p:nvSpPr>
          <p:cNvPr id="126" name="Google Shape;126;p15"/>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38100" lIns="85725" spcFirstLastPara="1" rIns="85725" wrap="square" tIns="381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Lập trình hướng đối tượng (Object-Oriented).</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Hàm là đối tượng bậc nhất (First-class functions).</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An toàn con trỏ rỗng (Null Safety).</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Bất đồng bộ (Async/Await).</a:t>
            </a:r>
            <a:endParaRPr b="0" sz="2400">
              <a:solidFill>
                <a:srgbClr val="000000"/>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6"/>
          <p:cNvSpPr txBox="1"/>
          <p:nvPr>
            <p:ph idx="4294967295" type="title"/>
          </p:nvPr>
        </p:nvSpPr>
        <p:spPr>
          <a:xfrm>
            <a:off x="1219200" y="61595"/>
            <a:ext cx="10972800" cy="818515"/>
          </a:xfrm>
          <a:prstGeom prst="rect">
            <a:avLst/>
          </a:prstGeom>
          <a:solidFill>
            <a:srgbClr val="000000">
              <a:alpha val="0"/>
            </a:srgbClr>
          </a:solidFill>
          <a:ln>
            <a:noFill/>
          </a:ln>
        </p:spPr>
        <p:txBody>
          <a:bodyPr anchorCtr="0" anchor="ctr" bIns="38100" lIns="85725" spcFirstLastPara="1" rIns="85725" wrap="square" tIns="38100">
            <a:noAutofit/>
          </a:bodyPr>
          <a:lstStyle/>
          <a:p>
            <a:pPr indent="0" lvl="0" marL="0" rtl="0" algn="ctr">
              <a:lnSpc>
                <a:spcPct val="100000"/>
              </a:lnSpc>
              <a:spcBef>
                <a:spcPts val="0"/>
              </a:spcBef>
              <a:spcAft>
                <a:spcPts val="0"/>
              </a:spcAft>
              <a:buSzPts val="2800"/>
              <a:buNone/>
            </a:pPr>
            <a:r>
              <a:rPr b="1" i="0" lang="en-US" sz="2800">
                <a:solidFill>
                  <a:schemeClr val="accent6"/>
                </a:solidFill>
                <a:latin typeface="Times New Roman"/>
                <a:ea typeface="Times New Roman"/>
                <a:cs typeface="Times New Roman"/>
                <a:sym typeface="Times New Roman"/>
              </a:rPr>
              <a:t>Tổng quan môi trường phát triển Flutter</a:t>
            </a:r>
            <a:endParaRPr b="1" i="0" sz="2800">
              <a:solidFill>
                <a:schemeClr val="accent6"/>
              </a:solidFill>
              <a:latin typeface="Times New Roman"/>
              <a:ea typeface="Times New Roman"/>
              <a:cs typeface="Times New Roman"/>
              <a:sym typeface="Times New Roman"/>
            </a:endParaRPr>
          </a:p>
        </p:txBody>
      </p:sp>
      <p:sp>
        <p:nvSpPr>
          <p:cNvPr id="132" name="Google Shape;132;p16"/>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38100" lIns="85725" spcFirstLastPara="1" rIns="85725" wrap="square" tIns="38100">
            <a:noAutofit/>
          </a:bodyPr>
          <a:lstStyle/>
          <a:p>
            <a:pPr indent="-355600" lvl="0" marL="457200" rtl="0" algn="l">
              <a:lnSpc>
                <a:spcPct val="100000"/>
              </a:lnSpc>
              <a:spcBef>
                <a:spcPts val="450"/>
              </a:spcBef>
              <a:spcAft>
                <a:spcPts val="0"/>
              </a:spcAft>
              <a:buClr>
                <a:srgbClr val="000000"/>
              </a:buClr>
              <a:buSzPts val="2000"/>
              <a:buFont typeface="Times New Roman"/>
              <a:buChar char="●"/>
            </a:pPr>
            <a:r>
              <a:rPr b="0" i="0" lang="en-US" sz="2000">
                <a:solidFill>
                  <a:srgbClr val="000000"/>
                </a:solidFill>
                <a:latin typeface="Times New Roman"/>
                <a:ea typeface="Times New Roman"/>
                <a:cs typeface="Times New Roman"/>
                <a:sym typeface="Times New Roman"/>
              </a:rPr>
              <a:t>Flutter có thể được phát triển trên 3 môi trường chính, tùy thuộc vào mục tiêu học tập và cấu hình phần cứng:</a:t>
            </a:r>
            <a:endParaRPr b="0" i="0" sz="2000">
              <a:solidFill>
                <a:srgbClr val="000000"/>
              </a:solidFill>
              <a:latin typeface="Times New Roman"/>
              <a:ea typeface="Times New Roman"/>
              <a:cs typeface="Times New Roman"/>
              <a:sym typeface="Times New Roman"/>
            </a:endParaRPr>
          </a:p>
          <a:p>
            <a:pPr indent="0" lvl="0" marL="0" rtl="0" algn="l">
              <a:lnSpc>
                <a:spcPct val="100000"/>
              </a:lnSpc>
              <a:spcBef>
                <a:spcPts val="450"/>
              </a:spcBef>
              <a:spcAft>
                <a:spcPts val="0"/>
              </a:spcAft>
              <a:buSzPts val="1400"/>
              <a:buNone/>
            </a:pPr>
            <a:r>
              <a:t/>
            </a:r>
            <a:endParaRPr b="0" i="0" sz="2000">
              <a:solidFill>
                <a:srgbClr val="000000"/>
              </a:solidFill>
              <a:latin typeface="Times New Roman"/>
              <a:ea typeface="Times New Roman"/>
              <a:cs typeface="Times New Roman"/>
              <a:sym typeface="Times New Roman"/>
            </a:endParaRPr>
          </a:p>
          <a:p>
            <a:pPr indent="0" lvl="0" marL="0" rtl="0" algn="l">
              <a:lnSpc>
                <a:spcPct val="100000"/>
              </a:lnSpc>
              <a:spcBef>
                <a:spcPts val="450"/>
              </a:spcBef>
              <a:spcAft>
                <a:spcPts val="0"/>
              </a:spcAft>
              <a:buSzPts val="1400"/>
              <a:buNone/>
            </a:pPr>
            <a:r>
              <a:rPr b="0" i="0" lang="en-US" sz="2000">
                <a:solidFill>
                  <a:srgbClr val="000000"/>
                </a:solidFill>
                <a:latin typeface="Times New Roman"/>
                <a:ea typeface="Times New Roman"/>
                <a:cs typeface="Times New Roman"/>
                <a:sym typeface="Times New Roman"/>
              </a:rPr>
              <a:t> </a:t>
            </a:r>
            <a:endParaRPr b="0" i="0" sz="2000">
              <a:solidFill>
                <a:srgbClr val="000000"/>
              </a:solidFill>
              <a:latin typeface="Times New Roman"/>
              <a:ea typeface="Times New Roman"/>
              <a:cs typeface="Times New Roman"/>
              <a:sym typeface="Times New Roman"/>
            </a:endParaRPr>
          </a:p>
          <a:p>
            <a:pPr indent="0" lvl="0" marL="0" rtl="0" algn="l">
              <a:lnSpc>
                <a:spcPct val="100000"/>
              </a:lnSpc>
              <a:spcBef>
                <a:spcPts val="450"/>
              </a:spcBef>
              <a:spcAft>
                <a:spcPts val="0"/>
              </a:spcAft>
              <a:buSzPts val="1400"/>
              <a:buNone/>
            </a:pPr>
            <a:r>
              <a:rPr b="0" i="0" lang="en-US" sz="2000">
                <a:solidFill>
                  <a:srgbClr val="000000"/>
                </a:solidFill>
                <a:latin typeface="Times New Roman"/>
                <a:ea typeface="Times New Roman"/>
                <a:cs typeface="Times New Roman"/>
                <a:sym typeface="Times New Roman"/>
              </a:rPr>
              <a:t> </a:t>
            </a:r>
            <a:endParaRPr b="0" i="0" sz="2000">
              <a:solidFill>
                <a:srgbClr val="000000"/>
              </a:solidFill>
              <a:latin typeface="Times New Roman"/>
              <a:ea typeface="Times New Roman"/>
              <a:cs typeface="Times New Roman"/>
              <a:sym typeface="Times New Roman"/>
            </a:endParaRPr>
          </a:p>
          <a:p>
            <a:pPr indent="0" lvl="0" marL="0" rtl="0" algn="l">
              <a:lnSpc>
                <a:spcPct val="100000"/>
              </a:lnSpc>
              <a:spcBef>
                <a:spcPts val="450"/>
              </a:spcBef>
              <a:spcAft>
                <a:spcPts val="0"/>
              </a:spcAft>
              <a:buSzPts val="1400"/>
              <a:buNone/>
            </a:pPr>
            <a:r>
              <a:rPr b="0" i="0" lang="en-US" sz="2000">
                <a:solidFill>
                  <a:srgbClr val="000000"/>
                </a:solidFill>
                <a:latin typeface="Times New Roman"/>
                <a:ea typeface="Times New Roman"/>
                <a:cs typeface="Times New Roman"/>
                <a:sym typeface="Times New Roman"/>
              </a:rPr>
              <a:t> </a:t>
            </a:r>
            <a:endParaRPr b="0" i="0" sz="2000">
              <a:solidFill>
                <a:srgbClr val="000000"/>
              </a:solidFill>
              <a:latin typeface="Times New Roman"/>
              <a:ea typeface="Times New Roman"/>
              <a:cs typeface="Times New Roman"/>
              <a:sym typeface="Times New Roman"/>
            </a:endParaRPr>
          </a:p>
          <a:p>
            <a:pPr indent="0" lvl="0" marL="0" rtl="0" algn="l">
              <a:lnSpc>
                <a:spcPct val="100000"/>
              </a:lnSpc>
              <a:spcBef>
                <a:spcPts val="450"/>
              </a:spcBef>
              <a:spcAft>
                <a:spcPts val="0"/>
              </a:spcAft>
              <a:buSzPts val="1400"/>
              <a:buNone/>
            </a:pPr>
            <a:r>
              <a:t/>
            </a:r>
            <a:endParaRPr b="0" sz="2000">
              <a:solidFill>
                <a:srgbClr val="000000"/>
              </a:solidFill>
            </a:endParaRPr>
          </a:p>
          <a:p>
            <a:pPr indent="0" lvl="0" marL="0" rtl="0" algn="l">
              <a:lnSpc>
                <a:spcPct val="100000"/>
              </a:lnSpc>
              <a:spcBef>
                <a:spcPts val="450"/>
              </a:spcBef>
              <a:spcAft>
                <a:spcPts val="0"/>
              </a:spcAft>
              <a:buSzPts val="1400"/>
              <a:buNone/>
            </a:pPr>
            <a:r>
              <a:t/>
            </a:r>
            <a:endParaRPr b="0" sz="2000">
              <a:solidFill>
                <a:srgbClr val="000000"/>
              </a:solidFill>
            </a:endParaRPr>
          </a:p>
          <a:p>
            <a:pPr indent="0" lvl="0" marL="0" rtl="0" algn="l">
              <a:lnSpc>
                <a:spcPct val="100000"/>
              </a:lnSpc>
              <a:spcBef>
                <a:spcPts val="450"/>
              </a:spcBef>
              <a:spcAft>
                <a:spcPts val="0"/>
              </a:spcAft>
              <a:buSzPts val="1400"/>
              <a:buNone/>
            </a:pPr>
            <a:r>
              <a:t/>
            </a:r>
            <a:endParaRPr b="0" sz="2000">
              <a:solidFill>
                <a:srgbClr val="000000"/>
              </a:solidFill>
            </a:endParaRPr>
          </a:p>
          <a:p>
            <a:pPr indent="-355600" lvl="0" marL="457200" rtl="0" algn="l">
              <a:lnSpc>
                <a:spcPct val="100000"/>
              </a:lnSpc>
              <a:spcBef>
                <a:spcPts val="900"/>
              </a:spcBef>
              <a:spcAft>
                <a:spcPts val="0"/>
              </a:spcAft>
              <a:buClr>
                <a:srgbClr val="000000"/>
              </a:buClr>
              <a:buSzPts val="2000"/>
              <a:buFont typeface="Times New Roman"/>
              <a:buChar char="●"/>
            </a:pPr>
            <a:r>
              <a:rPr b="0" i="0" lang="en-US" sz="2000">
                <a:solidFill>
                  <a:srgbClr val="000000"/>
                </a:solidFill>
                <a:latin typeface="Times New Roman"/>
                <a:ea typeface="Times New Roman"/>
                <a:cs typeface="Times New Roman"/>
                <a:sym typeface="Times New Roman"/>
              </a:rPr>
              <a:t>Bắt đầu học viên với DartPad → Sau đó chuyển sang VS Code / Android Studio.</a:t>
            </a:r>
            <a:endParaRPr b="0" i="0" sz="2000">
              <a:solidFill>
                <a:srgbClr val="000000"/>
              </a:solidFill>
              <a:latin typeface="Times New Roman"/>
              <a:ea typeface="Times New Roman"/>
              <a:cs typeface="Times New Roman"/>
              <a:sym typeface="Times New Roman"/>
            </a:endParaRPr>
          </a:p>
          <a:p>
            <a:pPr indent="-355600" lvl="0" marL="457200" rtl="0" algn="l">
              <a:lnSpc>
                <a:spcPct val="100000"/>
              </a:lnSpc>
              <a:spcBef>
                <a:spcPts val="900"/>
              </a:spcBef>
              <a:spcAft>
                <a:spcPts val="450"/>
              </a:spcAft>
              <a:buClr>
                <a:srgbClr val="000000"/>
              </a:buClr>
              <a:buSzPts val="2000"/>
              <a:buFont typeface="Times New Roman"/>
              <a:buChar char="●"/>
            </a:pPr>
            <a:r>
              <a:rPr b="0" i="0" lang="en-US" sz="2000">
                <a:solidFill>
                  <a:srgbClr val="000000"/>
                </a:solidFill>
                <a:latin typeface="Times New Roman"/>
                <a:ea typeface="Times New Roman"/>
                <a:cs typeface="Times New Roman"/>
                <a:sym typeface="Times New Roman"/>
              </a:rPr>
              <a:t>Tất cả các công cụ đều biên dịch ra cùng một mã thực thi Flutter.</a:t>
            </a:r>
            <a:endParaRPr b="0" i="0" sz="2000">
              <a:solidFill>
                <a:srgbClr val="000000"/>
              </a:solidFill>
              <a:latin typeface="Times New Roman"/>
              <a:ea typeface="Times New Roman"/>
              <a:cs typeface="Times New Roman"/>
              <a:sym typeface="Times New Roman"/>
            </a:endParaRPr>
          </a:p>
        </p:txBody>
      </p:sp>
      <p:pic>
        <p:nvPicPr>
          <p:cNvPr id="133" name="Google Shape;133;p16"/>
          <p:cNvPicPr preferRelativeResize="0"/>
          <p:nvPr/>
        </p:nvPicPr>
        <p:blipFill rotWithShape="1">
          <a:blip r:embed="rId3">
            <a:alphaModFix/>
          </a:blip>
          <a:srcRect b="-24969" l="-13459" r="-11510" t="0"/>
          <a:stretch/>
        </p:blipFill>
        <p:spPr>
          <a:xfrm>
            <a:off x="2212622" y="2650066"/>
            <a:ext cx="7997977" cy="2192867"/>
          </a:xfrm>
          <a:prstGeom prst="rect">
            <a:avLst/>
          </a:prstGeom>
          <a:noFill/>
          <a:ln cap="flat" cmpd="sng" w="9525">
            <a:solidFill>
              <a:srgbClr val="000000"/>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7"/>
          <p:cNvSpPr txBox="1"/>
          <p:nvPr>
            <p:ph idx="4294967295" type="title"/>
          </p:nvPr>
        </p:nvSpPr>
        <p:spPr>
          <a:xfrm>
            <a:off x="1219200" y="73660"/>
            <a:ext cx="10972800" cy="818515"/>
          </a:xfrm>
          <a:prstGeom prst="rect">
            <a:avLst/>
          </a:prstGeom>
          <a:solidFill>
            <a:srgbClr val="000000">
              <a:alpha val="0"/>
            </a:srgbClr>
          </a:solidFill>
          <a:ln>
            <a:noFill/>
          </a:ln>
        </p:spPr>
        <p:txBody>
          <a:bodyPr anchorCtr="0" anchor="ctr" bIns="38100" lIns="85725" spcFirstLastPara="1" rIns="85725" wrap="square" tIns="381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Sử dụng DartPad (Môi trường trực tuyến)</a:t>
            </a:r>
            <a:endParaRPr b="1" sz="3200">
              <a:solidFill>
                <a:schemeClr val="accent6"/>
              </a:solidFill>
              <a:latin typeface="Times New Roman"/>
              <a:ea typeface="Times New Roman"/>
              <a:cs typeface="Times New Roman"/>
              <a:sym typeface="Times New Roman"/>
            </a:endParaRPr>
          </a:p>
        </p:txBody>
      </p:sp>
      <p:sp>
        <p:nvSpPr>
          <p:cNvPr id="139" name="Google Shape;139;p17"/>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38100" lIns="85725" spcFirstLastPara="1" rIns="85725" wrap="square" tIns="381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1" lang="en-US" sz="2400">
                <a:solidFill>
                  <a:srgbClr val="000000"/>
                </a:solidFill>
                <a:latin typeface="Times New Roman"/>
                <a:ea typeface="Times New Roman"/>
                <a:cs typeface="Times New Roman"/>
                <a:sym typeface="Times New Roman"/>
              </a:rPr>
              <a:t>Đường dẫn: </a:t>
            </a:r>
            <a:r>
              <a:rPr b="1" lang="en-US" sz="24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https://dartpad.dev</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1" lang="en-US" sz="2400">
                <a:solidFill>
                  <a:srgbClr val="000000"/>
                </a:solidFill>
                <a:latin typeface="Times New Roman"/>
                <a:ea typeface="Times New Roman"/>
                <a:cs typeface="Times New Roman"/>
                <a:sym typeface="Times New Roman"/>
              </a:rPr>
              <a:t>Các đặc điểm chính</a:t>
            </a:r>
            <a:endParaRPr b="1" sz="2400">
              <a:solidFill>
                <a:srgbClr val="000000"/>
              </a:solidFill>
              <a:latin typeface="Times New Roman"/>
              <a:ea typeface="Times New Roman"/>
              <a:cs typeface="Times New Roman"/>
              <a:sym typeface="Times New Roman"/>
            </a:endParaRPr>
          </a:p>
          <a:p>
            <a:pPr indent="-381000" lvl="1" marL="9144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Không cần cài đặt phần mềm</a:t>
            </a:r>
            <a:endParaRPr b="1" sz="2400">
              <a:solidFill>
                <a:srgbClr val="000000"/>
              </a:solidFill>
              <a:latin typeface="Times New Roman"/>
              <a:ea typeface="Times New Roman"/>
              <a:cs typeface="Times New Roman"/>
              <a:sym typeface="Times New Roman"/>
            </a:endParaRPr>
          </a:p>
          <a:p>
            <a:pPr indent="-381000" lvl="1" marL="9144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Chạy thử mã Flutter tức thì trên trình duyệt</a:t>
            </a:r>
            <a:endParaRPr b="1" sz="2400">
              <a:solidFill>
                <a:srgbClr val="000000"/>
              </a:solidFill>
              <a:latin typeface="Times New Roman"/>
              <a:ea typeface="Times New Roman"/>
              <a:cs typeface="Times New Roman"/>
              <a:sym typeface="Times New Roman"/>
            </a:endParaRPr>
          </a:p>
          <a:p>
            <a:pPr indent="-381000" lvl="1" marL="9144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Hỗ trợ đầy đủ các Widget cơ bản (Scaffold, Text, Column,...)</a:t>
            </a:r>
            <a:endParaRPr b="1" sz="2400">
              <a:solidFill>
                <a:srgbClr val="000000"/>
              </a:solidFill>
              <a:latin typeface="Times New Roman"/>
              <a:ea typeface="Times New Roman"/>
              <a:cs typeface="Times New Roman"/>
              <a:sym typeface="Times New Roman"/>
            </a:endParaRPr>
          </a:p>
          <a:p>
            <a:pPr indent="-381000" lvl="1" marL="9144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Lý tưởng cho việc giảng dạy, minh họa trực tiếp và làm bài tập ngắn</a:t>
            </a:r>
            <a:endParaRPr b="1" sz="240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8"/>
          <p:cNvSpPr txBox="1"/>
          <p:nvPr>
            <p:ph idx="1" type="body"/>
          </p:nvPr>
        </p:nvSpPr>
        <p:spPr>
          <a:xfrm>
            <a:off x="681997" y="1348371"/>
            <a:ext cx="11090638" cy="4435944"/>
          </a:xfrm>
          <a:prstGeom prst="rect">
            <a:avLst/>
          </a:prstGeom>
          <a:noFill/>
          <a:ln>
            <a:noFill/>
          </a:ln>
        </p:spPr>
        <p:txBody>
          <a:bodyPr anchorCtr="0" anchor="t" bIns="0" lIns="0" spcFirstLastPara="1" rIns="0" wrap="square" tIns="0">
            <a:spAutoFit/>
          </a:bodyPr>
          <a:lstStyle/>
          <a:p>
            <a:pPr indent="-138430" lvl="0" marL="277495" marR="0" rtl="0" algn="l">
              <a:lnSpc>
                <a:spcPct val="100000"/>
              </a:lnSpc>
              <a:spcBef>
                <a:spcPts val="0"/>
              </a:spcBef>
              <a:spcAft>
                <a:spcPts val="0"/>
              </a:spcAft>
              <a:buClr>
                <a:srgbClr val="000000"/>
              </a:buClr>
              <a:buSzPts val="1400"/>
              <a:buFont typeface="Arial"/>
              <a:buNone/>
            </a:pPr>
            <a:r>
              <a:t/>
            </a:r>
            <a:endParaRPr/>
          </a:p>
        </p:txBody>
      </p:sp>
      <p:grpSp>
        <p:nvGrpSpPr>
          <p:cNvPr id="146" name="Google Shape;146;p18"/>
          <p:cNvGrpSpPr/>
          <p:nvPr/>
        </p:nvGrpSpPr>
        <p:grpSpPr>
          <a:xfrm>
            <a:off x="1541780" y="197485"/>
            <a:ext cx="11566525" cy="897255"/>
            <a:chOff x="0" y="-325755"/>
            <a:chExt cx="11566525" cy="897255"/>
          </a:xfrm>
        </p:grpSpPr>
        <p:sp>
          <p:nvSpPr>
            <p:cNvPr id="147" name="Google Shape;147;p18"/>
            <p:cNvSpPr/>
            <p:nvPr/>
          </p:nvSpPr>
          <p:spPr>
            <a:xfrm>
              <a:off x="0" y="0"/>
              <a:ext cx="1066800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accent6"/>
                </a:solidFill>
                <a:latin typeface="Arial"/>
                <a:ea typeface="Arial"/>
                <a:cs typeface="Arial"/>
                <a:sym typeface="Arial"/>
              </a:endParaRPr>
            </a:p>
          </p:txBody>
        </p:sp>
        <p:sp>
          <p:nvSpPr>
            <p:cNvPr id="148" name="Google Shape;148;p18"/>
            <p:cNvSpPr txBox="1"/>
            <p:nvPr/>
          </p:nvSpPr>
          <p:spPr>
            <a:xfrm>
              <a:off x="898525" y="-325755"/>
              <a:ext cx="10668000" cy="5715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chemeClr val="accent6"/>
                  </a:solidFill>
                  <a:latin typeface="Inter"/>
                  <a:ea typeface="Inter"/>
                  <a:cs typeface="Inter"/>
                  <a:sym typeface="Inter"/>
                </a:rPr>
                <a:t>Cài đặt Flutter SDK</a:t>
              </a:r>
              <a:endParaRPr b="1" i="0" sz="3200" u="none" cap="none" strike="noStrike">
                <a:solidFill>
                  <a:schemeClr val="accent6"/>
                </a:solidFill>
                <a:latin typeface="Inter"/>
                <a:ea typeface="Inter"/>
                <a:cs typeface="Inter"/>
                <a:sym typeface="Inter"/>
              </a:endParaRPr>
            </a:p>
          </p:txBody>
        </p:sp>
      </p:grpSp>
      <p:grpSp>
        <p:nvGrpSpPr>
          <p:cNvPr id="149" name="Google Shape;149;p18"/>
          <p:cNvGrpSpPr/>
          <p:nvPr/>
        </p:nvGrpSpPr>
        <p:grpSpPr>
          <a:xfrm>
            <a:off x="762000" y="1428750"/>
            <a:ext cx="4953000" cy="2476500"/>
            <a:chOff x="0" y="0"/>
            <a:chExt cx="4953000" cy="2476500"/>
          </a:xfrm>
        </p:grpSpPr>
        <p:sp>
          <p:nvSpPr>
            <p:cNvPr id="150" name="Google Shape;150;p18"/>
            <p:cNvSpPr/>
            <p:nvPr/>
          </p:nvSpPr>
          <p:spPr>
            <a:xfrm>
              <a:off x="0" y="0"/>
              <a:ext cx="4953000" cy="24765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18"/>
            <p:cNvSpPr txBox="1"/>
            <p:nvPr/>
          </p:nvSpPr>
          <p:spPr>
            <a:xfrm>
              <a:off x="0" y="0"/>
              <a:ext cx="4953000" cy="24765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F172A"/>
                  </a:solidFill>
                  <a:latin typeface="Inter"/>
                  <a:ea typeface="Inter"/>
                  <a:cs typeface="Inter"/>
                  <a:sym typeface="Inter"/>
                </a:rPr>
                <a:t>Các bước thực hiện:</a:t>
              </a:r>
              <a:endParaRPr b="1" i="0" sz="1800" u="none" cap="none" strike="noStrike">
                <a:solidFill>
                  <a:srgbClr val="0F172A"/>
                </a:solidFill>
                <a:latin typeface="Inter"/>
                <a:ea typeface="Inter"/>
                <a:cs typeface="Inter"/>
                <a:sym typeface="Inter"/>
              </a:endParaRPr>
            </a:p>
            <a:p>
              <a:pPr indent="-323850" lvl="0" marL="457200" marR="0" rtl="0" algn="l">
                <a:lnSpc>
                  <a:spcPct val="100000"/>
                </a:lnSpc>
                <a:spcBef>
                  <a:spcPts val="1125"/>
                </a:spcBef>
                <a:spcAft>
                  <a:spcPts val="0"/>
                </a:spcAft>
                <a:buClr>
                  <a:srgbClr val="334155"/>
                </a:buClr>
                <a:buSzPts val="1500"/>
                <a:buFont typeface="Inter"/>
                <a:buChar char="●"/>
              </a:pPr>
              <a:r>
                <a:rPr b="0" i="0" lang="en-US" sz="1500" u="none" cap="none" strike="noStrike">
                  <a:solidFill>
                    <a:srgbClr val="334155"/>
                  </a:solidFill>
                  <a:latin typeface="Inter"/>
                  <a:ea typeface="Inter"/>
                  <a:cs typeface="Inter"/>
                  <a:sym typeface="Inter"/>
                </a:rPr>
                <a:t>Tải về từ trang chủ </a:t>
              </a:r>
              <a:r>
                <a:rPr b="0" i="0" lang="en-US" sz="1500" u="none" cap="none" strike="noStrike">
                  <a:solidFill>
                    <a:srgbClr val="2563EB"/>
                  </a:solidFill>
                  <a:latin typeface="Inter SemiBold"/>
                  <a:ea typeface="Inter SemiBold"/>
                  <a:cs typeface="Inter SemiBold"/>
                  <a:sym typeface="Inter SemiBold"/>
                </a:rPr>
                <a:t>flutter.dev</a:t>
              </a:r>
              <a:endParaRPr b="0" i="0" sz="1500" u="none" cap="none" strike="noStrike">
                <a:solidFill>
                  <a:srgbClr val="334155"/>
                </a:solidFill>
                <a:latin typeface="Inter"/>
                <a:ea typeface="Inter"/>
                <a:cs typeface="Inter"/>
                <a:sym typeface="Inter"/>
              </a:endParaRPr>
            </a:p>
            <a:p>
              <a:pPr indent="-323850" lvl="0" marL="457200" marR="0" rtl="0" algn="l">
                <a:lnSpc>
                  <a:spcPct val="100000"/>
                </a:lnSpc>
                <a:spcBef>
                  <a:spcPts val="900"/>
                </a:spcBef>
                <a:spcAft>
                  <a:spcPts val="0"/>
                </a:spcAft>
                <a:buClr>
                  <a:srgbClr val="334155"/>
                </a:buClr>
                <a:buSzPts val="1500"/>
                <a:buFont typeface="Inter"/>
                <a:buChar char="●"/>
              </a:pPr>
              <a:r>
                <a:rPr b="0" i="0" lang="en-US" sz="1500" u="none" cap="none" strike="noStrike">
                  <a:solidFill>
                    <a:srgbClr val="334155"/>
                  </a:solidFill>
                  <a:latin typeface="Inter"/>
                  <a:ea typeface="Inter"/>
                  <a:cs typeface="Inter"/>
                  <a:sym typeface="Inter"/>
                </a:rPr>
                <a:t>Giải nén thư mục (ví dụ: </a:t>
              </a:r>
              <a:r>
                <a:rPr b="0" i="0" lang="en-US" sz="1300" u="none" cap="none" strike="noStrike">
                  <a:solidFill>
                    <a:srgbClr val="334155"/>
                  </a:solidFill>
                  <a:highlight>
                    <a:srgbClr val="F1F5F9"/>
                  </a:highlight>
                  <a:latin typeface="Arial"/>
                  <a:ea typeface="Arial"/>
                  <a:cs typeface="Arial"/>
                  <a:sym typeface="Arial"/>
                </a:rPr>
                <a:t>C:\src\flutter</a:t>
              </a:r>
              <a:r>
                <a:rPr b="0" i="0" lang="en-US" sz="1500" u="none" cap="none" strike="noStrike">
                  <a:solidFill>
                    <a:srgbClr val="334155"/>
                  </a:solidFill>
                  <a:latin typeface="Inter"/>
                  <a:ea typeface="Inter"/>
                  <a:cs typeface="Inter"/>
                  <a:sym typeface="Inter"/>
                </a:rPr>
                <a:t> hoặc </a:t>
              </a:r>
              <a:r>
                <a:rPr b="0" i="0" lang="en-US" sz="1300" u="none" cap="none" strike="noStrike">
                  <a:solidFill>
                    <a:srgbClr val="334155"/>
                  </a:solidFill>
                  <a:highlight>
                    <a:srgbClr val="F1F5F9"/>
                  </a:highlight>
                  <a:latin typeface="Arial"/>
                  <a:ea typeface="Arial"/>
                  <a:cs typeface="Arial"/>
                  <a:sym typeface="Arial"/>
                </a:rPr>
                <a:t>/Users/you/flutter</a:t>
              </a:r>
              <a:r>
                <a:rPr b="0" i="0" lang="en-US" sz="1500" u="none" cap="none" strike="noStrike">
                  <a:solidFill>
                    <a:srgbClr val="334155"/>
                  </a:solidFill>
                  <a:latin typeface="Inter"/>
                  <a:ea typeface="Inter"/>
                  <a:cs typeface="Inter"/>
                  <a:sym typeface="Inter"/>
                </a:rPr>
                <a:t>)</a:t>
              </a:r>
              <a:endParaRPr b="0" i="0" sz="1500" u="none" cap="none" strike="noStrike">
                <a:solidFill>
                  <a:srgbClr val="334155"/>
                </a:solidFill>
                <a:latin typeface="Inter"/>
                <a:ea typeface="Inter"/>
                <a:cs typeface="Inter"/>
                <a:sym typeface="Inter"/>
              </a:endParaRPr>
            </a:p>
            <a:p>
              <a:pPr indent="-323850" lvl="0" marL="457200" marR="0" rtl="0" algn="l">
                <a:lnSpc>
                  <a:spcPct val="100000"/>
                </a:lnSpc>
                <a:spcBef>
                  <a:spcPts val="900"/>
                </a:spcBef>
                <a:spcAft>
                  <a:spcPts val="0"/>
                </a:spcAft>
                <a:buClr>
                  <a:srgbClr val="334155"/>
                </a:buClr>
                <a:buSzPts val="1500"/>
                <a:buFont typeface="Inter"/>
                <a:buChar char="●"/>
              </a:pPr>
              <a:r>
                <a:rPr b="0" i="0" lang="en-US" sz="1500" u="none" cap="none" strike="noStrike">
                  <a:solidFill>
                    <a:srgbClr val="334155"/>
                  </a:solidFill>
                  <a:latin typeface="Inter"/>
                  <a:ea typeface="Inter"/>
                  <a:cs typeface="Inter"/>
                  <a:sym typeface="Inter"/>
                </a:rPr>
                <a:t>Thêm đường dẫn Flutter vào biến môi trường hệ thống (PATH)</a:t>
              </a:r>
              <a:endParaRPr b="0" i="0" sz="1500" u="none" cap="none" strike="noStrike">
                <a:solidFill>
                  <a:srgbClr val="334155"/>
                </a:solidFill>
                <a:latin typeface="Inter"/>
                <a:ea typeface="Inter"/>
                <a:cs typeface="Inter"/>
                <a:sym typeface="Inter"/>
              </a:endParaRPr>
            </a:p>
            <a:p>
              <a:pPr indent="-323850" lvl="0" marL="457200" marR="0" rtl="0" algn="l">
                <a:lnSpc>
                  <a:spcPct val="100000"/>
                </a:lnSpc>
                <a:spcBef>
                  <a:spcPts val="900"/>
                </a:spcBef>
                <a:spcAft>
                  <a:spcPts val="0"/>
                </a:spcAft>
                <a:buClr>
                  <a:srgbClr val="334155"/>
                </a:buClr>
                <a:buSzPts val="1500"/>
                <a:buFont typeface="Inter"/>
                <a:buChar char="●"/>
              </a:pPr>
              <a:r>
                <a:rPr b="0" i="0" lang="en-US" sz="1500" u="none" cap="none" strike="noStrike">
                  <a:solidFill>
                    <a:srgbClr val="334155"/>
                  </a:solidFill>
                  <a:latin typeface="Inter"/>
                  <a:ea typeface="Inter"/>
                  <a:cs typeface="Inter"/>
                  <a:sym typeface="Inter"/>
                </a:rPr>
                <a:t>Kiểm tra cài đặt:</a:t>
              </a:r>
              <a:endParaRPr b="0" i="0" sz="1500" u="none" cap="none" strike="noStrike">
                <a:solidFill>
                  <a:srgbClr val="334155"/>
                </a:solidFill>
                <a:latin typeface="Inter"/>
                <a:ea typeface="Inter"/>
                <a:cs typeface="Inter"/>
                <a:sym typeface="Inter"/>
              </a:endParaRPr>
            </a:p>
          </p:txBody>
        </p:sp>
      </p:grpSp>
      <p:grpSp>
        <p:nvGrpSpPr>
          <p:cNvPr id="152" name="Google Shape;152;p18"/>
          <p:cNvGrpSpPr/>
          <p:nvPr/>
        </p:nvGrpSpPr>
        <p:grpSpPr>
          <a:xfrm>
            <a:off x="762000" y="4048125"/>
            <a:ext cx="4953000" cy="1762200"/>
            <a:chOff x="0" y="0"/>
            <a:chExt cx="4953000" cy="1762200"/>
          </a:xfrm>
        </p:grpSpPr>
        <p:sp>
          <p:nvSpPr>
            <p:cNvPr id="153" name="Google Shape;153;p18"/>
            <p:cNvSpPr/>
            <p:nvPr/>
          </p:nvSpPr>
          <p:spPr>
            <a:xfrm>
              <a:off x="0" y="0"/>
              <a:ext cx="4953000" cy="1762200"/>
            </a:xfrm>
            <a:prstGeom prst="roundRect">
              <a:avLst>
                <a:gd fmla="val 6486"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8"/>
            <p:cNvSpPr txBox="1"/>
            <p:nvPr/>
          </p:nvSpPr>
          <p:spPr>
            <a:xfrm>
              <a:off x="0" y="0"/>
              <a:ext cx="4953000" cy="1762200"/>
            </a:xfrm>
            <a:prstGeom prst="rect">
              <a:avLst/>
            </a:prstGeom>
            <a:noFill/>
            <a:ln>
              <a:noFill/>
            </a:ln>
          </p:spPr>
          <p:txBody>
            <a:bodyPr anchorCtr="0" anchor="ctr" bIns="190500" lIns="190500" spcFirstLastPara="1" rIns="190500" wrap="square" tIns="190500">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F59E0B"/>
                  </a:solidFill>
                  <a:latin typeface="Mate"/>
                  <a:ea typeface="Mate"/>
                  <a:cs typeface="Mate"/>
                  <a:sym typeface="Mate"/>
                </a:rPr>
                <a:t>info</a:t>
              </a:r>
              <a:r>
                <a:rPr b="1" i="0" lang="en-US" sz="1400" u="none" cap="none" strike="noStrike">
                  <a:solidFill>
                    <a:srgbClr val="0F172A"/>
                  </a:solidFill>
                  <a:latin typeface="Inter"/>
                  <a:ea typeface="Inter"/>
                  <a:cs typeface="Inter"/>
                  <a:sym typeface="Inter"/>
                </a:rPr>
                <a:t>Chú ý:</a:t>
              </a:r>
              <a:endParaRPr b="1" i="0" sz="1400" u="none" cap="none" strike="noStrike">
                <a:solidFill>
                  <a:srgbClr val="0F172A"/>
                </a:solidFill>
                <a:latin typeface="Inter"/>
                <a:ea typeface="Inter"/>
                <a:cs typeface="Inter"/>
                <a:sym typeface="Inter"/>
              </a:endParaRPr>
            </a:p>
            <a:p>
              <a:pPr indent="-304800" lvl="0" marL="457200" marR="0" rtl="0" algn="l">
                <a:lnSpc>
                  <a:spcPct val="100000"/>
                </a:lnSpc>
                <a:spcBef>
                  <a:spcPts val="750"/>
                </a:spcBef>
                <a:spcAft>
                  <a:spcPts val="0"/>
                </a:spcAft>
                <a:buClr>
                  <a:srgbClr val="475569"/>
                </a:buClr>
                <a:buSzPts val="1200"/>
                <a:buFont typeface="Inter"/>
                <a:buChar char="●"/>
              </a:pPr>
              <a:r>
                <a:rPr b="0" i="0" lang="en-US" sz="1200" u="none" cap="none" strike="noStrike">
                  <a:solidFill>
                    <a:srgbClr val="475569"/>
                  </a:solidFill>
                  <a:latin typeface="Inter"/>
                  <a:ea typeface="Inter"/>
                  <a:cs typeface="Inter"/>
                  <a:sym typeface="Inter"/>
                </a:rPr>
                <a:t>Người dùng macOS cần cài thêm Xcode để build iOS.</a:t>
              </a:r>
              <a:endParaRPr b="0" i="0" sz="1200" u="none" cap="none" strike="noStrike">
                <a:solidFill>
                  <a:srgbClr val="475569"/>
                </a:solidFill>
                <a:latin typeface="Inter"/>
                <a:ea typeface="Inter"/>
                <a:cs typeface="Inter"/>
                <a:sym typeface="Inter"/>
              </a:endParaRPr>
            </a:p>
            <a:p>
              <a:pPr indent="-304800" lvl="0" marL="457200" marR="0" rtl="0" algn="l">
                <a:lnSpc>
                  <a:spcPct val="100000"/>
                </a:lnSpc>
                <a:spcBef>
                  <a:spcPts val="600"/>
                </a:spcBef>
                <a:spcAft>
                  <a:spcPts val="0"/>
                </a:spcAft>
                <a:buClr>
                  <a:srgbClr val="475569"/>
                </a:buClr>
                <a:buSzPts val="1200"/>
                <a:buFont typeface="Inter"/>
                <a:buChar char="●"/>
              </a:pPr>
              <a:r>
                <a:rPr b="0" i="0" lang="en-US" sz="1200" u="none" cap="none" strike="noStrike">
                  <a:solidFill>
                    <a:srgbClr val="475569"/>
                  </a:solidFill>
                  <a:latin typeface="Inter"/>
                  <a:ea typeface="Inter"/>
                  <a:cs typeface="Inter"/>
                  <a:sym typeface="Inter"/>
                </a:rPr>
                <a:t>Người dùng Windows cần bật tính năng ảo hóa (Virtualization) để hỗ trợ máy ảo.</a:t>
              </a:r>
              <a:endParaRPr b="0" i="0" sz="1200" u="none" cap="none" strike="noStrike">
                <a:solidFill>
                  <a:srgbClr val="475569"/>
                </a:solidFill>
                <a:latin typeface="Inter"/>
                <a:ea typeface="Inter"/>
                <a:cs typeface="Inter"/>
                <a:sym typeface="Inter"/>
              </a:endParaRPr>
            </a:p>
          </p:txBody>
        </p:sp>
      </p:grpSp>
      <p:grpSp>
        <p:nvGrpSpPr>
          <p:cNvPr id="155" name="Google Shape;155;p18"/>
          <p:cNvGrpSpPr/>
          <p:nvPr/>
        </p:nvGrpSpPr>
        <p:grpSpPr>
          <a:xfrm>
            <a:off x="6096000" y="1571625"/>
            <a:ext cx="5334000" cy="2000100"/>
            <a:chOff x="0" y="0"/>
            <a:chExt cx="5334000" cy="2000100"/>
          </a:xfrm>
        </p:grpSpPr>
        <p:sp>
          <p:nvSpPr>
            <p:cNvPr id="156" name="Google Shape;156;p18"/>
            <p:cNvSpPr/>
            <p:nvPr/>
          </p:nvSpPr>
          <p:spPr>
            <a:xfrm>
              <a:off x="0" y="0"/>
              <a:ext cx="5334000" cy="2000100"/>
            </a:xfrm>
            <a:prstGeom prst="roundRect">
              <a:avLst>
                <a:gd fmla="val 5714" name="adj"/>
              </a:avLst>
            </a:prstGeom>
            <a:solidFill>
              <a:srgbClr val="F8FAFC"/>
            </a:solidFill>
            <a:ln cap="flat" cmpd="sng" w="1430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57" name="Google Shape;157;p18"/>
            <p:cNvCxnSpPr/>
            <p:nvPr/>
          </p:nvCxnSpPr>
          <p:spPr>
            <a:xfrm>
              <a:off x="0" y="342900"/>
              <a:ext cx="5334000" cy="0"/>
            </a:xfrm>
            <a:prstGeom prst="straightConnector1">
              <a:avLst/>
            </a:prstGeom>
            <a:solidFill>
              <a:srgbClr val="FFFFFF"/>
            </a:solidFill>
            <a:ln cap="flat" cmpd="sng" w="9525">
              <a:solidFill>
                <a:srgbClr val="E2E8F0"/>
              </a:solidFill>
              <a:prstDash val="solid"/>
              <a:round/>
              <a:headEnd len="sm" w="sm" type="none"/>
              <a:tailEnd len="sm" w="sm" type="none"/>
            </a:ln>
          </p:spPr>
        </p:cxnSp>
        <p:sp>
          <p:nvSpPr>
            <p:cNvPr id="158" name="Google Shape;158;p18"/>
            <p:cNvSpPr/>
            <p:nvPr/>
          </p:nvSpPr>
          <p:spPr>
            <a:xfrm>
              <a:off x="190500" y="123825"/>
              <a:ext cx="95400" cy="95400"/>
            </a:xfrm>
            <a:prstGeom prst="ellipse">
              <a:avLst/>
            </a:prstGeom>
            <a:solidFill>
              <a:srgbClr val="FF5F5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18"/>
            <p:cNvSpPr/>
            <p:nvPr/>
          </p:nvSpPr>
          <p:spPr>
            <a:xfrm>
              <a:off x="342900" y="123825"/>
              <a:ext cx="95400" cy="95400"/>
            </a:xfrm>
            <a:prstGeom prst="ellipse">
              <a:avLst/>
            </a:prstGeom>
            <a:solidFill>
              <a:srgbClr val="FFBD2E"/>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18"/>
            <p:cNvSpPr/>
            <p:nvPr/>
          </p:nvSpPr>
          <p:spPr>
            <a:xfrm>
              <a:off x="495300" y="123825"/>
              <a:ext cx="95400" cy="95400"/>
            </a:xfrm>
            <a:prstGeom prst="ellipse">
              <a:avLst/>
            </a:prstGeom>
            <a:solidFill>
              <a:srgbClr val="27C93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1" name="Google Shape;161;p18"/>
            <p:cNvPicPr preferRelativeResize="0"/>
            <p:nvPr/>
          </p:nvPicPr>
          <p:blipFill rotWithShape="1">
            <a:blip r:embed="rId3">
              <a:alphaModFix/>
            </a:blip>
            <a:srcRect b="199" l="0" r="0" t="209"/>
            <a:stretch/>
          </p:blipFill>
          <p:spPr>
            <a:xfrm>
              <a:off x="95250" y="438150"/>
              <a:ext cx="5143500" cy="1428900"/>
            </a:xfrm>
            <a:prstGeom prst="rect">
              <a:avLst/>
            </a:prstGeom>
            <a:noFill/>
            <a:ln>
              <a:noFill/>
            </a:ln>
          </p:spPr>
        </p:pic>
      </p:grpSp>
      <p:grpSp>
        <p:nvGrpSpPr>
          <p:cNvPr id="162" name="Google Shape;162;p18"/>
          <p:cNvGrpSpPr/>
          <p:nvPr/>
        </p:nvGrpSpPr>
        <p:grpSpPr>
          <a:xfrm>
            <a:off x="6096000" y="3667125"/>
            <a:ext cx="5334000" cy="381000"/>
            <a:chOff x="0" y="0"/>
            <a:chExt cx="5334000" cy="381000"/>
          </a:xfrm>
        </p:grpSpPr>
        <p:sp>
          <p:nvSpPr>
            <p:cNvPr id="163" name="Google Shape;163;p18"/>
            <p:cNvSpPr/>
            <p:nvPr/>
          </p:nvSpPr>
          <p:spPr>
            <a:xfrm>
              <a:off x="0" y="0"/>
              <a:ext cx="5334000" cy="381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18"/>
            <p:cNvSpPr txBox="1"/>
            <p:nvPr/>
          </p:nvSpPr>
          <p:spPr>
            <a:xfrm>
              <a:off x="0" y="0"/>
              <a:ext cx="5334000" cy="381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300"/>
                <a:buFont typeface="Arial"/>
                <a:buNone/>
              </a:pPr>
              <a:r>
                <a:rPr b="0" i="1" lang="en-US" sz="1300" u="none" cap="none" strike="noStrike">
                  <a:solidFill>
                    <a:srgbClr val="64748B"/>
                  </a:solidFill>
                  <a:latin typeface="Inter"/>
                  <a:ea typeface="Inter"/>
                  <a:cs typeface="Inter"/>
                  <a:sym typeface="Inter"/>
                </a:rPr>
                <a:t>Figure 1.2: flutter doctor</a:t>
              </a:r>
              <a:endParaRPr b="0" i="1" sz="1300" u="none" cap="none" strike="noStrike">
                <a:solidFill>
                  <a:srgbClr val="64748B"/>
                </a:solidFill>
                <a:latin typeface="Inter"/>
                <a:ea typeface="Inter"/>
                <a:cs typeface="Inter"/>
                <a:sym typeface="Inte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txBox="1"/>
          <p:nvPr>
            <p:ph idx="4294967295" type="title"/>
          </p:nvPr>
        </p:nvSpPr>
        <p:spPr>
          <a:xfrm>
            <a:off x="2616835" y="139065"/>
            <a:ext cx="7926070"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200"/>
              <a:buNone/>
            </a:pPr>
            <a:r>
              <a:rPr b="1" lang="en-US" sz="3200">
                <a:solidFill>
                  <a:schemeClr val="accent6"/>
                </a:solidFill>
                <a:latin typeface="Inter"/>
                <a:ea typeface="Inter"/>
                <a:cs typeface="Inter"/>
                <a:sym typeface="Inter"/>
              </a:rPr>
              <a:t>Cài đặt Android Studio</a:t>
            </a:r>
            <a:endParaRPr b="1" sz="3200">
              <a:solidFill>
                <a:schemeClr val="accent6"/>
              </a:solidFill>
              <a:latin typeface="Inter"/>
              <a:ea typeface="Inter"/>
              <a:cs typeface="Inter"/>
              <a:sym typeface="Inter"/>
            </a:endParaRPr>
          </a:p>
        </p:txBody>
      </p:sp>
      <p:sp>
        <p:nvSpPr>
          <p:cNvPr id="170" name="Google Shape;170;p19"/>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95250" lIns="95250" spcFirstLastPara="1" rIns="95250" wrap="square" tIns="95250">
            <a:noAutofit/>
          </a:bodyPr>
          <a:lstStyle/>
          <a:p>
            <a:pPr indent="0" lvl="0" marL="0" rtl="0" algn="l">
              <a:lnSpc>
                <a:spcPct val="100000"/>
              </a:lnSpc>
              <a:spcBef>
                <a:spcPts val="450"/>
              </a:spcBef>
              <a:spcAft>
                <a:spcPts val="0"/>
              </a:spcAft>
              <a:buSzPts val="1400"/>
              <a:buNone/>
            </a:pPr>
            <a:r>
              <a:rPr b="1" lang="en-US" sz="1800">
                <a:solidFill>
                  <a:srgbClr val="2563EB"/>
                </a:solidFill>
                <a:latin typeface="Inter"/>
                <a:ea typeface="Inter"/>
                <a:cs typeface="Inter"/>
                <a:sym typeface="Inter"/>
              </a:rPr>
              <a:t>Mục đích:</a:t>
            </a:r>
            <a:r>
              <a:rPr b="0" lang="en-US" sz="1800">
                <a:solidFill>
                  <a:srgbClr val="1E293B"/>
                </a:solidFill>
                <a:latin typeface="Inter"/>
                <a:ea typeface="Inter"/>
                <a:cs typeface="Inter"/>
                <a:sym typeface="Inter"/>
              </a:rPr>
              <a:t> Android Studio cung cấp IDE, bộ công cụ SDK và máy ảo (Emulator) để lập trình và chạy ứng dụng Flutter.</a:t>
            </a:r>
            <a:endParaRPr b="0" sz="1800">
              <a:solidFill>
                <a:srgbClr val="1E293B"/>
              </a:solidFill>
              <a:latin typeface="Inter"/>
              <a:ea typeface="Inter"/>
              <a:cs typeface="Inter"/>
              <a:sym typeface="Inter"/>
            </a:endParaRPr>
          </a:p>
          <a:p>
            <a:pPr indent="0" lvl="0" marL="0" rtl="0" algn="l">
              <a:lnSpc>
                <a:spcPct val="100000"/>
              </a:lnSpc>
              <a:spcBef>
                <a:spcPts val="1200"/>
              </a:spcBef>
              <a:spcAft>
                <a:spcPts val="0"/>
              </a:spcAft>
              <a:buSzPts val="1400"/>
              <a:buNone/>
            </a:pPr>
            <a:r>
              <a:rPr b="1" lang="en-US" sz="1800">
                <a:solidFill>
                  <a:srgbClr val="1E293B"/>
                </a:solidFill>
                <a:latin typeface="Inter"/>
                <a:ea typeface="Inter"/>
                <a:cs typeface="Inter"/>
                <a:sym typeface="Inter"/>
              </a:rPr>
              <a:t>Các bước:</a:t>
            </a:r>
            <a:endParaRPr b="1" sz="1800">
              <a:solidFill>
                <a:srgbClr val="1E293B"/>
              </a:solidFill>
              <a:latin typeface="Inter"/>
              <a:ea typeface="Inter"/>
              <a:cs typeface="Inter"/>
              <a:sym typeface="Inter"/>
            </a:endParaRPr>
          </a:p>
          <a:p>
            <a:pPr indent="-330200" lvl="0" marL="457200" rtl="0" algn="l">
              <a:lnSpc>
                <a:spcPct val="100000"/>
              </a:lnSpc>
              <a:spcBef>
                <a:spcPts val="900"/>
              </a:spcBef>
              <a:spcAft>
                <a:spcPts val="0"/>
              </a:spcAft>
              <a:buClr>
                <a:srgbClr val="334155"/>
              </a:buClr>
              <a:buSzPts val="1600"/>
              <a:buFont typeface="Inter"/>
              <a:buChar char="●"/>
            </a:pPr>
            <a:r>
              <a:rPr b="0" lang="en-US" sz="1600">
                <a:solidFill>
                  <a:srgbClr val="1E293B"/>
                </a:solidFill>
                <a:latin typeface="Inter SemiBold"/>
                <a:ea typeface="Inter SemiBold"/>
                <a:cs typeface="Inter SemiBold"/>
                <a:sym typeface="Inter SemiBold"/>
              </a:rPr>
              <a:t>Tải và cài đặt Android Studio</a:t>
            </a:r>
            <a:endParaRPr b="0" sz="1600">
              <a:solidFill>
                <a:srgbClr val="334155"/>
              </a:solidFill>
              <a:latin typeface="Inter"/>
              <a:ea typeface="Inter"/>
              <a:cs typeface="Inter"/>
              <a:sym typeface="Inter"/>
            </a:endParaRPr>
          </a:p>
          <a:p>
            <a:pPr indent="-330200" lvl="0" marL="457200" rtl="0" algn="l">
              <a:lnSpc>
                <a:spcPct val="100000"/>
              </a:lnSpc>
              <a:spcBef>
                <a:spcPts val="900"/>
              </a:spcBef>
              <a:spcAft>
                <a:spcPts val="0"/>
              </a:spcAft>
              <a:buClr>
                <a:srgbClr val="334155"/>
              </a:buClr>
              <a:buSzPts val="1600"/>
              <a:buFont typeface="Inter"/>
              <a:buChar char="●"/>
            </a:pPr>
            <a:r>
              <a:rPr b="0" lang="en-US" sz="1600">
                <a:solidFill>
                  <a:srgbClr val="1E293B"/>
                </a:solidFill>
                <a:latin typeface="Inter SemiBold"/>
                <a:ea typeface="Inter SemiBold"/>
                <a:cs typeface="Inter SemiBold"/>
                <a:sym typeface="Inter SemiBold"/>
              </a:rPr>
              <a:t>Cài đặt Plugin Flutter</a:t>
            </a:r>
            <a:endParaRPr b="0" sz="1600">
              <a:solidFill>
                <a:srgbClr val="334155"/>
              </a:solidFill>
              <a:latin typeface="Inter"/>
              <a:ea typeface="Inter"/>
              <a:cs typeface="Inter"/>
              <a:sym typeface="Inter"/>
            </a:endParaRPr>
          </a:p>
          <a:p>
            <a:pPr indent="-330200" lvl="1" marL="914400" rtl="0" algn="l">
              <a:lnSpc>
                <a:spcPct val="100000"/>
              </a:lnSpc>
              <a:spcBef>
                <a:spcPts val="600"/>
              </a:spcBef>
              <a:spcAft>
                <a:spcPts val="0"/>
              </a:spcAft>
              <a:buClr>
                <a:srgbClr val="475569"/>
              </a:buClr>
              <a:buSzPts val="1600"/>
              <a:buFont typeface="Inter"/>
              <a:buChar char="○"/>
            </a:pPr>
            <a:r>
              <a:rPr b="0" lang="en-US" sz="1600">
                <a:solidFill>
                  <a:srgbClr val="475569"/>
                </a:solidFill>
                <a:latin typeface="Inter"/>
                <a:ea typeface="Inter"/>
                <a:cs typeface="Inter"/>
                <a:sym typeface="Inter"/>
              </a:rPr>
              <a:t>Vào </a:t>
            </a:r>
            <a:r>
              <a:rPr b="0" lang="en-US" sz="1600">
                <a:solidFill>
                  <a:srgbClr val="2563EB"/>
                </a:solidFill>
                <a:latin typeface="Inter SemiBold"/>
                <a:ea typeface="Inter SemiBold"/>
                <a:cs typeface="Inter SemiBold"/>
                <a:sym typeface="Inter SemiBold"/>
              </a:rPr>
              <a:t>Preferences → Plugins → Flutter</a:t>
            </a:r>
            <a:endParaRPr b="0" sz="1600">
              <a:solidFill>
                <a:srgbClr val="475569"/>
              </a:solidFill>
              <a:latin typeface="Inter"/>
              <a:ea typeface="Inter"/>
              <a:cs typeface="Inter"/>
              <a:sym typeface="Inter"/>
            </a:endParaRPr>
          </a:p>
          <a:p>
            <a:pPr indent="-330200" lvl="1" marL="914400" rtl="0" algn="l">
              <a:lnSpc>
                <a:spcPct val="100000"/>
              </a:lnSpc>
              <a:spcBef>
                <a:spcPts val="600"/>
              </a:spcBef>
              <a:spcAft>
                <a:spcPts val="450"/>
              </a:spcAft>
              <a:buClr>
                <a:srgbClr val="475569"/>
              </a:buClr>
              <a:buSzPts val="1600"/>
              <a:buFont typeface="Inter"/>
              <a:buChar char="○"/>
            </a:pPr>
            <a:r>
              <a:rPr b="0" lang="en-US" sz="1600">
                <a:solidFill>
                  <a:srgbClr val="475569"/>
                </a:solidFill>
                <a:latin typeface="Inter"/>
                <a:ea typeface="Inter"/>
                <a:cs typeface="Inter"/>
                <a:sym typeface="Inter"/>
              </a:rPr>
              <a:t>Plugin Dart sẽ tự động được cài đặt đi kèm</a:t>
            </a:r>
            <a:endParaRPr b="0" sz="1600">
              <a:solidFill>
                <a:srgbClr val="475569"/>
              </a:solidFill>
              <a:latin typeface="Inter"/>
              <a:ea typeface="Inter"/>
              <a:cs typeface="Inter"/>
              <a:sym typeface="Inter"/>
            </a:endParaRPr>
          </a:p>
        </p:txBody>
      </p:sp>
      <p:grpSp>
        <p:nvGrpSpPr>
          <p:cNvPr id="171" name="Google Shape;171;p19"/>
          <p:cNvGrpSpPr/>
          <p:nvPr/>
        </p:nvGrpSpPr>
        <p:grpSpPr>
          <a:xfrm>
            <a:off x="762000" y="4857750"/>
            <a:ext cx="10668000" cy="1238400"/>
            <a:chOff x="0" y="0"/>
            <a:chExt cx="10668000" cy="1238400"/>
          </a:xfrm>
        </p:grpSpPr>
        <p:sp>
          <p:nvSpPr>
            <p:cNvPr id="172" name="Google Shape;172;p19"/>
            <p:cNvSpPr/>
            <p:nvPr/>
          </p:nvSpPr>
          <p:spPr>
            <a:xfrm>
              <a:off x="0" y="0"/>
              <a:ext cx="10668000" cy="1238400"/>
            </a:xfrm>
            <a:prstGeom prst="roundRect">
              <a:avLst>
                <a:gd fmla="val 9230" name="adj"/>
              </a:avLst>
            </a:prstGeom>
            <a:solidFill>
              <a:srgbClr val="FFFBEB"/>
            </a:solidFill>
            <a:ln cap="flat" cmpd="sng" w="14300">
              <a:solidFill>
                <a:srgbClr val="FDE68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19"/>
            <p:cNvSpPr txBox="1"/>
            <p:nvPr/>
          </p:nvSpPr>
          <p:spPr>
            <a:xfrm>
              <a:off x="0" y="0"/>
              <a:ext cx="10668000" cy="1238400"/>
            </a:xfrm>
            <a:prstGeom prst="rect">
              <a:avLst/>
            </a:prstGeom>
            <a:solidFill>
              <a:srgbClr val="000000">
                <a:alpha val="0"/>
              </a:srgbClr>
            </a:solidFill>
            <a:ln>
              <a:noFill/>
            </a:ln>
          </p:spPr>
          <p:txBody>
            <a:bodyPr anchorCtr="0" anchor="ctr" bIns="190500" lIns="228600" spcFirstLastPara="1" rIns="228600" wrap="square" tIns="190500">
              <a:noAutofit/>
            </a:bodyPr>
            <a:lstStyle/>
            <a:p>
              <a:pPr indent="0" lvl="0" marL="0" marR="0" rtl="0" algn="l">
                <a:lnSpc>
                  <a:spcPct val="100000"/>
                </a:lnSpc>
                <a:spcBef>
                  <a:spcPts val="0"/>
                </a:spcBef>
                <a:spcAft>
                  <a:spcPts val="0"/>
                </a:spcAft>
                <a:buClr>
                  <a:srgbClr val="000000"/>
                </a:buClr>
                <a:buSzPts val="2000"/>
                <a:buFont typeface="Arial"/>
                <a:buNone/>
              </a:pPr>
              <a:r>
                <a:rPr b="1" i="0" lang="en-US" sz="2000" u="none" cap="none" strike="noStrike">
                  <a:solidFill>
                    <a:srgbClr val="D97706"/>
                  </a:solidFill>
                  <a:latin typeface="Mate"/>
                  <a:ea typeface="Mate"/>
                  <a:cs typeface="Mate"/>
                  <a:sym typeface="Mate"/>
                </a:rPr>
                <a:t>info</a:t>
              </a:r>
              <a:r>
                <a:rPr b="1" i="0" lang="en-US" sz="1600" u="none" cap="none" strike="noStrike">
                  <a:solidFill>
                    <a:srgbClr val="B45309"/>
                  </a:solidFill>
                  <a:latin typeface="Inter"/>
                  <a:ea typeface="Inter"/>
                  <a:cs typeface="Inter"/>
                  <a:sym typeface="Inter"/>
                </a:rPr>
                <a:t>Lưu ý:</a:t>
              </a:r>
              <a:r>
                <a:rPr b="0" i="0" lang="en-US" sz="1500" u="none" cap="none" strike="noStrike">
                  <a:solidFill>
                    <a:srgbClr val="451A03"/>
                  </a:solidFill>
                  <a:latin typeface="Inter"/>
                  <a:ea typeface="Inter"/>
                  <a:cs typeface="Inter"/>
                  <a:sym typeface="Inter"/>
                </a:rPr>
                <a:t> Đảm bảo Android SDK và command-line tools đã được cài đặt.</a:t>
              </a:r>
              <a:endParaRPr b="1" i="0" sz="2000" u="none" cap="none" strike="noStrike">
                <a:solidFill>
                  <a:srgbClr val="D97706"/>
                </a:solidFill>
                <a:latin typeface="Mate"/>
                <a:ea typeface="Mate"/>
                <a:cs typeface="Mate"/>
                <a:sym typeface="Mate"/>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body"/>
          </p:nvPr>
        </p:nvSpPr>
        <p:spPr>
          <a:xfrm>
            <a:off x="681997" y="1348371"/>
            <a:ext cx="11090638" cy="4435944"/>
          </a:xfrm>
          <a:prstGeom prst="rect">
            <a:avLst/>
          </a:prstGeom>
          <a:noFill/>
          <a:ln>
            <a:noFill/>
          </a:ln>
        </p:spPr>
        <p:txBody>
          <a:bodyPr anchorCtr="0" anchor="t" bIns="0" lIns="0" spcFirstLastPara="1" rIns="0" wrap="square" tIns="0">
            <a:spAutoFit/>
          </a:bodyPr>
          <a:lstStyle/>
          <a:p>
            <a:pPr indent="-138430" lvl="0" marL="277495" marR="0" rtl="0" algn="l">
              <a:lnSpc>
                <a:spcPct val="100000"/>
              </a:lnSpc>
              <a:spcBef>
                <a:spcPts val="0"/>
              </a:spcBef>
              <a:spcAft>
                <a:spcPts val="0"/>
              </a:spcAft>
              <a:buClr>
                <a:srgbClr val="000000"/>
              </a:buClr>
              <a:buSzPts val="1400"/>
              <a:buFont typeface="Arial"/>
              <a:buNone/>
            </a:pPr>
            <a:r>
              <a:t/>
            </a:r>
            <a:endParaRPr/>
          </a:p>
        </p:txBody>
      </p:sp>
      <p:sp>
        <p:nvSpPr>
          <p:cNvPr id="179" name="Google Shape;179;p20"/>
          <p:cNvSpPr txBox="1"/>
          <p:nvPr>
            <p:ph idx="4294967295" type="title"/>
          </p:nvPr>
        </p:nvSpPr>
        <p:spPr>
          <a:xfrm>
            <a:off x="3257550" y="208915"/>
            <a:ext cx="6181725" cy="5715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lnSpc>
                <a:spcPct val="100000"/>
              </a:lnSpc>
              <a:spcBef>
                <a:spcPts val="0"/>
              </a:spcBef>
              <a:spcAft>
                <a:spcPts val="0"/>
              </a:spcAft>
              <a:buSzPts val="3200"/>
              <a:buNone/>
            </a:pPr>
            <a:r>
              <a:rPr b="1" lang="en-US" sz="3200">
                <a:solidFill>
                  <a:schemeClr val="accent6"/>
                </a:solidFill>
                <a:latin typeface="Inter"/>
                <a:ea typeface="Inter"/>
                <a:cs typeface="Inter"/>
                <a:sym typeface="Inter"/>
              </a:rPr>
              <a:t>Giao diện Android Studio</a:t>
            </a:r>
            <a:endParaRPr b="1" sz="3200">
              <a:solidFill>
                <a:schemeClr val="accent6"/>
              </a:solidFill>
              <a:latin typeface="Inter"/>
              <a:ea typeface="Inter"/>
              <a:cs typeface="Inter"/>
              <a:sym typeface="Inter"/>
            </a:endParaRPr>
          </a:p>
        </p:txBody>
      </p:sp>
      <p:pic>
        <p:nvPicPr>
          <p:cNvPr id="180" name="Google Shape;180;p20"/>
          <p:cNvPicPr preferRelativeResize="0"/>
          <p:nvPr/>
        </p:nvPicPr>
        <p:blipFill rotWithShape="1">
          <a:blip r:embed="rId3">
            <a:alphaModFix/>
          </a:blip>
          <a:srcRect b="0" l="0" r="0" t="0"/>
          <a:stretch/>
        </p:blipFill>
        <p:spPr>
          <a:xfrm>
            <a:off x="1371599" y="1804988"/>
            <a:ext cx="9202615" cy="4147623"/>
          </a:xfrm>
          <a:prstGeom prst="rect">
            <a:avLst/>
          </a:prstGeom>
          <a:noFill/>
          <a:ln cap="flat" cmpd="sng" w="9525">
            <a:solidFill>
              <a:schemeClr val="dk1"/>
            </a:solidFill>
            <a:prstDash val="solid"/>
            <a:round/>
            <a:headEnd len="sm" w="sm" type="none"/>
            <a:tailEnd len="sm" w="sm" type="none"/>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1"/>
          <p:cNvSpPr txBox="1"/>
          <p:nvPr>
            <p:ph idx="4294967295" type="title"/>
          </p:nvPr>
        </p:nvSpPr>
        <p:spPr>
          <a:xfrm>
            <a:off x="3422650" y="160655"/>
            <a:ext cx="5974080" cy="666750"/>
          </a:xfrm>
          <a:prstGeom prst="rect">
            <a:avLst/>
          </a:prstGeom>
          <a:solidFill>
            <a:srgbClr val="000000">
              <a:alpha val="0"/>
            </a:srgbClr>
          </a:solid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3200"/>
              <a:buNone/>
            </a:pPr>
            <a:r>
              <a:rPr b="1" lang="en-US" sz="3200">
                <a:solidFill>
                  <a:schemeClr val="accent6"/>
                </a:solidFill>
                <a:latin typeface="Inter"/>
                <a:ea typeface="Inter"/>
                <a:cs typeface="Inter"/>
                <a:sym typeface="Inter"/>
              </a:rPr>
              <a:t>Tạo một dự án Flutter mới</a:t>
            </a:r>
            <a:endParaRPr b="1" sz="3200">
              <a:solidFill>
                <a:schemeClr val="accent6"/>
              </a:solidFill>
              <a:latin typeface="Inter"/>
              <a:ea typeface="Inter"/>
              <a:cs typeface="Inter"/>
              <a:sym typeface="Inter"/>
            </a:endParaRPr>
          </a:p>
        </p:txBody>
      </p:sp>
      <p:sp>
        <p:nvSpPr>
          <p:cNvPr id="186" name="Google Shape;186;p21"/>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0" lIns="0" spcFirstLastPara="1" rIns="0" wrap="square" tIns="0">
            <a:noAutofit/>
          </a:bodyPr>
          <a:lstStyle/>
          <a:p>
            <a:pPr indent="-342900" lvl="0" marL="457200" rtl="0" algn="l">
              <a:lnSpc>
                <a:spcPct val="100000"/>
              </a:lnSpc>
              <a:spcBef>
                <a:spcPts val="450"/>
              </a:spcBef>
              <a:spcAft>
                <a:spcPts val="0"/>
              </a:spcAft>
              <a:buClr>
                <a:srgbClr val="1E293B"/>
              </a:buClr>
              <a:buSzPts val="1800"/>
              <a:buFont typeface="Inter"/>
              <a:buChar char="●"/>
            </a:pPr>
            <a:r>
              <a:rPr b="0" lang="en-US" sz="1800">
                <a:solidFill>
                  <a:srgbClr val="2563EB"/>
                </a:solidFill>
                <a:latin typeface="Inter SemiBold"/>
                <a:ea typeface="Inter SemiBold"/>
                <a:cs typeface="Inter SemiBold"/>
                <a:sym typeface="Inter SemiBold"/>
              </a:rPr>
              <a:t>Chọn File → New → New Flutter Project</a:t>
            </a:r>
            <a:endParaRPr b="0" sz="1800">
              <a:solidFill>
                <a:srgbClr val="1E293B"/>
              </a:solidFill>
              <a:latin typeface="Inter"/>
              <a:ea typeface="Inter"/>
              <a:cs typeface="Inter"/>
              <a:sym typeface="Inter"/>
            </a:endParaRPr>
          </a:p>
          <a:p>
            <a:pPr indent="-342900" lvl="0" marL="457200" rtl="0" algn="l">
              <a:lnSpc>
                <a:spcPct val="100000"/>
              </a:lnSpc>
              <a:spcBef>
                <a:spcPts val="900"/>
              </a:spcBef>
              <a:spcAft>
                <a:spcPts val="0"/>
              </a:spcAft>
              <a:buClr>
                <a:srgbClr val="1E293B"/>
              </a:buClr>
              <a:buSzPts val="1800"/>
              <a:buFont typeface="Inter"/>
              <a:buChar char="●"/>
            </a:pPr>
            <a:r>
              <a:rPr b="0" lang="en-US" sz="1800">
                <a:solidFill>
                  <a:srgbClr val="1E293B"/>
                </a:solidFill>
                <a:latin typeface="Inter"/>
                <a:ea typeface="Inter"/>
                <a:cs typeface="Inter"/>
                <a:sym typeface="Inter"/>
              </a:rPr>
              <a:t>Chọn đường dẫn </a:t>
            </a:r>
            <a:r>
              <a:rPr b="0" lang="en-US" sz="1800">
                <a:solidFill>
                  <a:srgbClr val="1E293B"/>
                </a:solidFill>
                <a:latin typeface="Inter SemiBold"/>
                <a:ea typeface="Inter SemiBold"/>
                <a:cs typeface="Inter SemiBold"/>
                <a:sym typeface="Inter SemiBold"/>
              </a:rPr>
              <a:t>Flutter SDK</a:t>
            </a:r>
            <a:endParaRPr b="0" sz="1800">
              <a:solidFill>
                <a:srgbClr val="1E293B"/>
              </a:solidFill>
              <a:latin typeface="Inter"/>
              <a:ea typeface="Inter"/>
              <a:cs typeface="Inter"/>
              <a:sym typeface="Inter"/>
            </a:endParaRPr>
          </a:p>
          <a:p>
            <a:pPr indent="-342900" lvl="0" marL="457200" rtl="0" algn="l">
              <a:lnSpc>
                <a:spcPct val="100000"/>
              </a:lnSpc>
              <a:spcBef>
                <a:spcPts val="900"/>
              </a:spcBef>
              <a:spcAft>
                <a:spcPts val="0"/>
              </a:spcAft>
              <a:buClr>
                <a:srgbClr val="1E293B"/>
              </a:buClr>
              <a:buSzPts val="1800"/>
              <a:buFont typeface="Inter"/>
              <a:buChar char="●"/>
            </a:pPr>
            <a:r>
              <a:rPr b="0" lang="en-US" sz="1800">
                <a:solidFill>
                  <a:srgbClr val="1E293B"/>
                </a:solidFill>
                <a:latin typeface="Inter"/>
                <a:ea typeface="Inter"/>
                <a:cs typeface="Inter"/>
                <a:sym typeface="Inter"/>
              </a:rPr>
              <a:t>Nhập tên dự án: </a:t>
            </a:r>
            <a:r>
              <a:rPr b="1" lang="en-US" sz="1800">
                <a:solidFill>
                  <a:srgbClr val="0F172A"/>
                </a:solidFill>
                <a:highlight>
                  <a:srgbClr val="F1F5F9"/>
                </a:highlight>
                <a:latin typeface="Courier New"/>
                <a:ea typeface="Courier New"/>
                <a:cs typeface="Courier New"/>
                <a:sym typeface="Courier New"/>
              </a:rPr>
              <a:t>movies</a:t>
            </a:r>
            <a:endParaRPr b="0" sz="1800">
              <a:solidFill>
                <a:srgbClr val="1E293B"/>
              </a:solidFill>
              <a:latin typeface="Inter"/>
              <a:ea typeface="Inter"/>
              <a:cs typeface="Inter"/>
              <a:sym typeface="Inter"/>
            </a:endParaRPr>
          </a:p>
          <a:p>
            <a:pPr indent="-342900" lvl="0" marL="457200" rtl="0" algn="l">
              <a:lnSpc>
                <a:spcPct val="100000"/>
              </a:lnSpc>
              <a:spcBef>
                <a:spcPts val="900"/>
              </a:spcBef>
              <a:spcAft>
                <a:spcPts val="0"/>
              </a:spcAft>
              <a:buClr>
                <a:srgbClr val="1E293B"/>
              </a:buClr>
              <a:buSzPts val="1800"/>
              <a:buFont typeface="Inter"/>
              <a:buChar char="●"/>
            </a:pPr>
            <a:r>
              <a:rPr b="0" lang="en-US" sz="1800">
                <a:solidFill>
                  <a:srgbClr val="1E293B"/>
                </a:solidFill>
                <a:latin typeface="Inter"/>
                <a:ea typeface="Inter"/>
                <a:cs typeface="Inter"/>
                <a:sym typeface="Inter"/>
              </a:rPr>
              <a:t>Nhập Organization ID: </a:t>
            </a:r>
            <a:r>
              <a:rPr b="1" lang="en-US" sz="1800">
                <a:solidFill>
                  <a:srgbClr val="0F172A"/>
                </a:solidFill>
                <a:highlight>
                  <a:srgbClr val="F1F5F9"/>
                </a:highlight>
                <a:latin typeface="Courier New"/>
                <a:ea typeface="Courier New"/>
                <a:cs typeface="Courier New"/>
                <a:sym typeface="Courier New"/>
              </a:rPr>
              <a:t>com.fptu.movies</a:t>
            </a:r>
            <a:endParaRPr b="0" sz="1800">
              <a:solidFill>
                <a:srgbClr val="1E293B"/>
              </a:solidFill>
              <a:latin typeface="Inter"/>
              <a:ea typeface="Inter"/>
              <a:cs typeface="Inter"/>
              <a:sym typeface="Inter"/>
            </a:endParaRPr>
          </a:p>
          <a:p>
            <a:pPr indent="-342900" lvl="0" marL="457200" rtl="0" algn="l">
              <a:lnSpc>
                <a:spcPct val="100000"/>
              </a:lnSpc>
              <a:spcBef>
                <a:spcPts val="900"/>
              </a:spcBef>
              <a:spcAft>
                <a:spcPts val="450"/>
              </a:spcAft>
              <a:buClr>
                <a:srgbClr val="1E293B"/>
              </a:buClr>
              <a:buSzPts val="1800"/>
              <a:buFont typeface="Inter"/>
              <a:buChar char="●"/>
            </a:pPr>
            <a:r>
              <a:rPr b="0" lang="en-US" sz="1800">
                <a:solidFill>
                  <a:srgbClr val="1E293B"/>
                </a:solidFill>
                <a:latin typeface="Inter"/>
                <a:ea typeface="Inter"/>
                <a:cs typeface="Inter"/>
                <a:sym typeface="Inter"/>
              </a:rPr>
              <a:t>Chọn nền tảng: </a:t>
            </a:r>
            <a:r>
              <a:rPr b="0" lang="en-US" sz="1800">
                <a:solidFill>
                  <a:srgbClr val="1E293B"/>
                </a:solidFill>
                <a:latin typeface="Inter SemiBold"/>
                <a:ea typeface="Inter SemiBold"/>
                <a:cs typeface="Inter SemiBold"/>
                <a:sym typeface="Inter SemiBold"/>
              </a:rPr>
              <a:t>✅ Android   ✅ iOS   ✅ Web   ✅ macOS   ✅ Windows</a:t>
            </a:r>
            <a:endParaRPr b="0" sz="1800">
              <a:solidFill>
                <a:srgbClr val="1E293B"/>
              </a:solidFill>
              <a:latin typeface="Inter"/>
              <a:ea typeface="Inter"/>
              <a:cs typeface="Inter"/>
              <a:sym typeface="Inter"/>
            </a:endParaRPr>
          </a:p>
        </p:txBody>
      </p:sp>
      <p:pic>
        <p:nvPicPr>
          <p:cNvPr id="187" name="Google Shape;187;p21"/>
          <p:cNvPicPr preferRelativeResize="0"/>
          <p:nvPr/>
        </p:nvPicPr>
        <p:blipFill rotWithShape="1">
          <a:blip r:embed="rId3">
            <a:alphaModFix/>
          </a:blip>
          <a:srcRect b="3926" l="0" r="0" t="3926"/>
          <a:stretch/>
        </p:blipFill>
        <p:spPr>
          <a:xfrm>
            <a:off x="2445068" y="4095750"/>
            <a:ext cx="7301700" cy="20394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txBox="1"/>
          <p:nvPr>
            <p:ph idx="1" type="body"/>
          </p:nvPr>
        </p:nvSpPr>
        <p:spPr>
          <a:xfrm>
            <a:off x="681997" y="1348371"/>
            <a:ext cx="11090638" cy="4435944"/>
          </a:xfrm>
          <a:prstGeom prst="rect">
            <a:avLst/>
          </a:prstGeom>
          <a:noFill/>
          <a:ln>
            <a:noFill/>
          </a:ln>
        </p:spPr>
        <p:txBody>
          <a:bodyPr anchorCtr="0" anchor="t" bIns="0" lIns="0" spcFirstLastPara="1" rIns="0" wrap="square" tIns="0">
            <a:spAutoFit/>
          </a:bodyPr>
          <a:lstStyle/>
          <a:p>
            <a:pPr indent="-138430" lvl="0" marL="277495" marR="0" rtl="0" algn="l">
              <a:lnSpc>
                <a:spcPct val="100000"/>
              </a:lnSpc>
              <a:spcBef>
                <a:spcPts val="0"/>
              </a:spcBef>
              <a:spcAft>
                <a:spcPts val="0"/>
              </a:spcAft>
              <a:buClr>
                <a:srgbClr val="000000"/>
              </a:buClr>
              <a:buSzPts val="1400"/>
              <a:buFont typeface="Arial"/>
              <a:buNone/>
            </a:pPr>
            <a:r>
              <a:t/>
            </a:r>
            <a:endParaRPr/>
          </a:p>
        </p:txBody>
      </p:sp>
      <p:sp>
        <p:nvSpPr>
          <p:cNvPr id="193" name="Google Shape;193;p22"/>
          <p:cNvSpPr txBox="1"/>
          <p:nvPr>
            <p:ph idx="4294967295" type="title"/>
          </p:nvPr>
        </p:nvSpPr>
        <p:spPr>
          <a:xfrm>
            <a:off x="1165860" y="94615"/>
            <a:ext cx="10972800" cy="818515"/>
          </a:xfrm>
          <a:prstGeom prst="rect">
            <a:avLst/>
          </a:prstGeom>
          <a:solidFill>
            <a:srgbClr val="000000">
              <a:alpha val="0"/>
            </a:srgbClr>
          </a:solidFill>
          <a:ln>
            <a:noFill/>
          </a:ln>
        </p:spPr>
        <p:txBody>
          <a:bodyPr anchorCtr="0" anchor="ctr" bIns="47625" lIns="47625" spcFirstLastPara="1" rIns="47625" wrap="square" tIns="47625">
            <a:norm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Cấu trúc dự án Flutter</a:t>
            </a:r>
            <a:endParaRPr b="1" sz="3200">
              <a:solidFill>
                <a:schemeClr val="accent6"/>
              </a:solidFill>
              <a:latin typeface="Times New Roman"/>
              <a:ea typeface="Times New Roman"/>
              <a:cs typeface="Times New Roman"/>
              <a:sym typeface="Times New Roman"/>
            </a:endParaRPr>
          </a:p>
        </p:txBody>
      </p:sp>
      <p:graphicFrame>
        <p:nvGraphicFramePr>
          <p:cNvPr id="194" name="Google Shape;194;p22"/>
          <p:cNvGraphicFramePr/>
          <p:nvPr/>
        </p:nvGraphicFramePr>
        <p:xfrm>
          <a:off x="1781908" y="1615726"/>
          <a:ext cx="3000000" cy="3000000"/>
        </p:xfrm>
        <a:graphic>
          <a:graphicData uri="http://schemas.openxmlformats.org/drawingml/2006/table">
            <a:tbl>
              <a:tblPr>
                <a:noFill/>
                <a:tableStyleId>{F5D9E98C-522B-4CAF-ADCD-44C560AE9DAC}</a:tableStyleId>
              </a:tblPr>
              <a:tblGrid>
                <a:gridCol w="2434750"/>
                <a:gridCol w="5582100"/>
              </a:tblGrid>
              <a:tr h="518075">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FFFFFF"/>
                          </a:solidFill>
                          <a:highlight>
                            <a:srgbClr val="4F81BD"/>
                          </a:highlight>
                          <a:latin typeface="Tahoma"/>
                          <a:ea typeface="Tahoma"/>
                          <a:cs typeface="Tahoma"/>
                          <a:sym typeface="Tahoma"/>
                        </a:rPr>
                        <a:t>Thư mục / File</a:t>
                      </a:r>
                      <a:endParaRPr b="1" sz="1800" u="none" cap="none" strike="noStrike">
                        <a:solidFill>
                          <a:srgbClr val="FFFFFF"/>
                        </a:solidFill>
                        <a:highlight>
                          <a:srgbClr val="4F81BD"/>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FFFFFF"/>
                          </a:solidFill>
                          <a:highlight>
                            <a:srgbClr val="4F81BD"/>
                          </a:highlight>
                          <a:latin typeface="Tahoma"/>
                          <a:ea typeface="Tahoma"/>
                          <a:cs typeface="Tahoma"/>
                          <a:sym typeface="Tahoma"/>
                        </a:rPr>
                        <a:t>Mô tả</a:t>
                      </a:r>
                      <a:endParaRPr b="1" sz="1800" u="none" cap="none" strike="noStrike">
                        <a:solidFill>
                          <a:srgbClr val="FFFFFF"/>
                        </a:solidFill>
                        <a:highlight>
                          <a:srgbClr val="4F81BD"/>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r>
              <a:tr h="518075">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highlight>
                            <a:srgbClr val="CFD7E7"/>
                          </a:highlight>
                          <a:latin typeface="Tahoma"/>
                          <a:ea typeface="Tahoma"/>
                          <a:cs typeface="Tahoma"/>
                          <a:sym typeface="Tahoma"/>
                        </a:rPr>
                        <a:t>lib/</a:t>
                      </a:r>
                      <a:endParaRPr b="0" sz="1800" u="none" cap="none" strike="noStrike">
                        <a:solidFill>
                          <a:srgbClr val="000000"/>
                        </a:solidFill>
                        <a:highlight>
                          <a:srgbClr val="CFD7E7"/>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highlight>
                            <a:srgbClr val="CFD7E7"/>
                          </a:highlight>
                          <a:latin typeface="Tahoma"/>
                          <a:ea typeface="Tahoma"/>
                          <a:cs typeface="Tahoma"/>
                          <a:sym typeface="Tahoma"/>
                        </a:rPr>
                        <a:t>Chứa mã nguồn Dart chính</a:t>
                      </a:r>
                      <a:endParaRPr b="0" sz="1800" u="none" cap="none" strike="noStrike">
                        <a:solidFill>
                          <a:srgbClr val="000000"/>
                        </a:solidFill>
                        <a:highlight>
                          <a:srgbClr val="CFD7E7"/>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518075">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latin typeface="Tahoma"/>
                          <a:ea typeface="Tahoma"/>
                          <a:cs typeface="Tahoma"/>
                          <a:sym typeface="Tahoma"/>
                        </a:rPr>
                        <a:t>android/</a:t>
                      </a:r>
                      <a:endParaRPr b="0" sz="1800" u="none" cap="none" strike="noStrike">
                        <a:solidFill>
                          <a:srgbClr val="000000"/>
                        </a:solidFill>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latin typeface="Tahoma"/>
                          <a:ea typeface="Tahoma"/>
                          <a:cs typeface="Tahoma"/>
                          <a:sym typeface="Tahoma"/>
                        </a:rPr>
                        <a:t>Mã nguồn cấu hình riêng cho Android</a:t>
                      </a:r>
                      <a:endParaRPr b="0" sz="1800" u="none" cap="none" strike="noStrike">
                        <a:solidFill>
                          <a:srgbClr val="000000"/>
                        </a:solidFill>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r>
              <a:tr h="518075">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highlight>
                            <a:srgbClr val="CFD7E7"/>
                          </a:highlight>
                          <a:latin typeface="Tahoma"/>
                          <a:ea typeface="Tahoma"/>
                          <a:cs typeface="Tahoma"/>
                          <a:sym typeface="Tahoma"/>
                        </a:rPr>
                        <a:t>ios/</a:t>
                      </a:r>
                      <a:endParaRPr b="0" sz="1800" u="none" cap="none" strike="noStrike">
                        <a:solidFill>
                          <a:srgbClr val="000000"/>
                        </a:solidFill>
                        <a:highlight>
                          <a:srgbClr val="CFD7E7"/>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highlight>
                            <a:srgbClr val="CFD7E7"/>
                          </a:highlight>
                          <a:latin typeface="Tahoma"/>
                          <a:ea typeface="Tahoma"/>
                          <a:cs typeface="Tahoma"/>
                          <a:sym typeface="Tahoma"/>
                        </a:rPr>
                        <a:t>Mã nguồn cấu hình riêng cho iOS</a:t>
                      </a:r>
                      <a:endParaRPr b="0" sz="1800" u="none" cap="none" strike="noStrike">
                        <a:solidFill>
                          <a:srgbClr val="000000"/>
                        </a:solidFill>
                        <a:highlight>
                          <a:srgbClr val="CFD7E7"/>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518075">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latin typeface="Tahoma"/>
                          <a:ea typeface="Tahoma"/>
                          <a:cs typeface="Tahoma"/>
                          <a:sym typeface="Tahoma"/>
                        </a:rPr>
                        <a:t>web/</a:t>
                      </a:r>
                      <a:endParaRPr b="0" sz="1800" u="none" cap="none" strike="noStrike">
                        <a:solidFill>
                          <a:srgbClr val="000000"/>
                        </a:solidFill>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latin typeface="Tahoma"/>
                          <a:ea typeface="Tahoma"/>
                          <a:cs typeface="Tahoma"/>
                          <a:sym typeface="Tahoma"/>
                        </a:rPr>
                        <a:t>Các file ứng dụng Web</a:t>
                      </a:r>
                      <a:endParaRPr b="0" sz="1800" u="none" cap="none" strike="noStrike">
                        <a:solidFill>
                          <a:srgbClr val="000000"/>
                        </a:solidFill>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r>
              <a:tr h="518075">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highlight>
                            <a:srgbClr val="CFD7E7"/>
                          </a:highlight>
                          <a:latin typeface="Tahoma"/>
                          <a:ea typeface="Tahoma"/>
                          <a:cs typeface="Tahoma"/>
                          <a:sym typeface="Tahoma"/>
                        </a:rPr>
                        <a:t>pubspec.yaml</a:t>
                      </a:r>
                      <a:endParaRPr b="0" sz="1800" u="none" cap="none" strike="noStrike">
                        <a:solidFill>
                          <a:srgbClr val="000000"/>
                        </a:solidFill>
                        <a:highlight>
                          <a:srgbClr val="CFD7E7"/>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highlight>
                            <a:srgbClr val="CFD7E7"/>
                          </a:highlight>
                          <a:latin typeface="Tahoma"/>
                          <a:ea typeface="Tahoma"/>
                          <a:cs typeface="Tahoma"/>
                          <a:sym typeface="Tahoma"/>
                        </a:rPr>
                        <a:t>Khai báo thư viện phụ thuộc và tài nguyên</a:t>
                      </a:r>
                      <a:endParaRPr b="0" sz="1800" u="none" cap="none" strike="noStrike">
                        <a:solidFill>
                          <a:srgbClr val="000000"/>
                        </a:solidFill>
                        <a:highlight>
                          <a:srgbClr val="CFD7E7"/>
                        </a:highlight>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518075">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latin typeface="Tahoma"/>
                          <a:ea typeface="Tahoma"/>
                          <a:cs typeface="Tahoma"/>
                          <a:sym typeface="Tahoma"/>
                        </a:rPr>
                        <a:t>test/</a:t>
                      </a:r>
                      <a:endParaRPr b="0" sz="1800" u="none" cap="none" strike="noStrike">
                        <a:solidFill>
                          <a:srgbClr val="000000"/>
                        </a:solidFill>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lang="en-US" sz="1800" u="none" cap="none" strike="noStrike">
                          <a:solidFill>
                            <a:srgbClr val="000000"/>
                          </a:solidFill>
                          <a:latin typeface="Tahoma"/>
                          <a:ea typeface="Tahoma"/>
                          <a:cs typeface="Tahoma"/>
                          <a:sym typeface="Tahoma"/>
                        </a:rPr>
                        <a:t>File kiểm thử tự động (Unit test)</a:t>
                      </a:r>
                      <a:endParaRPr b="0" sz="1800" u="none" cap="none" strike="noStrike">
                        <a:solidFill>
                          <a:srgbClr val="000000"/>
                        </a:solidFill>
                        <a:latin typeface="Tahoma"/>
                        <a:ea typeface="Tahoma"/>
                        <a:cs typeface="Tahoma"/>
                        <a:sym typeface="Tahoma"/>
                      </a:endParaRPr>
                    </a:p>
                  </a:txBody>
                  <a:tcPr marT="47625" marB="47625" marR="95250" marL="952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r>
            </a:tbl>
          </a:graphicData>
        </a:graphic>
      </p:graphicFrame>
      <p:sp>
        <p:nvSpPr>
          <p:cNvPr id="195" name="Google Shape;195;p22"/>
          <p:cNvSpPr txBox="1"/>
          <p:nvPr/>
        </p:nvSpPr>
        <p:spPr>
          <a:xfrm>
            <a:off x="2286000" y="5641162"/>
            <a:ext cx="7620000" cy="369300"/>
          </a:xfrm>
          <a:prstGeom prst="rect">
            <a:avLst/>
          </a:prstGeom>
          <a:solidFill>
            <a:srgbClr val="000000">
              <a:alpha val="0"/>
            </a:srgbClr>
          </a:solidFill>
          <a:ln>
            <a:noFill/>
          </a:ln>
        </p:spPr>
        <p:txBody>
          <a:bodyPr anchorCtr="0" anchor="t" bIns="47625" lIns="47625" spcFirstLastPara="1" rIns="47625" wrap="square" tIns="47625">
            <a:spAutoFit/>
          </a:bodyPr>
          <a:lstStyle/>
          <a:p>
            <a:pPr indent="0" lvl="0" marL="0" marR="0" rtl="0" algn="ctr">
              <a:lnSpc>
                <a:spcPct val="100000"/>
              </a:lnSpc>
              <a:spcBef>
                <a:spcPts val="0"/>
              </a:spcBef>
              <a:spcAft>
                <a:spcPts val="0"/>
              </a:spcAft>
              <a:buClr>
                <a:srgbClr val="000000"/>
              </a:buClr>
              <a:buSzPts val="1665"/>
              <a:buFont typeface="Arial"/>
              <a:buNone/>
            </a:pPr>
            <a:r>
              <a:rPr b="1" i="0" lang="en-US" sz="1665" u="none" cap="none" strike="noStrike">
                <a:solidFill>
                  <a:srgbClr val="000000"/>
                </a:solidFill>
                <a:latin typeface="Courier New"/>
                <a:ea typeface="Courier New"/>
                <a:cs typeface="Courier New"/>
                <a:sym typeface="Courier New"/>
              </a:rPr>
              <a:t>lib/main.dart</a:t>
            </a:r>
            <a:r>
              <a:rPr b="1" i="0" lang="en-US" sz="1665" u="none" cap="none" strike="noStrike">
                <a:solidFill>
                  <a:srgbClr val="000000"/>
                </a:solidFill>
                <a:latin typeface="Tahoma"/>
                <a:ea typeface="Tahoma"/>
                <a:cs typeface="Tahoma"/>
                <a:sym typeface="Tahoma"/>
              </a:rPr>
              <a:t> là điểm khởi chạy chính của ứng dụng.</a:t>
            </a:r>
            <a:endParaRPr b="1" i="0" sz="1665" u="none" cap="none" strike="noStrike">
              <a:solidFill>
                <a:srgbClr val="000000"/>
              </a:solidFill>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3"/>
          <p:cNvSpPr txBox="1"/>
          <p:nvPr>
            <p:ph idx="4294967295" type="title"/>
          </p:nvPr>
        </p:nvSpPr>
        <p:spPr>
          <a:xfrm>
            <a:off x="1219200" y="134620"/>
            <a:ext cx="10972800" cy="818515"/>
          </a:xfrm>
          <a:prstGeom prst="rect">
            <a:avLst/>
          </a:prstGeom>
          <a:solidFill>
            <a:srgbClr val="000000">
              <a:alpha val="0"/>
            </a:srgbClr>
          </a:solid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Khởi chạy thiết bị ảo (Emulator)</a:t>
            </a:r>
            <a:endParaRPr b="1" sz="3200">
              <a:solidFill>
                <a:schemeClr val="accent6"/>
              </a:solidFill>
              <a:latin typeface="Times New Roman"/>
              <a:ea typeface="Times New Roman"/>
              <a:cs typeface="Times New Roman"/>
              <a:sym typeface="Times New Roman"/>
            </a:endParaRPr>
          </a:p>
        </p:txBody>
      </p:sp>
      <p:sp>
        <p:nvSpPr>
          <p:cNvPr id="202" name="Google Shape;202;p23"/>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25" spcFirstLastPara="1" rIns="91425" wrap="square" tIns="45700">
            <a:noAutofit/>
          </a:bodyPr>
          <a:lstStyle/>
          <a:p>
            <a:pPr indent="0" lvl="0" marL="0" rtl="0" algn="l">
              <a:lnSpc>
                <a:spcPct val="100000"/>
              </a:lnSpc>
              <a:spcBef>
                <a:spcPts val="450"/>
              </a:spcBef>
              <a:spcAft>
                <a:spcPts val="0"/>
              </a:spcAft>
              <a:buSzPts val="1400"/>
              <a:buNone/>
            </a:pPr>
            <a:r>
              <a:rPr b="1" lang="en-US" sz="2400">
                <a:solidFill>
                  <a:srgbClr val="000000"/>
                </a:solidFill>
                <a:latin typeface="Times New Roman"/>
                <a:ea typeface="Times New Roman"/>
                <a:cs typeface="Times New Roman"/>
                <a:sym typeface="Times New Roman"/>
              </a:rPr>
              <a:t>Các bước tạo máy ảo:</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Mở Device Manager → chọn Create Device</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Chọn một mẫu máy Pixel (ví dụ: Pixel 8)</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Chọn phiên bản API 33+ (Android 13)</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Cấu hình dung lượng bộ nhớ trong: 4GB</a:t>
            </a:r>
            <a:endParaRPr b="1"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Mẹo: Với máy tính cấu hình yếu, nên chọn dòng Pixel 3a / API 30.</a:t>
            </a:r>
            <a:endParaRPr b="1" sz="2400">
              <a:solidFill>
                <a:srgbClr val="000000"/>
              </a:solidFill>
              <a:latin typeface="Times New Roman"/>
              <a:ea typeface="Times New Roman"/>
              <a:cs typeface="Times New Roman"/>
              <a:sym typeface="Times New Roman"/>
            </a:endParaRPr>
          </a:p>
        </p:txBody>
      </p:sp>
      <p:pic>
        <p:nvPicPr>
          <p:cNvPr descr="A screen shot of a cell phone&#10;&#10;AI-generated content may be incorrect." id="203" name="Google Shape;203;p23"/>
          <p:cNvPicPr preferRelativeResize="0"/>
          <p:nvPr/>
        </p:nvPicPr>
        <p:blipFill rotWithShape="1">
          <a:blip r:embed="rId3">
            <a:alphaModFix/>
          </a:blip>
          <a:srcRect b="0" l="0" r="0" t="0"/>
          <a:stretch/>
        </p:blipFill>
        <p:spPr>
          <a:xfrm>
            <a:off x="8010847" y="1501424"/>
            <a:ext cx="2410967" cy="425835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idx="1" type="body"/>
          </p:nvPr>
        </p:nvSpPr>
        <p:spPr>
          <a:xfrm>
            <a:off x="681997" y="1348371"/>
            <a:ext cx="11090638" cy="4435944"/>
          </a:xfrm>
          <a:prstGeom prst="rect">
            <a:avLst/>
          </a:prstGeom>
          <a:noFill/>
          <a:ln>
            <a:noFill/>
          </a:ln>
        </p:spPr>
        <p:txBody>
          <a:bodyPr anchorCtr="0" anchor="t" bIns="0" lIns="0" spcFirstLastPara="1" rIns="0" wrap="square" tIns="0">
            <a:spAutoFit/>
          </a:bodyPr>
          <a:lstStyle/>
          <a:p>
            <a:pPr indent="-138430" lvl="0" marL="277495" marR="0" rtl="0" algn="l">
              <a:lnSpc>
                <a:spcPct val="100000"/>
              </a:lnSpc>
              <a:spcBef>
                <a:spcPts val="0"/>
              </a:spcBef>
              <a:spcAft>
                <a:spcPts val="0"/>
              </a:spcAft>
              <a:buClr>
                <a:srgbClr val="000000"/>
              </a:buClr>
              <a:buSzPts val="1400"/>
              <a:buFont typeface="Arial"/>
              <a:buNone/>
            </a:pPr>
            <a:r>
              <a:t/>
            </a:r>
            <a:endParaRPr/>
          </a:p>
        </p:txBody>
      </p:sp>
      <p:sp>
        <p:nvSpPr>
          <p:cNvPr id="210" name="Google Shape;210;p24"/>
          <p:cNvSpPr txBox="1"/>
          <p:nvPr>
            <p:ph idx="4294967295" type="title"/>
          </p:nvPr>
        </p:nvSpPr>
        <p:spPr>
          <a:xfrm>
            <a:off x="1205865" y="121285"/>
            <a:ext cx="10972800" cy="818515"/>
          </a:xfrm>
          <a:prstGeom prst="rect">
            <a:avLst/>
          </a:prstGeom>
          <a:solidFill>
            <a:srgbClr val="000000">
              <a:alpha val="0"/>
            </a:srgbClr>
          </a:solidFill>
          <a:ln>
            <a:noFill/>
          </a:ln>
        </p:spPr>
        <p:txBody>
          <a:bodyPr anchorCtr="0" anchor="ctr" bIns="47625" lIns="47625" spcFirstLastPara="1" rIns="47625" wrap="square" tIns="47625">
            <a:noAutofit/>
          </a:bodyPr>
          <a:lstStyle/>
          <a:p>
            <a:pPr indent="0" lvl="0" marL="0" rtl="0" algn="ctr">
              <a:lnSpc>
                <a:spcPct val="100000"/>
              </a:lnSpc>
              <a:spcBef>
                <a:spcPts val="0"/>
              </a:spcBef>
              <a:spcAft>
                <a:spcPts val="0"/>
              </a:spcAft>
              <a:buSzPts val="3200"/>
              <a:buNone/>
            </a:pPr>
            <a:r>
              <a:rPr b="1" i="0" lang="en-US" sz="3200">
                <a:solidFill>
                  <a:schemeClr val="accent6"/>
                </a:solidFill>
                <a:latin typeface="Times New Roman"/>
                <a:ea typeface="Times New Roman"/>
                <a:cs typeface="Times New Roman"/>
                <a:sym typeface="Times New Roman"/>
              </a:rPr>
              <a:t>Sử dụng VS Code (IDE nhẹ &amp; linh hoạt)</a:t>
            </a:r>
            <a:endParaRPr b="1" i="0" sz="3200">
              <a:solidFill>
                <a:schemeClr val="accent6"/>
              </a:solidFill>
              <a:latin typeface="Times New Roman"/>
              <a:ea typeface="Times New Roman"/>
              <a:cs typeface="Times New Roman"/>
              <a:sym typeface="Times New Roman"/>
            </a:endParaRPr>
          </a:p>
        </p:txBody>
      </p:sp>
      <p:sp>
        <p:nvSpPr>
          <p:cNvPr id="211" name="Google Shape;211;p24"/>
          <p:cNvSpPr txBox="1"/>
          <p:nvPr/>
        </p:nvSpPr>
        <p:spPr>
          <a:xfrm>
            <a:off x="952500" y="1381125"/>
            <a:ext cx="4953000" cy="257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F37021"/>
                </a:solidFill>
                <a:latin typeface="Times New Roman"/>
                <a:ea typeface="Times New Roman"/>
                <a:cs typeface="Times New Roman"/>
                <a:sym typeface="Times New Roman"/>
              </a:rPr>
              <a:t>Các bước thiết lập</a:t>
            </a:r>
            <a:endParaRPr b="1" i="0" sz="2200" u="none" cap="none" strike="noStrike">
              <a:solidFill>
                <a:srgbClr val="F37021"/>
              </a:solidFill>
              <a:latin typeface="Times New Roman"/>
              <a:ea typeface="Times New Roman"/>
              <a:cs typeface="Times New Roman"/>
              <a:sym typeface="Times New Roman"/>
            </a:endParaRPr>
          </a:p>
          <a:p>
            <a:pPr indent="-323850" lvl="0" marL="457200" marR="0" rtl="0" algn="l">
              <a:lnSpc>
                <a:spcPct val="100000"/>
              </a:lnSpc>
              <a:spcBef>
                <a:spcPts val="900"/>
              </a:spcBef>
              <a:spcAft>
                <a:spcPts val="0"/>
              </a:spcAft>
              <a:buClr>
                <a:srgbClr val="334155"/>
              </a:buClr>
              <a:buSzPts val="1500"/>
              <a:buFont typeface="Times New Roman"/>
              <a:buChar char="●"/>
            </a:pPr>
            <a:r>
              <a:rPr b="1" i="0" lang="en-US" sz="1500" u="none" cap="none" strike="noStrike">
                <a:solidFill>
                  <a:srgbClr val="0F172A"/>
                </a:solidFill>
                <a:latin typeface="Times New Roman"/>
                <a:ea typeface="Times New Roman"/>
                <a:cs typeface="Times New Roman"/>
                <a:sym typeface="Times New Roman"/>
              </a:rPr>
              <a:t>Cài đặt VS Code</a:t>
            </a:r>
            <a:endParaRPr b="0" i="0" sz="1500" u="none" cap="none" strike="noStrike">
              <a:solidFill>
                <a:srgbClr val="334155"/>
              </a:solidFill>
              <a:latin typeface="Times New Roman"/>
              <a:ea typeface="Times New Roman"/>
              <a:cs typeface="Times New Roman"/>
              <a:sym typeface="Times New Roman"/>
            </a:endParaRPr>
          </a:p>
          <a:p>
            <a:pPr indent="-323850" lvl="0" marL="457200" marR="0" rtl="0" algn="l">
              <a:lnSpc>
                <a:spcPct val="100000"/>
              </a:lnSpc>
              <a:spcBef>
                <a:spcPts val="600"/>
              </a:spcBef>
              <a:spcAft>
                <a:spcPts val="0"/>
              </a:spcAft>
              <a:buClr>
                <a:srgbClr val="334155"/>
              </a:buClr>
              <a:buSzPts val="1500"/>
              <a:buFont typeface="Times New Roman"/>
              <a:buChar char="●"/>
            </a:pPr>
            <a:r>
              <a:rPr b="1" i="0" lang="en-US" sz="1500" u="none" cap="none" strike="noStrike">
                <a:solidFill>
                  <a:srgbClr val="0F172A"/>
                </a:solidFill>
                <a:latin typeface="Times New Roman"/>
                <a:ea typeface="Times New Roman"/>
                <a:cs typeface="Times New Roman"/>
                <a:sym typeface="Times New Roman"/>
              </a:rPr>
              <a:t>Cài đặt extension Flutter &amp; Dart</a:t>
            </a:r>
            <a:endParaRPr b="0" i="0" sz="1500" u="none" cap="none" strike="noStrike">
              <a:solidFill>
                <a:srgbClr val="334155"/>
              </a:solidFill>
              <a:latin typeface="Times New Roman"/>
              <a:ea typeface="Times New Roman"/>
              <a:cs typeface="Times New Roman"/>
              <a:sym typeface="Times New Roman"/>
            </a:endParaRPr>
          </a:p>
          <a:p>
            <a:pPr indent="-323850" lvl="0" marL="457200" marR="0" rtl="0" algn="l">
              <a:lnSpc>
                <a:spcPct val="100000"/>
              </a:lnSpc>
              <a:spcBef>
                <a:spcPts val="600"/>
              </a:spcBef>
              <a:spcAft>
                <a:spcPts val="0"/>
              </a:spcAft>
              <a:buClr>
                <a:srgbClr val="334155"/>
              </a:buClr>
              <a:buSzPts val="1500"/>
              <a:buFont typeface="Times New Roman"/>
              <a:buChar char="●"/>
            </a:pPr>
            <a:r>
              <a:rPr b="0" i="0" lang="en-US" sz="1500" u="none" cap="none" strike="noStrike">
                <a:solidFill>
                  <a:srgbClr val="334155"/>
                </a:solidFill>
                <a:latin typeface="Times New Roman"/>
                <a:ea typeface="Times New Roman"/>
                <a:cs typeface="Times New Roman"/>
                <a:sym typeface="Times New Roman"/>
              </a:rPr>
              <a:t>Mở thư mục </a:t>
            </a:r>
            <a:r>
              <a:rPr b="0" i="0" lang="en-US" sz="1500" u="none" cap="none" strike="noStrike">
                <a:solidFill>
                  <a:srgbClr val="64748B"/>
                </a:solidFill>
                <a:latin typeface="Times New Roman"/>
                <a:ea typeface="Times New Roman"/>
                <a:cs typeface="Times New Roman"/>
                <a:sym typeface="Times New Roman"/>
              </a:rPr>
              <a:t>→</a:t>
            </a:r>
            <a:r>
              <a:rPr b="0" i="0" lang="en-US" sz="1500" u="none" cap="none" strike="noStrike">
                <a:solidFill>
                  <a:srgbClr val="334155"/>
                </a:solidFill>
                <a:latin typeface="Times New Roman"/>
                <a:ea typeface="Times New Roman"/>
                <a:cs typeface="Times New Roman"/>
                <a:sym typeface="Times New Roman"/>
              </a:rPr>
              <a:t> Ctrl + Shift + P </a:t>
            </a:r>
            <a:r>
              <a:rPr b="0" i="0" lang="en-US" sz="1500" u="none" cap="none" strike="noStrike">
                <a:solidFill>
                  <a:srgbClr val="64748B"/>
                </a:solidFill>
                <a:latin typeface="Times New Roman"/>
                <a:ea typeface="Times New Roman"/>
                <a:cs typeface="Times New Roman"/>
                <a:sym typeface="Times New Roman"/>
              </a:rPr>
              <a:t>→</a:t>
            </a:r>
            <a:r>
              <a:rPr b="0" i="0" lang="en-US" sz="1500" u="none" cap="none" strike="noStrike">
                <a:solidFill>
                  <a:srgbClr val="334155"/>
                </a:solidFill>
                <a:latin typeface="Times New Roman"/>
                <a:ea typeface="Times New Roman"/>
                <a:cs typeface="Times New Roman"/>
                <a:sym typeface="Times New Roman"/>
              </a:rPr>
              <a:t> chọn </a:t>
            </a:r>
            <a:r>
              <a:rPr b="1" i="0" lang="en-US" sz="1500" u="none" cap="none" strike="noStrike">
                <a:solidFill>
                  <a:srgbClr val="071699"/>
                </a:solidFill>
                <a:latin typeface="Times New Roman"/>
                <a:ea typeface="Times New Roman"/>
                <a:cs typeface="Times New Roman"/>
                <a:sym typeface="Times New Roman"/>
              </a:rPr>
              <a:t>Flutter: New Project</a:t>
            </a:r>
            <a:endParaRPr b="0" i="0" sz="1500" u="none" cap="none" strike="noStrike">
              <a:solidFill>
                <a:srgbClr val="334155"/>
              </a:solidFill>
              <a:latin typeface="Times New Roman"/>
              <a:ea typeface="Times New Roman"/>
              <a:cs typeface="Times New Roman"/>
              <a:sym typeface="Times New Roman"/>
            </a:endParaRPr>
          </a:p>
          <a:p>
            <a:pPr indent="-323850" lvl="0" marL="457200" marR="0" rtl="0" algn="l">
              <a:lnSpc>
                <a:spcPct val="100000"/>
              </a:lnSpc>
              <a:spcBef>
                <a:spcPts val="600"/>
              </a:spcBef>
              <a:spcAft>
                <a:spcPts val="600"/>
              </a:spcAft>
              <a:buClr>
                <a:srgbClr val="334155"/>
              </a:buClr>
              <a:buSzPts val="1500"/>
              <a:buFont typeface="Times New Roman"/>
              <a:buChar char="●"/>
            </a:pPr>
            <a:r>
              <a:rPr b="0" i="0" lang="en-US" sz="1500" u="none" cap="none" strike="noStrike">
                <a:solidFill>
                  <a:srgbClr val="334155"/>
                </a:solidFill>
                <a:latin typeface="Times New Roman"/>
                <a:ea typeface="Times New Roman"/>
                <a:cs typeface="Times New Roman"/>
                <a:sym typeface="Times New Roman"/>
              </a:rPr>
              <a:t>Chạy ứng dụng bằng </a:t>
            </a:r>
            <a:r>
              <a:rPr b="1" i="0" lang="en-US" sz="1500" u="none" cap="none" strike="noStrike">
                <a:solidFill>
                  <a:srgbClr val="071699"/>
                </a:solidFill>
                <a:latin typeface="Times New Roman"/>
                <a:ea typeface="Times New Roman"/>
                <a:cs typeface="Times New Roman"/>
                <a:sym typeface="Times New Roman"/>
              </a:rPr>
              <a:t>F5</a:t>
            </a:r>
            <a:r>
              <a:rPr b="0" i="0" lang="en-US" sz="1500" u="none" cap="none" strike="noStrike">
                <a:solidFill>
                  <a:srgbClr val="334155"/>
                </a:solidFill>
                <a:latin typeface="Times New Roman"/>
                <a:ea typeface="Times New Roman"/>
                <a:cs typeface="Times New Roman"/>
                <a:sym typeface="Times New Roman"/>
              </a:rPr>
              <a:t> hoặc gõ lệnh terminal: </a:t>
            </a:r>
            <a:r>
              <a:rPr b="1" i="0" lang="en-US" sz="1500" u="none" cap="none" strike="noStrike">
                <a:solidFill>
                  <a:srgbClr val="071699"/>
                </a:solidFill>
                <a:highlight>
                  <a:srgbClr val="F1F5F9"/>
                </a:highlight>
                <a:latin typeface="Courier New"/>
                <a:ea typeface="Courier New"/>
                <a:cs typeface="Courier New"/>
                <a:sym typeface="Courier New"/>
              </a:rPr>
              <a:t>flutter run</a:t>
            </a:r>
            <a:endParaRPr b="0" i="0" sz="1500" u="none" cap="none" strike="noStrike">
              <a:solidFill>
                <a:srgbClr val="334155"/>
              </a:solidFill>
              <a:latin typeface="Times New Roman"/>
              <a:ea typeface="Times New Roman"/>
              <a:cs typeface="Times New Roman"/>
              <a:sym typeface="Times New Roman"/>
            </a:endParaRPr>
          </a:p>
        </p:txBody>
      </p:sp>
      <p:sp>
        <p:nvSpPr>
          <p:cNvPr id="212" name="Google Shape;212;p24"/>
          <p:cNvSpPr txBox="1"/>
          <p:nvPr/>
        </p:nvSpPr>
        <p:spPr>
          <a:xfrm>
            <a:off x="6477000" y="1381125"/>
            <a:ext cx="4762500" cy="257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2200"/>
              <a:buFont typeface="Arial"/>
              <a:buNone/>
            </a:pPr>
            <a:r>
              <a:rPr b="1" i="0" lang="en-US" sz="2200" u="none" cap="none" strike="noStrike">
                <a:solidFill>
                  <a:srgbClr val="071699"/>
                </a:solidFill>
                <a:latin typeface="Times New Roman"/>
                <a:ea typeface="Times New Roman"/>
                <a:cs typeface="Times New Roman"/>
                <a:sym typeface="Times New Roman"/>
              </a:rPr>
              <a:t>Ưu điểm</a:t>
            </a:r>
            <a:endParaRPr b="1" i="0" sz="2200" u="none" cap="none" strike="noStrike">
              <a:solidFill>
                <a:srgbClr val="071699"/>
              </a:solidFill>
              <a:latin typeface="Times New Roman"/>
              <a:ea typeface="Times New Roman"/>
              <a:cs typeface="Times New Roman"/>
              <a:sym typeface="Times New Roman"/>
            </a:endParaRPr>
          </a:p>
          <a:p>
            <a:pPr indent="-323850" lvl="0" marL="457200" marR="0" rtl="0" algn="l">
              <a:lnSpc>
                <a:spcPct val="100000"/>
              </a:lnSpc>
              <a:spcBef>
                <a:spcPts val="900"/>
              </a:spcBef>
              <a:spcAft>
                <a:spcPts val="0"/>
              </a:spcAft>
              <a:buClr>
                <a:srgbClr val="334155"/>
              </a:buClr>
              <a:buSzPts val="1500"/>
              <a:buFont typeface="Times New Roman"/>
              <a:buChar char="●"/>
            </a:pPr>
            <a:r>
              <a:rPr b="1" i="0" lang="en-US" sz="1500" u="none" cap="none" strike="noStrike">
                <a:solidFill>
                  <a:srgbClr val="0F172A"/>
                </a:solidFill>
                <a:latin typeface="Times New Roman"/>
                <a:ea typeface="Times New Roman"/>
                <a:cs typeface="Times New Roman"/>
                <a:sym typeface="Times New Roman"/>
              </a:rPr>
              <a:t>Khởi động nhanh &amp; tốn ít bộ nhớ RAM</a:t>
            </a:r>
            <a:endParaRPr b="0" i="0" sz="1500" u="none" cap="none" strike="noStrike">
              <a:solidFill>
                <a:srgbClr val="334155"/>
              </a:solidFill>
              <a:latin typeface="Times New Roman"/>
              <a:ea typeface="Times New Roman"/>
              <a:cs typeface="Times New Roman"/>
              <a:sym typeface="Times New Roman"/>
            </a:endParaRPr>
          </a:p>
          <a:p>
            <a:pPr indent="-323850" lvl="0" marL="457200" marR="0" rtl="0" algn="l">
              <a:lnSpc>
                <a:spcPct val="100000"/>
              </a:lnSpc>
              <a:spcBef>
                <a:spcPts val="900"/>
              </a:spcBef>
              <a:spcAft>
                <a:spcPts val="0"/>
              </a:spcAft>
              <a:buClr>
                <a:srgbClr val="334155"/>
              </a:buClr>
              <a:buSzPts val="1500"/>
              <a:buFont typeface="Times New Roman"/>
              <a:buChar char="●"/>
            </a:pPr>
            <a:r>
              <a:rPr b="1" i="0" lang="en-US" sz="1500" u="none" cap="none" strike="noStrike">
                <a:solidFill>
                  <a:srgbClr val="0F172A"/>
                </a:solidFill>
                <a:latin typeface="Times New Roman"/>
                <a:ea typeface="Times New Roman"/>
                <a:cs typeface="Times New Roman"/>
                <a:sym typeface="Times New Roman"/>
              </a:rPr>
              <a:t>Quản lý extension dễ dàng</a:t>
            </a:r>
            <a:endParaRPr b="0" i="0" sz="1500" u="none" cap="none" strike="noStrike">
              <a:solidFill>
                <a:srgbClr val="334155"/>
              </a:solidFill>
              <a:latin typeface="Times New Roman"/>
              <a:ea typeface="Times New Roman"/>
              <a:cs typeface="Times New Roman"/>
              <a:sym typeface="Times New Roman"/>
            </a:endParaRPr>
          </a:p>
          <a:p>
            <a:pPr indent="-323850" lvl="0" marL="457200" marR="0" rtl="0" algn="l">
              <a:lnSpc>
                <a:spcPct val="100000"/>
              </a:lnSpc>
              <a:spcBef>
                <a:spcPts val="900"/>
              </a:spcBef>
              <a:spcAft>
                <a:spcPts val="900"/>
              </a:spcAft>
              <a:buClr>
                <a:srgbClr val="334155"/>
              </a:buClr>
              <a:buSzPts val="1500"/>
              <a:buFont typeface="Times New Roman"/>
              <a:buChar char="●"/>
            </a:pPr>
            <a:r>
              <a:rPr b="1" i="0" lang="en-US" sz="1500" u="none" cap="none" strike="noStrike">
                <a:solidFill>
                  <a:srgbClr val="0F172A"/>
                </a:solidFill>
                <a:latin typeface="Times New Roman"/>
                <a:ea typeface="Times New Roman"/>
                <a:cs typeface="Times New Roman"/>
                <a:sym typeface="Times New Roman"/>
              </a:rPr>
              <a:t>Tích hợp sẵn Terminal</a:t>
            </a:r>
            <a:endParaRPr b="0" i="0" sz="1500" u="none" cap="none" strike="noStrike">
              <a:solidFill>
                <a:srgbClr val="334155"/>
              </a:solidFill>
              <a:latin typeface="Times New Roman"/>
              <a:ea typeface="Times New Roman"/>
              <a:cs typeface="Times New Roman"/>
              <a:sym typeface="Times New Roman"/>
            </a:endParaRPr>
          </a:p>
        </p:txBody>
      </p:sp>
      <p:sp>
        <p:nvSpPr>
          <p:cNvPr id="213" name="Google Shape;213;p24"/>
          <p:cNvSpPr/>
          <p:nvPr/>
        </p:nvSpPr>
        <p:spPr>
          <a:xfrm>
            <a:off x="2743200" y="4076700"/>
            <a:ext cx="6705600" cy="2024100"/>
          </a:xfrm>
          <a:prstGeom prst="roundRect">
            <a:avLst>
              <a:gd fmla="val 2823" name="adj"/>
            </a:avLst>
          </a:prstGeom>
          <a:solidFill>
            <a:srgbClr val="000000">
              <a:alpha val="0"/>
            </a:srgbClr>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4" name="Google Shape;214;p24"/>
          <p:cNvPicPr preferRelativeResize="0"/>
          <p:nvPr/>
        </p:nvPicPr>
        <p:blipFill rotWithShape="1">
          <a:blip r:embed="rId3">
            <a:alphaModFix/>
          </a:blip>
          <a:srcRect b="0" l="0" r="10" t="0"/>
          <a:stretch/>
        </p:blipFill>
        <p:spPr>
          <a:xfrm>
            <a:off x="2762250" y="4095750"/>
            <a:ext cx="6667500" cy="1986000"/>
          </a:xfrm>
          <a:prstGeom prst="roundRect">
            <a:avLst>
              <a:gd fmla="val 1918" name="adj"/>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5"/>
          <p:cNvSpPr txBox="1"/>
          <p:nvPr>
            <p:ph idx="4294967295" type="title"/>
          </p:nvPr>
        </p:nvSpPr>
        <p:spPr>
          <a:xfrm>
            <a:off x="1179195" y="54610"/>
            <a:ext cx="109728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i="0" lang="en-US" sz="3200">
                <a:solidFill>
                  <a:schemeClr val="accent6"/>
                </a:solidFill>
                <a:latin typeface="Times New Roman"/>
                <a:ea typeface="Times New Roman"/>
                <a:cs typeface="Times New Roman"/>
                <a:sym typeface="Times New Roman"/>
              </a:rPr>
              <a:t>Ứng dụng Flutter đầu tiên ("Hello World")</a:t>
            </a:r>
            <a:endParaRPr b="1" i="0" sz="3200">
              <a:solidFill>
                <a:schemeClr val="accent6"/>
              </a:solidFill>
              <a:latin typeface="Times New Roman"/>
              <a:ea typeface="Times New Roman"/>
              <a:cs typeface="Times New Roman"/>
              <a:sym typeface="Times New Roman"/>
            </a:endParaRPr>
          </a:p>
        </p:txBody>
      </p:sp>
      <p:graphicFrame>
        <p:nvGraphicFramePr>
          <p:cNvPr id="221" name="Google Shape;221;p25"/>
          <p:cNvGraphicFramePr/>
          <p:nvPr/>
        </p:nvGraphicFramePr>
        <p:xfrm>
          <a:off x="2000250" y="2774242"/>
          <a:ext cx="3000000" cy="3000000"/>
        </p:xfrm>
        <a:graphic>
          <a:graphicData uri="http://schemas.openxmlformats.org/drawingml/2006/table">
            <a:tbl>
              <a:tblPr>
                <a:noFill/>
                <a:tableStyleId>{F5D9E98C-522B-4CAF-ADCD-44C560AE9DAC}</a:tableStyleId>
              </a:tblPr>
              <a:tblGrid>
                <a:gridCol w="2605625"/>
                <a:gridCol w="5418675"/>
              </a:tblGrid>
              <a:tr h="370850">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highlight>
                            <a:srgbClr val="4F81BD"/>
                          </a:highlight>
                          <a:latin typeface="Times New Roman"/>
                          <a:ea typeface="Times New Roman"/>
                          <a:cs typeface="Times New Roman"/>
                          <a:sym typeface="Times New Roman"/>
                        </a:rPr>
                        <a:t>Môi trường</a:t>
                      </a:r>
                      <a:endParaRPr b="1" i="0" sz="1800" u="none" cap="none" strike="noStrike">
                        <a:solidFill>
                          <a:srgbClr val="FFFFFF"/>
                        </a:solidFill>
                        <a:highlight>
                          <a:srgbClr val="4F81BD"/>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c>
                  <a:txBody>
                    <a:bodyPr/>
                    <a:lstStyle/>
                    <a:p>
                      <a:pPr indent="0" lvl="0" marL="0" marR="0" rtl="0" algn="ctr">
                        <a:lnSpc>
                          <a:spcPct val="100000"/>
                        </a:lnSpc>
                        <a:spcBef>
                          <a:spcPts val="0"/>
                        </a:spcBef>
                        <a:spcAft>
                          <a:spcPts val="0"/>
                        </a:spcAft>
                        <a:buClr>
                          <a:srgbClr val="000000"/>
                        </a:buClr>
                        <a:buSzPts val="1800"/>
                        <a:buFont typeface="Arial"/>
                        <a:buNone/>
                      </a:pPr>
                      <a:r>
                        <a:rPr b="1" i="0" lang="en-US" sz="1800" u="none" cap="none" strike="noStrike">
                          <a:solidFill>
                            <a:srgbClr val="FFFFFF"/>
                          </a:solidFill>
                          <a:highlight>
                            <a:srgbClr val="4F81BD"/>
                          </a:highlight>
                          <a:latin typeface="Times New Roman"/>
                          <a:ea typeface="Times New Roman"/>
                          <a:cs typeface="Times New Roman"/>
                          <a:sym typeface="Times New Roman"/>
                        </a:rPr>
                        <a:t>Các bước</a:t>
                      </a:r>
                      <a:endParaRPr b="1" i="0" sz="1800" u="none" cap="none" strike="noStrike">
                        <a:solidFill>
                          <a:srgbClr val="FFFFFF"/>
                        </a:solidFill>
                        <a:highlight>
                          <a:srgbClr val="4F81BD"/>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4F81BD"/>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highlight>
                            <a:srgbClr val="CFD7E7"/>
                          </a:highlight>
                          <a:latin typeface="Times New Roman"/>
                          <a:ea typeface="Times New Roman"/>
                          <a:cs typeface="Times New Roman"/>
                          <a:sym typeface="Times New Roman"/>
                        </a:rPr>
                        <a:t>DartPad</a:t>
                      </a:r>
                      <a:endParaRPr b="1" i="0" sz="18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highlight>
                            <a:srgbClr val="CFD7E7"/>
                          </a:highlight>
                          <a:latin typeface="Times New Roman"/>
                          <a:ea typeface="Times New Roman"/>
                          <a:cs typeface="Times New Roman"/>
                          <a:sym typeface="Times New Roman"/>
                        </a:rPr>
                        <a:t>Mở </a:t>
                      </a:r>
                      <a:r>
                        <a:rPr b="0" i="0" lang="en-US" sz="1800" u="sng" cap="none" strike="noStrike">
                          <a:solidFill>
                            <a:srgbClr val="0000FF"/>
                          </a:solidFill>
                          <a:highlight>
                            <a:srgbClr val="CFD7E7"/>
                          </a:highlight>
                          <a:latin typeface="Times New Roman"/>
                          <a:ea typeface="Times New Roman"/>
                          <a:cs typeface="Times New Roman"/>
                          <a:sym typeface="Times New Roman"/>
                          <a:hlinkClick r:id="rId3">
                            <a:extLst>
                              <a:ext uri="{A12FA001-AC4F-418D-AE19-62706E023703}">
                                <ahyp:hlinkClr val="tx"/>
                              </a:ext>
                            </a:extLst>
                          </a:hlinkClick>
                        </a:rPr>
                        <a:t>dartpad.dev</a:t>
                      </a:r>
                      <a:r>
                        <a:rPr b="0" i="0" lang="en-US" sz="1800" u="none" cap="none" strike="noStrike">
                          <a:solidFill>
                            <a:srgbClr val="000000"/>
                          </a:solidFill>
                          <a:highlight>
                            <a:srgbClr val="CFD7E7"/>
                          </a:highlight>
                          <a:latin typeface="Times New Roman"/>
                          <a:ea typeface="Times New Roman"/>
                          <a:cs typeface="Times New Roman"/>
                          <a:sym typeface="Times New Roman"/>
                        </a:rPr>
                        <a:t> → New → Flutter → Dán mã nguồn → Nhấn ▶ Run</a:t>
                      </a:r>
                      <a:endParaRPr b="0" i="0" sz="18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latin typeface="Times New Roman"/>
                          <a:ea typeface="Times New Roman"/>
                          <a:cs typeface="Times New Roman"/>
                          <a:sym typeface="Times New Roman"/>
                        </a:rPr>
                        <a:t>VS Code</a:t>
                      </a:r>
                      <a:endParaRPr b="1" i="0" sz="18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Times New Roman"/>
                          <a:ea typeface="Times New Roman"/>
                          <a:cs typeface="Times New Roman"/>
                          <a:sym typeface="Times New Roman"/>
                        </a:rPr>
                        <a:t>Ctrl + Shift + P → Flutter: New Project → Thay thế lib/main.dart → Nhấn </a:t>
                      </a:r>
                      <a:r>
                        <a:rPr b="1" i="0" lang="en-US" sz="1800" u="none" cap="none" strike="noStrike">
                          <a:solidFill>
                            <a:srgbClr val="000000"/>
                          </a:solidFill>
                          <a:latin typeface="Times New Roman"/>
                          <a:ea typeface="Times New Roman"/>
                          <a:cs typeface="Times New Roman"/>
                          <a:sym typeface="Times New Roman"/>
                        </a:rPr>
                        <a:t>F5</a:t>
                      </a:r>
                      <a:r>
                        <a:rPr b="0" i="0" lang="en-US" sz="1800" u="none" cap="none" strike="noStrike">
                          <a:solidFill>
                            <a:srgbClr val="000000"/>
                          </a:solidFill>
                          <a:latin typeface="Times New Roman"/>
                          <a:ea typeface="Times New Roman"/>
                          <a:cs typeface="Times New Roman"/>
                          <a:sym typeface="Times New Roman"/>
                        </a:rPr>
                        <a:t> hoặc flutter run</a:t>
                      </a:r>
                      <a:endParaRPr b="0" i="0" sz="1800" u="none" cap="none" strike="noStrike">
                        <a:solidFill>
                          <a:srgbClr val="000000"/>
                        </a:solidFill>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tcPr>
                </a:tc>
              </a:tr>
              <a:tr h="370850">
                <a:tc>
                  <a:txBody>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rgbClr val="000000"/>
                          </a:solidFill>
                          <a:highlight>
                            <a:srgbClr val="CFD7E7"/>
                          </a:highlight>
                          <a:latin typeface="Times New Roman"/>
                          <a:ea typeface="Times New Roman"/>
                          <a:cs typeface="Times New Roman"/>
                          <a:sym typeface="Times New Roman"/>
                        </a:rPr>
                        <a:t>Android Studio</a:t>
                      </a:r>
                      <a:endParaRPr b="1" i="0" sz="18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c>
                  <a:txBody>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000000"/>
                          </a:solidFill>
                          <a:highlight>
                            <a:srgbClr val="CFD7E7"/>
                          </a:highlight>
                          <a:latin typeface="Times New Roman"/>
                          <a:ea typeface="Times New Roman"/>
                          <a:cs typeface="Times New Roman"/>
                          <a:sym typeface="Times New Roman"/>
                        </a:rPr>
                        <a:t>New Flutter Project</a:t>
                      </a:r>
                      <a:r>
                        <a:rPr b="0" i="0" lang="en-US" sz="1800" u="none" cap="none" strike="noStrike">
                          <a:solidFill>
                            <a:srgbClr val="000000"/>
                          </a:solidFill>
                          <a:highlight>
                            <a:srgbClr val="CFD7E7"/>
                          </a:highlight>
                          <a:latin typeface="Times New Roman"/>
                          <a:ea typeface="Times New Roman"/>
                          <a:cs typeface="Times New Roman"/>
                          <a:sym typeface="Times New Roman"/>
                        </a:rPr>
                        <a:t> → Dán mã nguồn vào lib/main.dart → Nhấn ▶ Run trên máy ảo</a:t>
                      </a:r>
                      <a:endParaRPr b="0" i="1" sz="1800" u="none" cap="none" strike="noStrike">
                        <a:solidFill>
                          <a:srgbClr val="000000"/>
                        </a:solidFill>
                        <a:highlight>
                          <a:srgbClr val="CFD7E7"/>
                        </a:highlight>
                        <a:latin typeface="Times New Roman"/>
                        <a:ea typeface="Times New Roman"/>
                        <a:cs typeface="Times New Roman"/>
                        <a:sym typeface="Times New Roman"/>
                      </a:endParaRPr>
                    </a:p>
                  </a:txBody>
                  <a:tcPr marT="45700" marB="45700" marR="91450" marL="91450">
                    <a:lnL cap="flat" cmpd="sng" w="12675">
                      <a:solidFill>
                        <a:srgbClr val="FFFFFF"/>
                      </a:solidFill>
                      <a:prstDash val="solid"/>
                      <a:round/>
                      <a:headEnd len="sm" w="sm" type="none"/>
                      <a:tailEnd len="sm" w="sm" type="none"/>
                    </a:lnL>
                    <a:lnR cap="flat" cmpd="sng" w="12675">
                      <a:solidFill>
                        <a:srgbClr val="FFFFFF"/>
                      </a:solidFill>
                      <a:prstDash val="solid"/>
                      <a:round/>
                      <a:headEnd len="sm" w="sm" type="none"/>
                      <a:tailEnd len="sm" w="sm" type="none"/>
                    </a:lnR>
                    <a:lnT cap="flat" cmpd="sng" w="12675">
                      <a:solidFill>
                        <a:srgbClr val="FFFFFF"/>
                      </a:solidFill>
                      <a:prstDash val="solid"/>
                      <a:round/>
                      <a:headEnd len="sm" w="sm" type="none"/>
                      <a:tailEnd len="sm" w="sm" type="none"/>
                    </a:lnT>
                    <a:lnB cap="flat" cmpd="sng" w="12675">
                      <a:solidFill>
                        <a:srgbClr val="FFFFFF"/>
                      </a:solidFill>
                      <a:prstDash val="solid"/>
                      <a:round/>
                      <a:headEnd len="sm" w="sm" type="none"/>
                      <a:tailEnd len="sm" w="sm" type="none"/>
                    </a:lnB>
                    <a:solidFill>
                      <a:srgbClr val="CFD7E7"/>
                    </a:solidFill>
                  </a:tcPr>
                </a:tc>
              </a:tr>
            </a:tbl>
          </a:graphicData>
        </a:graphic>
      </p:graphicFrame>
      <p:sp>
        <p:nvSpPr>
          <p:cNvPr id="222" name="Google Shape;222;p25"/>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0" lvl="0" marL="0" rtl="0" algn="l">
              <a:lnSpc>
                <a:spcPct val="100000"/>
              </a:lnSpc>
              <a:spcBef>
                <a:spcPts val="450"/>
              </a:spcBef>
              <a:spcAft>
                <a:spcPts val="0"/>
              </a:spcAft>
              <a:buSzPts val="1400"/>
              <a:buNone/>
            </a:pPr>
            <a:r>
              <a:rPr b="1" i="0" lang="en-US" sz="2200">
                <a:solidFill>
                  <a:srgbClr val="000000"/>
                </a:solidFill>
                <a:latin typeface="Times New Roman"/>
                <a:ea typeface="Times New Roman"/>
                <a:cs typeface="Times New Roman"/>
                <a:sym typeface="Times New Roman"/>
              </a:rPr>
              <a:t>Mục tiêu: </a:t>
            </a:r>
            <a:r>
              <a:rPr b="0" i="0" lang="en-US" sz="2200">
                <a:solidFill>
                  <a:srgbClr val="000000"/>
                </a:solidFill>
                <a:latin typeface="Times New Roman"/>
                <a:ea typeface="Times New Roman"/>
                <a:cs typeface="Times New Roman"/>
                <a:sym typeface="Times New Roman"/>
              </a:rPr>
              <a:t>Bắt đầu với một chương trình đơn giản chạy đồng nhất trên cả 3 môi trường phát triển.</a:t>
            </a:r>
            <a:endParaRPr b="1" i="0" sz="2200">
              <a:solidFill>
                <a:srgbClr val="000000"/>
              </a:solidFill>
              <a:latin typeface="Times New Roman"/>
              <a:ea typeface="Times New Roman"/>
              <a:cs typeface="Times New Roman"/>
              <a:sym typeface="Times New Roman"/>
            </a:endParaRPr>
          </a:p>
          <a:p>
            <a:pPr indent="0" lvl="0" marL="0" rtl="0" algn="l">
              <a:lnSpc>
                <a:spcPct val="100000"/>
              </a:lnSpc>
              <a:spcBef>
                <a:spcPts val="1200"/>
              </a:spcBef>
              <a:spcAft>
                <a:spcPts val="450"/>
              </a:spcAft>
              <a:buSzPts val="1400"/>
              <a:buNone/>
            </a:pPr>
            <a:r>
              <a:rPr b="1" i="0" lang="en-US" sz="2200">
                <a:solidFill>
                  <a:srgbClr val="000000"/>
                </a:solidFill>
                <a:latin typeface="Times New Roman"/>
                <a:ea typeface="Times New Roman"/>
                <a:cs typeface="Times New Roman"/>
                <a:sym typeface="Times New Roman"/>
              </a:rPr>
              <a:t>Các bước thực hiện:</a:t>
            </a:r>
            <a:endParaRPr b="1" i="0" sz="2200">
              <a:solidFill>
                <a:srgbClr val="000000"/>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6"/>
          <p:cNvSpPr txBox="1"/>
          <p:nvPr>
            <p:ph idx="4294967295" type="title"/>
          </p:nvPr>
        </p:nvSpPr>
        <p:spPr>
          <a:xfrm>
            <a:off x="1219200" y="94615"/>
            <a:ext cx="10972800" cy="818515"/>
          </a:xfrm>
          <a:prstGeom prst="rect">
            <a:avLst/>
          </a:prstGeom>
          <a:solidFill>
            <a:srgbClr val="000000">
              <a:alpha val="0"/>
            </a:srgbClr>
          </a:solidFill>
          <a:ln>
            <a:noFill/>
          </a:ln>
        </p:spPr>
        <p:txBody>
          <a:bodyPr anchorCtr="0" anchor="ctr" bIns="38100" lIns="85725" spcFirstLastPara="1" rIns="85725" wrap="square" tIns="38100">
            <a:noAutofit/>
          </a:bodyPr>
          <a:lstStyle/>
          <a:p>
            <a:pPr indent="0" lvl="0" marL="0" rtl="0" algn="ctr">
              <a:lnSpc>
                <a:spcPct val="100000"/>
              </a:lnSpc>
              <a:spcBef>
                <a:spcPts val="0"/>
              </a:spcBef>
              <a:spcAft>
                <a:spcPts val="0"/>
              </a:spcAft>
              <a:buSzPts val="3200"/>
              <a:buNone/>
            </a:pPr>
            <a:r>
              <a:rPr b="1" lang="en-US" sz="3200">
                <a:solidFill>
                  <a:schemeClr val="accent6"/>
                </a:solidFill>
                <a:latin typeface="Times New Roman"/>
                <a:ea typeface="Times New Roman"/>
                <a:cs typeface="Times New Roman"/>
                <a:sym typeface="Times New Roman"/>
              </a:rPr>
              <a:t>Tổng kết bài học</a:t>
            </a:r>
            <a:endParaRPr b="1" sz="3200">
              <a:solidFill>
                <a:schemeClr val="accent6"/>
              </a:solidFill>
              <a:latin typeface="Times New Roman"/>
              <a:ea typeface="Times New Roman"/>
              <a:cs typeface="Times New Roman"/>
              <a:sym typeface="Times New Roman"/>
            </a:endParaRPr>
          </a:p>
        </p:txBody>
      </p:sp>
      <p:sp>
        <p:nvSpPr>
          <p:cNvPr id="228" name="Google Shape;228;p26"/>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38100" lIns="85725" spcFirstLastPara="1" rIns="85725" wrap="square" tIns="381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Nắm được định nghĩa Flutter và lịch sử phát triển.</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Mô tả được kiến trúc 3 lớp: Framework → Engine → Embedder.</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Nhận biết các ưu điểm của Flutter so với các khung làm việc khác.</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Hiểu các khái niệm cơ bản về ngôn ngữ Dart và vai trò của nó trong Flutter.</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Thiết lập và làm chủ các môi trường phát triển: DartPad, VS Code, Android Studio.</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Cài đặt Flutter SDK và kiểm tra hệ thống bằng lệnh flutter doctor.</a:t>
            </a:r>
            <a:endParaRPr b="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lang="en-US" sz="2400">
                <a:solidFill>
                  <a:srgbClr val="000000"/>
                </a:solidFill>
                <a:latin typeface="Times New Roman"/>
                <a:ea typeface="Times New Roman"/>
                <a:cs typeface="Times New Roman"/>
                <a:sym typeface="Times New Roman"/>
              </a:rPr>
              <a:t>Tạo và thực thi thành công ứng dụng "Hello World" đầu tiên trên 3 nền tảng.</a:t>
            </a:r>
            <a:endParaRPr b="0" sz="2400">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27"/>
          <p:cNvSpPr txBox="1"/>
          <p:nvPr>
            <p:ph idx="4294967295" type="title"/>
          </p:nvPr>
        </p:nvSpPr>
        <p:spPr>
          <a:xfrm>
            <a:off x="1059180" y="81280"/>
            <a:ext cx="10972800" cy="818515"/>
          </a:xfrm>
          <a:prstGeom prst="rect">
            <a:avLst/>
          </a:prstGeom>
          <a:solidFill>
            <a:srgbClr val="000000">
              <a:alpha val="0"/>
            </a:srgbClr>
          </a:solidFill>
          <a:ln>
            <a:noFill/>
          </a:ln>
        </p:spPr>
        <p:txBody>
          <a:bodyPr anchorCtr="0" anchor="ctr" bIns="45700" lIns="91400" spcFirstLastPara="1" rIns="91400" wrap="square" tIns="45700">
            <a:noAutofit/>
          </a:bodyPr>
          <a:lstStyle/>
          <a:p>
            <a:pPr indent="0" lvl="0" marL="0" rtl="0" algn="ctr">
              <a:lnSpc>
                <a:spcPct val="100000"/>
              </a:lnSpc>
              <a:spcBef>
                <a:spcPts val="0"/>
              </a:spcBef>
              <a:spcAft>
                <a:spcPts val="0"/>
              </a:spcAft>
              <a:buSzPts val="3200"/>
              <a:buNone/>
            </a:pPr>
            <a:r>
              <a:rPr b="1" i="0" lang="en-US" sz="3200">
                <a:solidFill>
                  <a:schemeClr val="accent6"/>
                </a:solidFill>
                <a:latin typeface="Times New Roman"/>
                <a:ea typeface="Times New Roman"/>
                <a:cs typeface="Times New Roman"/>
                <a:sym typeface="Times New Roman"/>
              </a:rPr>
              <a:t>Tài liệu tham khảo</a:t>
            </a:r>
            <a:endParaRPr b="1" i="0" sz="3200">
              <a:solidFill>
                <a:schemeClr val="accent6"/>
              </a:solidFill>
              <a:latin typeface="Times New Roman"/>
              <a:ea typeface="Times New Roman"/>
              <a:cs typeface="Times New Roman"/>
              <a:sym typeface="Times New Roman"/>
            </a:endParaRPr>
          </a:p>
        </p:txBody>
      </p:sp>
      <p:sp>
        <p:nvSpPr>
          <p:cNvPr id="235" name="Google Shape;235;p27"/>
          <p:cNvSpPr txBox="1"/>
          <p:nvPr>
            <p:ph idx="1" type="body"/>
          </p:nvPr>
        </p:nvSpPr>
        <p:spPr>
          <a:xfrm>
            <a:off x="681997" y="1348371"/>
            <a:ext cx="11090638" cy="4435944"/>
          </a:xfrm>
          <a:prstGeom prst="rect">
            <a:avLst/>
          </a:prstGeom>
          <a:solidFill>
            <a:srgbClr val="000000">
              <a:alpha val="0"/>
            </a:srgbClr>
          </a:solidFill>
          <a:ln>
            <a:noFill/>
          </a:ln>
        </p:spPr>
        <p:txBody>
          <a:bodyPr anchorCtr="0" anchor="t" bIns="45700" lIns="91400" spcFirstLastPara="1" rIns="91400" wrap="square" tIns="45700">
            <a:noAutofit/>
          </a:bodyPr>
          <a:lstStyle/>
          <a:p>
            <a:pPr indent="-381000" lvl="0" marL="457200" rtl="0" algn="l">
              <a:lnSpc>
                <a:spcPct val="100000"/>
              </a:lnSpc>
              <a:spcBef>
                <a:spcPts val="45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Mastering Flutter 2025 – Chương 1</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Trang tài liệu chính thức: docs.flutter.dev</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Trình soạn thảo trực tuyến: </a:t>
            </a:r>
            <a:r>
              <a:rPr b="1" i="0" lang="en-US" sz="2400" u="sng">
                <a:solidFill>
                  <a:srgbClr val="0000FF"/>
                </a:solidFill>
                <a:latin typeface="Times New Roman"/>
                <a:ea typeface="Times New Roman"/>
                <a:cs typeface="Times New Roman"/>
                <a:sym typeface="Times New Roman"/>
                <a:hlinkClick r:id="rId3">
                  <a:extLst>
                    <a:ext uri="{A12FA001-AC4F-418D-AE19-62706E023703}">
                      <ahyp:hlinkClr val="tx"/>
                    </a:ext>
                  </a:extLst>
                </a:hlinkClick>
              </a:rPr>
              <a:t>https://dartpad.dev</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Hướng dẫn ngôn ngữ Dart: dart.dev/guides</a:t>
            </a:r>
            <a:endParaRPr b="0" i="0" sz="2400">
              <a:solidFill>
                <a:srgbClr val="000000"/>
              </a:solidFill>
              <a:latin typeface="Times New Roman"/>
              <a:ea typeface="Times New Roman"/>
              <a:cs typeface="Times New Roman"/>
              <a:sym typeface="Times New Roman"/>
            </a:endParaRPr>
          </a:p>
          <a:p>
            <a:pPr indent="-381000" lvl="0" marL="457200" rtl="0" algn="l">
              <a:lnSpc>
                <a:spcPct val="100000"/>
              </a:lnSpc>
              <a:spcBef>
                <a:spcPts val="900"/>
              </a:spcBef>
              <a:spcAft>
                <a:spcPts val="450"/>
              </a:spcAft>
              <a:buClr>
                <a:srgbClr val="000000"/>
              </a:buClr>
              <a:buSzPts val="2400"/>
              <a:buFont typeface="Times New Roman"/>
              <a:buChar char="●"/>
            </a:pPr>
            <a:r>
              <a:rPr b="0" i="0" lang="en-US" sz="2400">
                <a:solidFill>
                  <a:srgbClr val="000000"/>
                </a:solidFill>
                <a:latin typeface="Times New Roman"/>
                <a:ea typeface="Times New Roman"/>
                <a:cs typeface="Times New Roman"/>
                <a:sym typeface="Times New Roman"/>
              </a:rPr>
              <a:t>Mã nguồn mở Flutter: github.com/flutter/flutter</a:t>
            </a:r>
            <a:endParaRPr b="0" i="0" sz="240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2026-07-30T13:04:41Z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E4CA5776E99C9E27E2476B6AF0C578D4_42</vt:lpwstr>
  </property>
  <property fmtid="{D5CDD505-2E9C-101B-9397-08002B2CF9AE}" pid="3" name="KSOProductBuildVer">
    <vt:lpwstr>1033-12.1.25898.25898</vt:lpwstr>
  </property>
</Properties>
</file>