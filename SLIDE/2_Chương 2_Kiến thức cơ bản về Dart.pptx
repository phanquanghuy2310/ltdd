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88825" cy="6858000"/>
  <p:notesSz cx="6858000" cy="9144000"/>
  <p:embeddedFontLst>
    <p:embeddedFont>
      <p:font typeface="Open Sans"/>
      <p:regular r:id="rId34"/>
    </p:embeddedFont>
    <p:embeddedFont>
      <p:font typeface="Quattrocento Sans" panose="020B0502050000020003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A65099-EFF1-4D5B-AACB-CE9E682514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27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Use DartPad to run; stress semicolons and entry point.</a:t>
            </a:r>
            <a:endParaRPr lang="en-US" sz="1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13" name="Google Shape;113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Ask students to explain: when to choose final vs const.</a:t>
            </a:r>
            <a:endParaRPr lang="en-US" sz="1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44" name="Google Shape;144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Remind: string methods like .length, .toUpperCase().</a:t>
            </a:r>
            <a:endParaRPr lang="en-US" sz="1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52" name="Google Shape;152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Explain set uniqueness; discuss map access &amp; missing keys.</a:t>
            </a:r>
            <a:endParaRPr lang="en-US" sz="1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61" name="Google Shape;161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lang="en-US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 lang="en-US"/>
          </a:p>
        </p:txBody>
      </p:sp>
      <p:sp>
        <p:nvSpPr>
          <p:cNvPr id="186" name="Google Shape;186;p1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1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1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1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1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null</a:t>
            </a:r>
            <a:endParaRPr lang="en-US" sz="120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Guest</a:t>
            </a:r>
            <a:endParaRPr lang="en-US" sz="120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4</a:t>
            </a:r>
            <a:endParaRPr lang="en-US" sz="120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232" name="Google Shape;232;p1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2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[2, 4, 6, 8, 10]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[2, 4]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[6, 8, 10]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[Item 1, Item 2, Item 3, Item 4, Item 5]</a:t>
            </a:r>
            <a:endParaRPr lang="en-US"/>
          </a:p>
        </p:txBody>
      </p:sp>
      <p:sp>
        <p:nvSpPr>
          <p:cNvPr id="241" name="Google Shape;241;p2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2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Argument error: Must be &gt;= 0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Done parsing.</a:t>
            </a:r>
            <a:endParaRPr lang="en-US"/>
          </a:p>
        </p:txBody>
      </p:sp>
      <p:sp>
        <p:nvSpPr>
          <p:cNvPr id="249" name="Google Shape;249;p2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Discuss event loop and microtasks briefly.</a:t>
            </a:r>
            <a:endParaRPr lang="en-US" sz="120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57" name="Google Shape;257;p2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2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2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</a:t>
            </a:r>
            <a:b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Binh</a:t>
            </a:r>
            <a:endParaRPr lang="en-US" sz="1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2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2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Pitfalls: </a:t>
            </a:r>
            <a:r>
              <a:rPr lang="en-US" sz="120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Forgetting semicolons , Ignoring null-safety warnings, Mixing sync/async incorrectly</a:t>
            </a:r>
            <a:endParaRPr lang="en-US" sz="120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Prefer final over var when possible, Type your variables, Handle nulls with ??, Use async/await instead of callbacks</a:t>
            </a:r>
            <a:endParaRPr lang="en-US" sz="120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2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8" name="Google Shape;288;p2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(g3f5f4a3e2e2_113_0)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34834" y="508000"/>
            <a:ext cx="10969943" cy="81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body" idx="1"/>
          </p:nvPr>
        </p:nvSpPr>
        <p:spPr>
          <a:xfrm>
            <a:off x="609708" y="1600730"/>
            <a:ext cx="10969414" cy="452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46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32"/>
              <a:buChar char="•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»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 (g3f5f4a3e2e2_87_0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34834" y="508000"/>
            <a:ext cx="10969943" cy="81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body" idx="1"/>
          </p:nvPr>
        </p:nvSpPr>
        <p:spPr>
          <a:xfrm>
            <a:off x="609708" y="1600730"/>
            <a:ext cx="10969414" cy="452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46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32"/>
              <a:buChar char="•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»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614170"/>
            <a:ext cx="12188825" cy="2987040"/>
          </a:xfrm>
          <a:prstGeom prst="rect">
            <a:avLst/>
          </a:prstGeom>
          <a:solidFill>
            <a:srgbClr val="282A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Google Shape;29;p4"/>
          <p:cNvSpPr txBox="1"/>
          <p:nvPr>
            <p:ph type="ctrTitle"/>
          </p:nvPr>
        </p:nvSpPr>
        <p:spPr>
          <a:xfrm>
            <a:off x="1897709" y="2193927"/>
            <a:ext cx="8392514" cy="1827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530">
                <a:solidFill>
                  <a:schemeClr val="accent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1884372" y="4053205"/>
            <a:ext cx="840521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85"/>
              </a:spcBef>
              <a:spcAft>
                <a:spcPts val="0"/>
              </a:spcAft>
              <a:buClr>
                <a:schemeClr val="lt1"/>
              </a:buClr>
              <a:buSzPts val="2932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5"/>
              </a:spcBef>
              <a:spcAft>
                <a:spcPts val="0"/>
              </a:spcAft>
              <a:buClr>
                <a:srgbClr val="888888"/>
              </a:buClr>
              <a:buSzPts val="2666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u="sng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7" name="Google Shape;47;p1" title="Slide template-15.png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634365" y="212090"/>
            <a:ext cx="3042285" cy="1113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Google Shape;116;p5" title="Slide template-05.jpg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-5080"/>
            <a:ext cx="12188825" cy="105537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title"/>
          </p:nvPr>
        </p:nvSpPr>
        <p:spPr>
          <a:xfrm>
            <a:off x="2139950" y="113665"/>
            <a:ext cx="8242300" cy="81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type="body" idx="1"/>
          </p:nvPr>
        </p:nvSpPr>
        <p:spPr>
          <a:xfrm>
            <a:off x="609708" y="1600730"/>
            <a:ext cx="10969414" cy="452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146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32"/>
              <a:buChar char="•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»"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609708" y="275167"/>
            <a:ext cx="1096941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type="body" idx="1"/>
          </p:nvPr>
        </p:nvSpPr>
        <p:spPr>
          <a:xfrm>
            <a:off x="609441" y="1600202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654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732"/>
              <a:buChar char="•"/>
              <a:defRPr sz="373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9"/>
              <a:buChar char="–"/>
              <a:defRPr sz="3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 sz="2665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81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99"/>
              <a:buChar char="–"/>
              <a:defRPr sz="24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81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99"/>
              <a:buChar char="»"/>
              <a:defRPr sz="24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81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9pPr>
          </a:lstStyle>
          <a:p/>
        </p:txBody>
      </p:sp>
      <p:sp>
        <p:nvSpPr>
          <p:cNvPr id="45" name="Google Shape;45;p6"/>
          <p:cNvSpPr txBox="1"/>
          <p:nvPr>
            <p:ph type="body" idx="2"/>
          </p:nvPr>
        </p:nvSpPr>
        <p:spPr>
          <a:xfrm>
            <a:off x="6195986" y="1600202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654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732"/>
              <a:buChar char="•"/>
              <a:defRPr sz="373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9"/>
              <a:buChar char="–"/>
              <a:defRPr sz="3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 sz="2665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81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99"/>
              <a:buChar char="–"/>
              <a:defRPr sz="24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81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99"/>
              <a:buChar char="»"/>
              <a:defRPr sz="24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81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9pPr>
          </a:lstStyle>
          <a:p/>
        </p:txBody>
      </p:sp>
      <p:sp>
        <p:nvSpPr>
          <p:cNvPr id="46" name="Google Shape;46;p6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708" y="275167"/>
            <a:ext cx="1096941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type="body" idx="1"/>
          </p:nvPr>
        </p:nvSpPr>
        <p:spPr>
          <a:xfrm>
            <a:off x="609442" y="1535114"/>
            <a:ext cx="5385514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99"/>
              <a:buNone/>
              <a:defRPr sz="32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228600" algn="l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None/>
              <a:defRPr sz="2665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400" b="1"/>
            </a:lvl3pPr>
            <a:lvl4pPr marL="1828800" lvl="3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4pPr>
            <a:lvl5pPr marL="2286000" lvl="4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5pPr>
            <a:lvl6pPr marL="2743200" lvl="5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6pPr>
            <a:lvl7pPr marL="3200400" lvl="6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7pPr>
            <a:lvl8pPr marL="3657600" lvl="7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8pPr>
            <a:lvl9pPr marL="4114800" lvl="8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9pPr>
          </a:lstStyle>
          <a:p/>
        </p:txBody>
      </p:sp>
      <p:sp>
        <p:nvSpPr>
          <p:cNvPr id="52" name="Google Shape;52;p7"/>
          <p:cNvSpPr txBox="1"/>
          <p:nvPr>
            <p:ph type="body" idx="2"/>
          </p:nvPr>
        </p:nvSpPr>
        <p:spPr>
          <a:xfrm>
            <a:off x="609442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9"/>
              <a:buChar char="•"/>
              <a:defRPr sz="3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 sz="2665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81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638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32"/>
              <a:buChar char="–"/>
              <a:defRPr sz="213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638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32"/>
              <a:buChar char="»"/>
              <a:defRPr sz="213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638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32"/>
              <a:buChar char="•"/>
              <a:defRPr sz="2130"/>
            </a:lvl6pPr>
            <a:lvl7pPr marL="3200400" lvl="6" indent="-363855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Char char="•"/>
              <a:defRPr sz="2130"/>
            </a:lvl7pPr>
            <a:lvl8pPr marL="3657600" lvl="7" indent="-363855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Char char="•"/>
              <a:defRPr sz="2130"/>
            </a:lvl8pPr>
            <a:lvl9pPr marL="4114800" lvl="8" indent="-363855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Char char="•"/>
              <a:defRPr sz="2130"/>
            </a:lvl9pPr>
          </a:lstStyle>
          <a:p/>
        </p:txBody>
      </p:sp>
      <p:sp>
        <p:nvSpPr>
          <p:cNvPr id="53" name="Google Shape;53;p7"/>
          <p:cNvSpPr txBox="1"/>
          <p:nvPr>
            <p:ph type="body" idx="3"/>
          </p:nvPr>
        </p:nvSpPr>
        <p:spPr>
          <a:xfrm>
            <a:off x="6191757" y="1535114"/>
            <a:ext cx="5387630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99"/>
              <a:buNone/>
              <a:defRPr sz="32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228600" algn="l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None/>
              <a:defRPr sz="2665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400" b="1"/>
            </a:lvl3pPr>
            <a:lvl4pPr marL="1828800" lvl="3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4pPr>
            <a:lvl5pPr marL="2286000" lvl="4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5pPr>
            <a:lvl6pPr marL="2743200" lvl="5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6pPr>
            <a:lvl7pPr marL="3200400" lvl="6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7pPr>
            <a:lvl8pPr marL="3657600" lvl="7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8pPr>
            <a:lvl9pPr marL="4114800" lvl="8" indent="-228600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None/>
              <a:defRPr sz="2130" b="1"/>
            </a:lvl9pPr>
          </a:lstStyle>
          <a:p/>
        </p:txBody>
      </p:sp>
      <p:sp>
        <p:nvSpPr>
          <p:cNvPr id="54" name="Google Shape;54;p7"/>
          <p:cNvSpPr txBox="1"/>
          <p:nvPr>
            <p:ph type="body" idx="4"/>
          </p:nvPr>
        </p:nvSpPr>
        <p:spPr>
          <a:xfrm>
            <a:off x="6191757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199"/>
              <a:buChar char="•"/>
              <a:defRPr sz="3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 sz="2665"/>
            </a:lvl2pPr>
            <a:lvl3pPr marL="1371600" lvl="2" indent="-381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99"/>
              <a:buChar char="•"/>
              <a:defRPr sz="2400"/>
            </a:lvl3pPr>
            <a:lvl4pPr marL="1828800" lvl="3" indent="-3638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32"/>
              <a:buChar char="–"/>
              <a:defRPr sz="2130"/>
            </a:lvl4pPr>
            <a:lvl5pPr marL="2286000" lvl="4" indent="-3638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32"/>
              <a:buChar char="»"/>
              <a:defRPr sz="2130"/>
            </a:lvl5pPr>
            <a:lvl6pPr marL="2743200" lvl="5" indent="-3638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32"/>
              <a:buChar char="•"/>
              <a:defRPr sz="2130"/>
            </a:lvl6pPr>
            <a:lvl7pPr marL="3200400" lvl="6" indent="-363855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Char char="•"/>
              <a:defRPr sz="2130"/>
            </a:lvl7pPr>
            <a:lvl8pPr marL="3657600" lvl="7" indent="-363855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Char char="•"/>
              <a:defRPr sz="2130"/>
            </a:lvl8pPr>
            <a:lvl9pPr marL="4114800" lvl="8" indent="-363855" algn="l"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132"/>
              <a:buChar char="•"/>
              <a:defRPr sz="2130"/>
            </a:lvl9pPr>
          </a:lstStyle>
          <a:p/>
        </p:txBody>
      </p:sp>
      <p:sp>
        <p:nvSpPr>
          <p:cNvPr id="55" name="Google Shape;55;p7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609708" y="275167"/>
            <a:ext cx="1096941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609444" y="273050"/>
            <a:ext cx="4010039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5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type="body" idx="1"/>
          </p:nvPr>
        </p:nvSpPr>
        <p:spPr>
          <a:xfrm>
            <a:off x="4765492" y="273053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99745" algn="l">
              <a:spcBef>
                <a:spcPts val="855"/>
              </a:spcBef>
              <a:spcAft>
                <a:spcPts val="0"/>
              </a:spcAft>
              <a:buClr>
                <a:schemeClr val="dk1"/>
              </a:buClr>
              <a:buSzPts val="4266"/>
              <a:buChar char="•"/>
              <a:defRPr sz="4265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46545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732"/>
              <a:buChar char="–"/>
              <a:defRPr sz="373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9"/>
              <a:buChar char="•"/>
              <a:defRPr sz="3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–"/>
              <a:defRPr sz="2665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»"/>
              <a:defRPr sz="2665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98145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 sz="2665"/>
            </a:lvl6pPr>
            <a:lvl7pPr marL="3200400" lvl="6" indent="-398145" algn="l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 sz="2665"/>
            </a:lvl7pPr>
            <a:lvl8pPr marL="3657600" lvl="7" indent="-398145" algn="l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 sz="2665"/>
            </a:lvl8pPr>
            <a:lvl9pPr marL="4114800" lvl="8" indent="-398145" algn="l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Char char="•"/>
              <a:defRPr sz="2665"/>
            </a:lvl9pPr>
          </a:lstStyle>
          <a:p/>
        </p:txBody>
      </p:sp>
      <p:sp>
        <p:nvSpPr>
          <p:cNvPr id="70" name="Google Shape;70;p10"/>
          <p:cNvSpPr txBox="1"/>
          <p:nvPr>
            <p:ph type="body" idx="2"/>
          </p:nvPr>
        </p:nvSpPr>
        <p:spPr>
          <a:xfrm>
            <a:off x="609444" y="1435103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66"/>
              <a:buNone/>
              <a:defRPr sz="1865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5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5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0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2389095" y="4800601"/>
            <a:ext cx="7313295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5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/>
          <p:nvPr>
            <p:ph type="pic" idx="2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type="body" idx="1"/>
          </p:nvPr>
        </p:nvSpPr>
        <p:spPr>
          <a:xfrm>
            <a:off x="2389095" y="5367339"/>
            <a:ext cx="7313295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66"/>
              <a:buNone/>
              <a:defRPr sz="1865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5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5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8" name="Google Shape;78;p11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609708" y="275167"/>
            <a:ext cx="1096941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type="body" idx="1"/>
          </p:nvPr>
        </p:nvSpPr>
        <p:spPr>
          <a:xfrm rot="5400000">
            <a:off x="3831566" y="-1621128"/>
            <a:ext cx="4525699" cy="10969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 rot="5400000">
            <a:off x="7282379" y="1829160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type="body" idx="1"/>
          </p:nvPr>
        </p:nvSpPr>
        <p:spPr>
          <a:xfrm rot="5400000">
            <a:off x="1695834" y="-811753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708" y="275167"/>
            <a:ext cx="1096941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730" b="1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609708" y="1600730"/>
            <a:ext cx="10969414" cy="452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4655" algn="l" rtl="0">
              <a:spcBef>
                <a:spcPts val="585"/>
              </a:spcBef>
              <a:spcAft>
                <a:spcPts val="0"/>
              </a:spcAft>
              <a:buClr>
                <a:schemeClr val="dk1"/>
              </a:buClr>
              <a:buSzPts val="2932"/>
              <a:buFont typeface="Arial" panose="020B0604020202090204"/>
              <a:buChar char="•"/>
              <a:defRPr sz="293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98145" algn="l" rtl="0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 panose="020B0604020202090204"/>
              <a:buChar char="–"/>
              <a:defRPr sz="2665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98145" algn="l" rtl="0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 panose="020B0604020202090204"/>
              <a:buChar char="•"/>
              <a:defRPr sz="2665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98145" algn="l" rtl="0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 panose="020B0604020202090204"/>
              <a:buChar char="–"/>
              <a:defRPr sz="2665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98145" algn="l" rtl="0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 panose="020B0604020202090204"/>
              <a:buChar char="»"/>
              <a:defRPr sz="2665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98145" algn="l" rtl="0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 panose="020B0604020202090204"/>
              <a:buChar char="•"/>
              <a:defRPr sz="2665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6pPr>
            <a:lvl7pPr marL="3200400" marR="0" lvl="6" indent="-398145" algn="l" rtl="0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 panose="020B0604020202090204"/>
              <a:buChar char="•"/>
              <a:defRPr sz="2665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7pPr>
            <a:lvl8pPr marL="3657600" marR="0" lvl="7" indent="-398145" algn="l" rtl="0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 panose="020B0604020202090204"/>
              <a:buChar char="•"/>
              <a:defRPr sz="2665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8pPr>
            <a:lvl9pPr marL="4114800" marR="0" lvl="8" indent="-398145" algn="l" rtl="0"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 panose="020B0604020202090204"/>
              <a:buChar char="•"/>
              <a:defRPr sz="2665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dt" idx="10"/>
          </p:nvPr>
        </p:nvSpPr>
        <p:spPr>
          <a:xfrm>
            <a:off x="9712970" y="6350001"/>
            <a:ext cx="1142702" cy="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ftr" idx="11"/>
          </p:nvPr>
        </p:nvSpPr>
        <p:spPr>
          <a:xfrm>
            <a:off x="634837" y="6350001"/>
            <a:ext cx="385926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sng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sldNum" idx="12"/>
          </p:nvPr>
        </p:nvSpPr>
        <p:spPr>
          <a:xfrm>
            <a:off x="11046124" y="6350002"/>
            <a:ext cx="596481" cy="31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30" b="1" i="0">
                <a:solidFill>
                  <a:schemeClr val="accent6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Kiến thức cốt lõi về Dart</a:t>
            </a:r>
            <a:endParaRPr lang="en-US" sz="4530" b="1" i="0">
              <a:solidFill>
                <a:schemeClr val="accent6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r>
              <a:rPr lang="vi-VN" altLang="en-US"/>
              <a:t>ThS. Nguyễn Hoàng </a:t>
            </a:r>
            <a:r>
              <a:rPr lang="vi-VN" altLang="en-US"/>
              <a:t>Anh</a:t>
            </a:r>
            <a:endParaRPr lang="vi-V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Nội dung chính</a:t>
            </a:r>
            <a:endParaRPr lang="en-US" sz="4000" b="1" i="0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3" name="Google Shape;103;p15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Cấu trúc chương trình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Kiểu dữ liệu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Biến và quản lý bộ nhớ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tập hợp (Collections)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Luồng điều khiển (Control Flow)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Lập trình hướng đối tượng (OOP)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An toàn con trỏ rỗng (Null Safety)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Lập trình bất đồng bộ (Async)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Dart là gì?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09" name="Google Shape;109;p16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Khái niệm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814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Times New Roman" panose="02020503050405090304"/>
              <a:buChar char="●"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Dart là ngôn ngữ lập trình tối ưu cho client, dựa trên lớp (class-based) do Google phát triển.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điểm chính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814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Times New Roman" panose="02020503050405090304"/>
              <a:buChar char="●"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Được thiết kế chuyên biệt cho các framework UI (Flutter)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814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Times New Roman" panose="02020503050405090304"/>
              <a:buChar char="●"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Đa nền tảng: ứng dụng di động (iOS/Android), web và máy tính bàn (desktop)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814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Times New Roman" panose="02020503050405090304"/>
              <a:buChar char="●"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Phát triển nhanh chóng: cơ chế biên dịch JIT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814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Times New Roman" panose="02020503050405090304"/>
              <a:buChar char="●"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Hiệu năng tối ưu khi phát hành: cơ chế biên dịch AOT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814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40"/>
              <a:buFont typeface="Times New Roman" panose="02020503050405090304"/>
              <a:buChar char="●"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Mô hình lập trình bất đồng bộ hiện đại (Futures, async/await, Streams)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4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Ghi chú: So sánh mối liên hệ giữa Dart, JavaScript và Kotlin để sinh viên dễ hình dung.</a:t>
            </a:r>
            <a:endParaRPr sz="204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Cấu trúc chương trình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16" name="Google Shape;116;p17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Mọi chương trình Dart đều bắt đầu chạy từ hàm main().</a:t>
            </a:r>
            <a:endParaRPr sz="24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Hàm print() dùng để xuất một dòng dữ liệu ra màn hình console.</a:t>
            </a:r>
            <a:endParaRPr sz="24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2352339" y="2987357"/>
            <a:ext cx="6498584" cy="156966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main() {</a:t>
            </a:r>
            <a:br>
              <a:rPr lang="en-US" sz="2000" b="0" i="0" u="none" strike="noStrike" cap="non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20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  print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"Hello Dart"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548640" y="4937760"/>
            <a:ext cx="18036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🡪 Hello Dart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18"/>
          <p:cNvGraphicFramePr/>
          <p:nvPr/>
        </p:nvGraphicFramePr>
        <p:xfrm>
          <a:off x="1613849" y="1143000"/>
          <a:ext cx="8961125" cy="5191900"/>
        </p:xfrm>
        <a:graphic>
          <a:graphicData uri="http://schemas.openxmlformats.org/drawingml/2006/table">
            <a:tbl>
              <a:tblPr>
                <a:noFill/>
                <a:tableStyleId>{18A65099-EFF1-4D5B-AACB-CE9E68251447}</a:tableStyleId>
              </a:tblPr>
              <a:tblGrid>
                <a:gridCol w="1750675"/>
                <a:gridCol w="7210450"/>
              </a:tblGrid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highlight>
                            <a:srgbClr val="4F81BD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Kiểu dữ liệu</a:t>
                      </a:r>
                      <a:endParaRPr sz="2400" b="1" i="0">
                        <a:solidFill>
                          <a:srgbClr val="FFFFFF"/>
                        </a:solidFill>
                        <a:highlight>
                          <a:srgbClr val="4F81BD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highlight>
                            <a:srgbClr val="4F81BD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Mô tả</a:t>
                      </a:r>
                      <a:endParaRPr sz="2400" b="1" i="0">
                        <a:solidFill>
                          <a:srgbClr val="FFFFFF"/>
                        </a:solidFill>
                        <a:highlight>
                          <a:srgbClr val="4F81BD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81BD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Numbers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int (số nguyên), double (số thực)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String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Chuỗi ký tự đặt trong dấu ngoặc đơn hoặc ngoặc kép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bool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Giá trị kiểu luận lý: true hoặc false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List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Tập hợp các phần tử có thứ tự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Set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Tập hợp các phần tử </a:t>
                      </a:r>
                      <a:r>
                        <a:rPr lang="en-US" sz="2000" b="1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duy nhất (không trùng lặp)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 và không thứ tự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Map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Các cặp Khóa – Giá trị (key–value)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null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Đại diện cho sự vắng mặt của giá trị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Object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Lớp cơ sở (base class) cho tất cả đối tượng trong Dart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enum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Danh sách cố định các giá trị hằng số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Iterable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Kiểu tập hợp trừu tượng sử dụng trong vòng lặp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Never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Dành cho các hàm không bao giờ trả về (luôn ném ra lỗi)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Dynamic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Có thể chứa bất kỳ kiểu dữ liệu nào; xác định tại runtime</a:t>
                      </a:r>
                      <a:endParaRPr sz="2000" b="0" i="0">
                        <a:solidFill>
                          <a:srgbClr val="000000"/>
                        </a:solidFill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Void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  <a:latin typeface="Times New Roman" panose="02020503050405090304"/>
                          <a:ea typeface="Times New Roman" panose="02020503050405090304"/>
                          <a:cs typeface="Times New Roman" panose="02020503050405090304"/>
                          <a:sym typeface="Times New Roman" panose="02020503050405090304"/>
                        </a:rPr>
                        <a:t>Biểu thị hàm không có giá trị trả về</a:t>
                      </a:r>
                      <a:endParaRPr sz="2000" b="0" i="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  <a:latin typeface="Times New Roman" panose="02020503050405090304"/>
                        <a:ea typeface="Times New Roman" panose="02020503050405090304"/>
                        <a:cs typeface="Times New Roman" panose="02020503050405090304"/>
                        <a:sym typeface="Times New Roman" panose="02020503050405090304"/>
                      </a:endParaRPr>
                    </a:p>
                  </a:txBody>
                  <a:tcPr marL="91450" marR="91450" marT="45700" marB="45700">
                    <a:lnL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25;p18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kiểu dữ liệu</a:t>
            </a:r>
            <a:endParaRPr lang="en-US" sz="3400" b="1" i="0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Cơ bản về các kiểu dữ liệu</a:t>
            </a:r>
            <a:endParaRPr lang="en-US" sz="3400" b="1" i="0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32" name="Google Shape;132;p19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kiểu dữ liệu cốt lõi: int, double, String, bool, List, Set, Map</a:t>
            </a:r>
            <a:endParaRPr sz="24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Định kiểu chặt chẽ (Strong typing) với Generics (List&lt;int&gt;, Map&lt;String, int&gt;)</a:t>
            </a:r>
            <a:endParaRPr sz="240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2001520" y="3200400"/>
            <a:ext cx="6438265" cy="1936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age = 20;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gpa = 3.75;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vi-VN" alt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Branch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vi-VN" alt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Học Viện Ngân Hàng Hà Nội 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pass = true;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3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toán tử trong Dart</a:t>
            </a:r>
            <a:endParaRPr lang="en-US" sz="3730" b="1" i="0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39" name="Google Shape;139;p20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Khái niệm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Toán tử cho phép thực hiện các phép tính số học, so sánh và logic.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Chi tiết các toán tử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Số học: + - * / %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So sánh: &gt; &lt; &gt;= &lt;= ==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Logic: &amp;&amp; || !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400" b="1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497330" y="4788984"/>
            <a:ext cx="5350828" cy="1697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Khai báo biến &amp; Khái niệm bộ nhớ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47" name="Google Shape;147;p21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var = tự suy luận kiểu dữ liệu, dynamic = xác định kiểu tại thời điểm thực thi (runtime).</a:t>
            </a:r>
            <a:endParaRPr sz="24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final = hằng số runtime (chỉ được gán giá trị duy nhất một lần).</a:t>
            </a:r>
            <a:endParaRPr sz="24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const = hằng số biên dịch (compile-time constant).</a:t>
            </a:r>
            <a:endParaRPr sz="24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2175510" y="3376246"/>
            <a:ext cx="6687136" cy="19367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name = 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vi-VN" alt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Học viện Ngân Hàng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year = 202</a:t>
            </a:r>
            <a:r>
              <a:rPr lang="vi-VN" alt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pi = 3.14159;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dynamic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x = 10; x = 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325" tIns="45600" rIns="91325" bIns="45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Chuỗi ký tự &amp; Nội suy chuỗi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55" name="Google Shape;155;p22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325" tIns="45600" rIns="91325" bIns="45600" anchor="t" anchorCtr="0">
            <a:noAutofit/>
          </a:bodyPr>
          <a:lstStyle/>
          <a:p>
            <a:pPr marL="457200" lvl="0" indent="-36830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Quattrocento Sans" panose="020B0502050000020003"/>
              <a:buChar char="●"/>
            </a:pPr>
            <a:r>
              <a:rPr lang="en-US" sz="22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Sử dụng $tên_biến hoặc ${biểu_thức} để chèn (nội suy) giá trị vào bên trong chuỗi.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1912375" y="2431644"/>
            <a:ext cx="6692363" cy="175196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name = 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vi-VN" alt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Học viên Ngân Hàng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"Hello $name"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"Length: ${name.length}"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1185545" y="4937760"/>
            <a:ext cx="926211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Hello </a:t>
            </a:r>
            <a:r>
              <a:rPr lang="vi-VN" alt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Học viện Ngân </a:t>
            </a:r>
            <a:r>
              <a:rPr lang="vi-VN" alt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Hàng </a:t>
            </a:r>
            <a:endParaRPr lang="vi-VN" alt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Length: 16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tập hợp (List, Set, Map)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64" name="Google Shape;164;p23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8890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 panose="020B0502050000020003"/>
              <a:buNone/>
            </a:pPr>
            <a:r>
              <a:rPr lang="en-US" sz="22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List: có thứ tự • Set: không trùng lặp • Map: cặp khóa – giá trị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88900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 panose="020B0502050000020003"/>
              <a:buNone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Kết quả in Set s: {1,2,3}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381000" marR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Nam</a:t>
            </a:r>
            <a:endParaRPr sz="22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410652" y="2663250"/>
            <a:ext cx="6725163" cy="188955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List&lt;int&gt;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nums = [1,2,3];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Set&lt;int&gt;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 = {1,2,2,3};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 user = {"id":1, "name":"Nam"};</a:t>
            </a:r>
            <a:endParaRPr lang="en-US" sz="2000">
              <a:solidFill>
                <a:srgbClr val="B455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(user["name"]);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Luồng điều khiển</a:t>
            </a:r>
            <a:r>
              <a:rPr lang="en-US" sz="373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:</a:t>
            </a:r>
            <a: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if / else</a:t>
            </a:r>
            <a:r>
              <a:rPr lang="en-US" sz="373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- switch</a:t>
            </a:r>
            <a:endParaRPr lang="en-US" sz="3730" b="1" i="0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71" name="Google Shape;171;p24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8890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 panose="020B0502050000020003"/>
              <a:buNone/>
            </a:pPr>
            <a:r>
              <a:rPr lang="en-US" sz="22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If/else: Rẽ nhánh điều kiện với các biểu thức logic (boolean).</a:t>
            </a:r>
            <a:endParaRPr sz="22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88900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 panose="020B0502050000020003"/>
              <a:buNone/>
            </a:pPr>
            <a:endParaRPr lang="en-US" sz="22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88900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Quattrocento Sans" panose="020B0502050000020003"/>
              <a:buNone/>
            </a:pPr>
            <a:r>
              <a:rPr lang="en-US" sz="22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Switch: Dễ đọc và rõ ràng hơn so với nhiều câu lệnh if-else khi xử lý các giá trị rời rạc.</a:t>
            </a:r>
            <a:endParaRPr sz="22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2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1946031" y="4571543"/>
            <a:ext cx="6928338" cy="170982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score = 80;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(score &gt;= 50) </a:t>
            </a: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"Pass"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print(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"Fail"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1946031" y="2103160"/>
            <a:ext cx="6928338" cy="18928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day = 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"Mon"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(day) {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case 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"Mon"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"Start"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 break;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default: </a:t>
            </a: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"Other"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vòng lặp</a:t>
            </a:r>
            <a:r>
              <a:rPr lang="en-US" sz="373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: for-in &amp; forEach</a:t>
            </a:r>
            <a:endParaRPr lang="en-US" sz="373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80" name="Google Shape;180;p25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Vòng lặp đếm truyền thống (Classic counted loop)</a:t>
            </a:r>
            <a:endParaRPr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for-in: Lặp qua từng phần tử tập hợp • forEach: Duyệt lặp theo phong cách hàm (functional style)</a:t>
            </a:r>
            <a:endParaRPr sz="24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1770185" y="2151338"/>
            <a:ext cx="6693878" cy="129432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(int i=0; i&lt;3; i++) {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print(i);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1770185" y="4739322"/>
            <a:ext cx="6693878" cy="112120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 x in [1,2,3]) print(x);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[1,2,3].forEach((e)=&gt;</a:t>
            </a: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(e));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2139950" y="113665"/>
            <a:ext cx="8864600" cy="81851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Hàm: Cơ bản &amp; Cú pháp mũi tên </a:t>
            </a:r>
            <a:b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br>
            <a: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(Arrow Syntax)</a:t>
            </a:r>
            <a:endParaRPr lang="en-US" sz="3400" b="1" i="0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89" name="Google Shape;189;p26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Khai báo tham số và kiểu dữ liệu trả về rõ ràng.</a:t>
            </a:r>
            <a:endParaRPr sz="24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en-US" sz="24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en-US" sz="24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en-US" sz="24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lang="en-US" sz="24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sz="24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 </a:t>
            </a:r>
            <a:endParaRPr sz="24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9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Cú pháp rút gọn (=&gt;) cho các hàm chỉ chứa một biểu thức duy nhất.</a:t>
            </a:r>
            <a:endParaRPr sz="24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endParaRPr sz="2400" b="0" i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2567354" y="2081807"/>
            <a:ext cx="6187391" cy="188955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add(int a,int b){</a:t>
            </a:r>
            <a:b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return a+b;</a:t>
            </a:r>
            <a:b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(add(2,3));</a:t>
            </a:r>
            <a:endParaRPr lang="en-US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2567354" y="4907642"/>
            <a:ext cx="6108016" cy="9233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add(int a,int b)=&gt;a+b;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(add(2,3));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85725" tIns="38100" rIns="85725" bIns="38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Hàm — Tham số tùy chọn &amp; Tham số định danh </a:t>
            </a:r>
            <a:endParaRPr lang="en-US" sz="289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197" name="Google Shape;197;p27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85725" tIns="38100" rIns="85725" bIns="38100" anchor="t" anchorCtr="0">
            <a:noAutofit/>
          </a:bodyPr>
          <a:lstStyle/>
          <a:p>
            <a:pPr marL="457200" lvl="0" indent="-3683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r>
              <a:rPr lang="en-US" sz="2200" b="0">
                <a:solidFill>
                  <a:srgbClr val="000000"/>
                </a:solidFill>
                <a:latin typeface="Times New Roman Regular" panose="02020503050405090304" charset="0"/>
                <a:ea typeface="Quattrocento Sans" panose="020B0502050000020003"/>
                <a:cs typeface="Times New Roman Regular" panose="02020503050405090304" charset="0"/>
                <a:sym typeface="Quattrocento Sans" panose="020B0502050000020003"/>
              </a:rPr>
              <a:t>Sử dụng cặp ngoặc {} cho tham số định danh tùy chọn; có thể thiết lập giá trị mặc định.</a:t>
            </a:r>
            <a:endParaRPr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endParaRPr lang="en-US"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endParaRPr lang="en-US"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endParaRPr lang="en-US"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endParaRPr lang="en-US"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  <a:p>
            <a:pPr marL="457200" lvl="0" indent="-3683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r>
              <a:rPr lang="en-US" sz="2200" b="0">
                <a:solidFill>
                  <a:srgbClr val="000000"/>
                </a:solidFill>
                <a:latin typeface="Times New Roman Regular" panose="02020503050405090304" charset="0"/>
                <a:ea typeface="Quattrocento Sans" panose="020B0502050000020003"/>
                <a:cs typeface="Times New Roman Regular" panose="02020503050405090304" charset="0"/>
                <a:sym typeface="Quattrocento Sans" panose="020B0502050000020003"/>
              </a:rPr>
              <a:t>Kết quả: </a:t>
            </a:r>
            <a:r>
              <a:rPr lang="en-US" sz="2400" b="0">
                <a:solidFill>
                  <a:srgbClr val="000000"/>
                </a:solidFill>
                <a:latin typeface="Times New Roman Regular" panose="02020503050405090304" charset="0"/>
                <a:ea typeface="Consolas"/>
                <a:cs typeface="Times New Roman Regular" panose="02020503050405090304" charset="0"/>
                <a:sym typeface="Consolas"/>
              </a:rPr>
              <a:t>Guest</a:t>
            </a:r>
            <a:endParaRPr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1887415" y="2686050"/>
            <a:ext cx="7819293" cy="14773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greet({String name = 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"Guest"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}) { </a:t>
            </a: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(name); }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greet(); // Guest</a:t>
            </a:r>
            <a:br>
              <a:rPr lang="en-US" sz="1800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800">
              <a:solidFill>
                <a:srgbClr val="5A5A5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greet(name: 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"Minh"</a:t>
            </a:r>
            <a:r>
              <a:rPr lang="en-US" sz="1800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); // Minh</a:t>
            </a:r>
            <a:endParaRPr lang="en-US" sz="1800">
              <a:solidFill>
                <a:srgbClr val="5A5A5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3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Giới thiệu Lập trình hướng đối tượng (OOP)</a:t>
            </a:r>
            <a:endParaRPr lang="en-US" sz="373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05" name="Google Shape;205;p28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Khái niệm</a:t>
            </a:r>
            <a:endParaRPr sz="195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24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 panose="02020503050405090304"/>
              <a:buChar char="●"/>
            </a:pPr>
            <a:r>
              <a:rPr lang="en-US" sz="195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Dart hỗ trợ đầy đủ các nguyên lý của lập trình hướng đối tượng (OOP)</a:t>
            </a:r>
            <a:endParaRPr sz="195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khái niệm chính</a:t>
            </a:r>
            <a:endParaRPr sz="195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24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 panose="02020503050405090304"/>
              <a:buChar char="●"/>
            </a:pPr>
            <a:r>
              <a:rPr lang="en-US" sz="195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Lớp / Đối tượng (Class / Object)</a:t>
            </a:r>
            <a:endParaRPr sz="195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24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 panose="02020503050405090304"/>
              <a:buChar char="●"/>
            </a:pPr>
            <a:r>
              <a:rPr lang="en-US" sz="195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Hàm khởi tạo (Constructor)</a:t>
            </a:r>
            <a:endParaRPr sz="195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24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 panose="02020503050405090304"/>
              <a:buChar char="●"/>
            </a:pPr>
            <a:r>
              <a:rPr lang="en-US" sz="195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Tính kế thừa (Inheritance)</a:t>
            </a:r>
            <a:endParaRPr sz="195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24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 panose="02020503050405090304"/>
              <a:buChar char="●"/>
            </a:pPr>
            <a:r>
              <a:rPr lang="en-US" sz="195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Tính đa hình (Polymorphism)</a:t>
            </a:r>
            <a:endParaRPr sz="195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524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Times New Roman" panose="02020503050405090304"/>
              <a:buChar char="●"/>
            </a:pPr>
            <a:r>
              <a:rPr lang="en-US" sz="195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Ghi đè phương thức (Method Override)</a:t>
            </a:r>
            <a:endParaRPr sz="195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9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Ghi chú</a:t>
            </a:r>
            <a:endParaRPr sz="179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9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OOP là nền tảng cốt lõi để xây dựng cây giao diện Widget trong Flutter</a:t>
            </a:r>
            <a:r>
              <a:rPr lang="en-US" sz="91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.</a:t>
            </a:r>
            <a:endParaRPr sz="179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Lớp (Classes) &amp; Đối tượng (Objects)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12" name="Google Shape;212;p29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457200" lvl="0" indent="-3683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503050405090304"/>
              <a:buChar char="●"/>
            </a:pPr>
            <a:r>
              <a:rPr lang="en-US" sz="22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Class định nghĩa khuôn mẫu/cấu trúc; Object là một thể hiện (instance) cụ thể.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 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lang="en-US" sz="24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In ra: Started: Toyota</a:t>
            </a:r>
            <a:endParaRPr sz="22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1430215" y="2300948"/>
            <a:ext cx="7936523" cy="29563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Car {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String brand;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Car(this.brand);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void start(){ </a:t>
            </a: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"Started: $brand"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 }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c = Car(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"Toyota"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c.start();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325" tIns="45600" rIns="91325" bIns="45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Hàm khởi tạo (Constructors) </a:t>
            </a:r>
            <a:b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b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Mặc định &amp; Định danh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19" name="Google Shape;219;p30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325" tIns="45600" rIns="91325" bIns="45600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Quattrocento Sans" panose="020B0502050000020003"/>
              <a:buNone/>
            </a:pPr>
            <a:r>
              <a:rPr lang="en-US" sz="2400" b="0">
                <a:solidFill>
                  <a:srgbClr val="000000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rPr>
              <a:t>Các hàm khởi tạo dạng mặc định (default), định danh (named), và chuyển hướng (redirecting).</a:t>
            </a:r>
            <a:endParaRPr sz="2400" b="0">
              <a:solidFill>
                <a:srgbClr val="000000"/>
              </a:solidFill>
              <a:latin typeface="Quattrocento Sans" panose="020B0502050000020003"/>
              <a:ea typeface="Quattrocento Sans" panose="020B0502050000020003"/>
              <a:cs typeface="Quattrocento Sans" panose="020B0502050000020003"/>
              <a:sym typeface="Quattrocento Sans" panose="020B0502050000020003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1793631" y="2560479"/>
            <a:ext cx="7221416" cy="20313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Point {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int x,y;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Point(this.x,this.y);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Point.origin(): x=0, y=0;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 = Point.origin();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Kế thừa (Inheritance) &amp; Ghi đè (Override)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27" name="Google Shape;227;p31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Dùng từ khóa extends để kế thừa và annotation @override để thay đổi hành vi của phương thức lớp cha.</a:t>
            </a:r>
            <a:endParaRPr sz="24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1465259" y="2570521"/>
            <a:ext cx="7838700" cy="28623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2875" tIns="142875" rIns="142875" bIns="1428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void sound() =&gt; </a:t>
            </a:r>
            <a:r>
              <a:rPr lang="en-US" sz="1550" b="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550" b="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"Some"</a:t>
            </a: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Dog </a:t>
            </a:r>
            <a:r>
              <a:rPr lang="en-US" sz="1550" b="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Animal {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void sound() =&gt; </a:t>
            </a:r>
            <a:r>
              <a:rPr lang="en-US" sz="1550" b="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550" b="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"Woof"</a:t>
            </a: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Dog()..sound();</a:t>
            </a:r>
            <a:endParaRPr sz="1550" b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An toàn con trỏ rỗng (Null Safety) </a:t>
            </a:r>
            <a:b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</a:b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— Các toán tử ?, ??, !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35" name="Google Shape;235;p32"/>
          <p:cNvSpPr txBox="1"/>
          <p:nvPr>
            <p:ph type="body" idx="1"/>
          </p:nvPr>
        </p:nvSpPr>
        <p:spPr>
          <a:xfrm>
            <a:off x="609708" y="1600730"/>
            <a:ext cx="10969414" cy="45256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Dart bắt buộc kiểm tra An toàn con trỏ rỗng (Null Safety) từ thời điểm biên dịch để ngăn ngừa các lỗi tham chiếu null (Null Pointer Exceptions).</a:t>
            </a:r>
            <a:endParaRPr sz="24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81000" algn="l" rtl="0">
              <a:spcBef>
                <a:spcPts val="90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Times New Roman" panose="02020503050405090304"/>
              <a:buChar char="●"/>
            </a:pPr>
            <a:r>
              <a:rPr lang="en-US" sz="24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Ví dụ minh họa:</a:t>
            </a:r>
            <a:endParaRPr sz="2400" b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pic>
        <p:nvPicPr>
          <p:cNvPr id="236" name="Google Shape;236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040631" y="2356485"/>
            <a:ext cx="5641975" cy="1851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345055" y="4192905"/>
            <a:ext cx="6143947" cy="2377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tập hợp — Thao tác map &amp; filter (where)</a:t>
            </a:r>
            <a:endParaRPr lang="en-US" sz="3400" b="1" i="0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44" name="Google Shape;244;p33"/>
          <p:cNvSpPr txBox="1"/>
          <p:nvPr>
            <p:ph type="body" idx="1"/>
          </p:nvPr>
        </p:nvSpPr>
        <p:spPr>
          <a:xfrm>
            <a:off x="609600" y="1600835"/>
            <a:ext cx="5976620" cy="452564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rmAutofit lnSpcReduction="1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Khái niệm: Các thao tác lập trình chức năng trên đối tượng lặp Iterable (ví dụ: map, where)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Times New Roman" panose="02020503050405090304"/>
              <a:buChar char="●"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map: biến đổi từng phần tử → tạo ra Iterable mới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Times New Roman" panose="02020503050405090304"/>
              <a:buChar char="●"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where (filter): lọc giữ lại các phần tử thỏa mãn điều kiện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Times New Roman" panose="02020503050405090304"/>
              <a:buChar char="●"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Thường được kết nối chuỗi (chained); thực thi dạng lazy cho đến khi thu hoạch (như toList, forEach)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Giải thích thêm: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Times New Roman" panose="02020503050405090304"/>
              <a:buChar char="●"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Áp dụng trên mọi đối tượng Iterable&lt;T&gt; (như List, Set)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Times New Roman" panose="02020503050405090304"/>
              <a:buChar char="●"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map giữ nguyên số lượng phần tử, biến đổi kiểu dữ liệu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Times New Roman" panose="02020503050405090304"/>
              <a:buChar char="●"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where giữ nguyên kiểu dữ liệu phần tử, có thể thay đổi số lượng phần tử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35280" algn="l" rtl="0"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1680"/>
              <a:buFont typeface="Times New Roman" panose="02020503050405090304"/>
              <a:buChar char="●"/>
            </a:pPr>
            <a:r>
              <a:rPr lang="en-US" sz="168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Sử dụng toList() hoặc toSet() để khởi tạo dữ liệu kết quả cụ thể</a:t>
            </a:r>
            <a:endParaRPr sz="168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585902" y="1544637"/>
            <a:ext cx="4914900" cy="50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Xử lý ngoại lệ — try/catch/finally</a:t>
            </a:r>
            <a:endParaRPr lang="en-US" sz="3400" b="1" i="0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52" name="Google Shape;252;p34"/>
          <p:cNvSpPr txBox="1"/>
          <p:nvPr>
            <p:ph type="body" idx="1"/>
          </p:nvPr>
        </p:nvSpPr>
        <p:spPr>
          <a:xfrm>
            <a:off x="609600" y="1600835"/>
            <a:ext cx="5897880" cy="452564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Khái niệm: Xử lý các ngoại lệ lúc thực thi (runtime) để tránh ứng dụng bị dừng đột ngột (crash).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270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imes New Roman" panose="02020503050405090304"/>
              <a:buChar char="●"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try: chứa khối lệnh có nguy cơ phát sinh lỗi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270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imes New Roman" panose="02020503050405090304"/>
              <a:buChar char="●"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catch / on: bắt và xử lý các loại ngoại lệ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270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imes New Roman" panose="02020503050405090304"/>
              <a:buChar char="●"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finally: khối lệnh luôn được thực thi (thường dùng dọn dẹp tài nguyên)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270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imes New Roman" panose="02020503050405090304"/>
              <a:buChar char="●"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rethrow: phát lại ngoại lệ sau khi ghi nhận log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Chi tiết: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270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imes New Roman" panose="02020503050405090304"/>
              <a:buChar char="●"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Sử dụng on SpecificException để bắt đích danh loại ngoại lệ cụ thể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270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imes New Roman" panose="02020503050405090304"/>
              <a:buChar char="●"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Cú pháp catch (e, s) giúp bắt cả đối tượng lỗi e và vết ngăn xếp stack trace s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2702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imes New Roman" panose="02020503050405090304"/>
              <a:buChar char="●"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Khuyên dùng: ném ngoại lệ tự định nghĩa (custom exception) cho các lỗi nghiệp vụ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550" b="0" i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Ví dụ minh họa:</a:t>
            </a:r>
            <a:endParaRPr sz="1550" b="0" i="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pic>
        <p:nvPicPr>
          <p:cNvPr id="253" name="Google Shape;253;p3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507797" y="1119981"/>
            <a:ext cx="539115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Lập trình bất đồng bộ: Future &amp; async/await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60" name="Google Shape;260;p35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88900" lvl="0" indent="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Quattrocento Sans" panose="020B0502050000020003"/>
              <a:buNone/>
            </a:pPr>
            <a:r>
              <a:rPr lang="vi-VN" altLang="en-US" sz="2200" b="0">
                <a:solidFill>
                  <a:srgbClr val="000000"/>
                </a:solidFill>
                <a:latin typeface="Times New Roman Regular" panose="02020503050405090304" charset="0"/>
                <a:ea typeface="Quattrocento Sans" panose="020B0502050000020003"/>
                <a:cs typeface="Times New Roman Regular" panose="02020503050405090304" charset="0"/>
                <a:sym typeface="Quattrocento Sans" panose="020B0502050000020003"/>
              </a:rPr>
              <a:t>A</a:t>
            </a:r>
            <a:r>
              <a:rPr lang="en-US" sz="2200" b="0">
                <a:solidFill>
                  <a:srgbClr val="000000"/>
                </a:solidFill>
                <a:latin typeface="Times New Roman Regular" panose="02020503050405090304" charset="0"/>
                <a:ea typeface="Quattrocento Sans" panose="020B0502050000020003"/>
                <a:cs typeface="Times New Roman Regular" panose="02020503050405090304" charset="0"/>
                <a:sym typeface="Quattrocento Sans" panose="020B0502050000020003"/>
              </a:rPr>
              <a:t>sync đánh dấu một hàm bất đồng bộ; await tạm dừng cho đến khi Future hoàn thành.</a:t>
            </a:r>
            <a:endParaRPr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1793631" y="2759986"/>
            <a:ext cx="7104184" cy="230832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Future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&lt;String&gt; fetch() async {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 await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Future.delayed(Duration(seconds:1));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 return </a:t>
            </a:r>
            <a:r>
              <a:rPr lang="en-US" sz="18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"Done"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main() async {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 print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(await fetch());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47625" tIns="47625" rIns="47625" bIns="47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Streams — Dòng dữ liệu phản ứng (Reactive Data)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69" name="Google Shape;269;p36"/>
          <p:cNvSpPr txBox="1"/>
          <p:nvPr>
            <p:ph type="body" idx="1"/>
          </p:nvPr>
        </p:nvSpPr>
        <p:spPr>
          <a:xfrm>
            <a:off x="609600" y="1600835"/>
            <a:ext cx="5973445" cy="452564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47625" tIns="47625" rIns="47625" bIns="47625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Khái niệm:</a:t>
            </a:r>
            <a:endParaRPr sz="22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8300" algn="l" rtl="0"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503050405090304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Một Stream phát ra một chuỗi các giá trị bất đồng bộ theo thời gian.</a:t>
            </a:r>
            <a:endParaRPr sz="22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8300" algn="l" rtl="0"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503050405090304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Single-subscription (mặc định): một listener, tiêu thụ tuần tự.</a:t>
            </a:r>
            <a:endParaRPr sz="22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8300" algn="l" rtl="0"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503050405090304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Broadcast: nhiều listener, chia sẻ các sự kiện.</a:t>
            </a:r>
            <a:endParaRPr sz="22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Giải thích:</a:t>
            </a:r>
            <a:endParaRPr sz="22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8300" algn="l" rtl="0"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503050405090304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Đăng ký bằng listen, hủy bằng subscription.cancel().</a:t>
            </a:r>
            <a:endParaRPr sz="22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8300" algn="l" rtl="0"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 panose="02020503050405090304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Biến đổi bằng map / where / take / debounce (từ package).</a:t>
            </a:r>
            <a:endParaRPr sz="22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8300" algn="l" rtl="0">
              <a:spcBef>
                <a:spcPts val="75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Times New Roman" panose="02020503050405090304"/>
              <a:buChar char="●"/>
            </a:pPr>
            <a:r>
              <a:rPr lang="en-US" sz="1600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Tiêu thụ bằng await for bên trong các hàm async.</a:t>
            </a:r>
            <a:endParaRPr sz="220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6484620" y="1857375"/>
            <a:ext cx="5250180" cy="4191000"/>
          </a:xfrm>
          <a:prstGeom prst="rect">
            <a:avLst/>
          </a:prstGeom>
          <a:solidFill>
            <a:srgbClr val="F8F9FA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500" tIns="190500" rIns="190500" bIns="190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Ví dụ 1: periodic stream (single-subscription)</a:t>
            </a:r>
            <a:endParaRPr sz="1250" b="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stream = Stream.periodic(</a:t>
            </a:r>
            <a:r>
              <a:rPr lang="en-US" sz="1250" b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Duration(milliseconds: 400), (i) =&gt; i)</a:t>
            </a:r>
            <a:endParaRPr sz="1250" b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.take(5); </a:t>
            </a:r>
            <a:r>
              <a:rPr lang="en-US" sz="1250" b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0..4 sau đó hoàn thành</a:t>
            </a:r>
            <a:endParaRPr sz="1250" b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stream.listen(</a:t>
            </a:r>
            <a:endParaRPr sz="1250" b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(value) =&gt; print(</a:t>
            </a:r>
            <a:r>
              <a:rPr lang="en-US" sz="1250" b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'Value: $value'</a:t>
            </a: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b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onDone: () =&gt; print(</a:t>
            </a:r>
            <a:r>
              <a:rPr lang="en-US" sz="1250" b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'Done'</a:t>
            </a: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b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50" b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25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Ví dụ 2: transform &amp; filter (biến đổi &amp; lọc)</a:t>
            </a:r>
            <a:endParaRPr sz="1250" b="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evens = stream.where((n) =&gt; n.isEven).map((n) =&gt; n * 10);</a:t>
            </a:r>
            <a:endParaRPr sz="1250" b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evens.listen((v) =&gt; print(</a:t>
            </a:r>
            <a:r>
              <a:rPr lang="en-US" sz="1250" b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'Even*10: $v'</a:t>
            </a:r>
            <a:r>
              <a:rPr lang="en-US" sz="1250" b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250" b="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Tổng kết bài học </a:t>
            </a:r>
            <a:r>
              <a:rPr lang="en-US" sz="373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-</a:t>
            </a: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Danh sách sinh viên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77" name="Google Shape;277;p37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Quattrocento Sans" panose="020B0502050000020003"/>
              <a:buNone/>
            </a:pPr>
            <a:r>
              <a:rPr lang="en-US" sz="2400" b="0">
                <a:solidFill>
                  <a:srgbClr val="000000"/>
                </a:solidFill>
                <a:latin typeface="Times New Roman Regular" panose="02020503050405090304" charset="0"/>
                <a:ea typeface="Quattrocento Sans" panose="020B0502050000020003"/>
                <a:cs typeface="Times New Roman Regular" panose="02020503050405090304" charset="0"/>
                <a:sym typeface="Quattrocento Sans" panose="020B0502050000020003"/>
              </a:rPr>
              <a:t>Yêu cầu: Tạo lớp Student, lưu trữ trong List, in ra, sau đó thêm độ trễ bất đồng bộ để mô phỏng quá trình tải.</a:t>
            </a:r>
            <a:endParaRPr sz="24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</p:txBody>
      </p:sp>
      <p:sp>
        <p:nvSpPr>
          <p:cNvPr id="278" name="Google Shape;278;p37"/>
          <p:cNvSpPr txBox="1"/>
          <p:nvPr/>
        </p:nvSpPr>
        <p:spPr>
          <a:xfrm>
            <a:off x="2063262" y="2743200"/>
            <a:ext cx="7678614" cy="277165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Student { String name; Student(this.name);} </a:t>
            </a:r>
            <a:b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main() async {</a:t>
            </a:r>
            <a:b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 var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list = [Student(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"An"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), Student(</a:t>
            </a:r>
            <a:r>
              <a:rPr lang="en-US" sz="2000">
                <a:solidFill>
                  <a:srgbClr val="B45500"/>
                </a:solidFill>
                <a:latin typeface="Consolas"/>
                <a:ea typeface="Consolas"/>
                <a:cs typeface="Consolas"/>
                <a:sym typeface="Consolas"/>
              </a:rPr>
              <a:t>"Binh"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)];</a:t>
            </a:r>
            <a:b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 await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Future.delayed(Duration(seconds:1));</a:t>
            </a:r>
            <a:b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list.forEach((s)=&gt;</a:t>
            </a:r>
            <a:r>
              <a:rPr lang="en-US" sz="2000">
                <a:solidFill>
                  <a:srgbClr val="0066CC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(s.name));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47625" rIns="95250" bIns="47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Bài tập thực hành 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85" name="Google Shape;285;p38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20" b="1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Các nội dung đã học: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Times New Roman" panose="02020503050405090304"/>
              <a:buChar char="●"/>
            </a:pPr>
            <a:r>
              <a:rPr lang="en-US" sz="1975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Cấu trúc chương trình Dart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Times New Roman" panose="02020503050405090304"/>
              <a:buChar char="●"/>
            </a:pPr>
            <a:r>
              <a:rPr lang="en-US" sz="1975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Kiểu dữ liệu và Biến (Variables)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Times New Roman" panose="02020503050405090304"/>
              <a:buChar char="●"/>
            </a:pPr>
            <a:r>
              <a:rPr lang="en-US" sz="1975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Collections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Times New Roman" panose="02020503050405090304"/>
              <a:buChar char="●"/>
            </a:pPr>
            <a:r>
              <a:rPr lang="en-US" sz="1975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Cấu trúc điều khiển (Control flow)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Times New Roman" panose="02020503050405090304"/>
              <a:buChar char="●"/>
            </a:pPr>
            <a:r>
              <a:rPr lang="en-US" sz="1975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Hàm (Functions)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Times New Roman" panose="02020503050405090304"/>
              <a:buChar char="●"/>
            </a:pPr>
            <a:r>
              <a:rPr lang="en-US" sz="1975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Lập trình hướng đối tượng (OOP)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20"/>
              <a:buFont typeface="Times New Roman" panose="02020503050405090304"/>
              <a:buChar char="●"/>
            </a:pPr>
            <a:r>
              <a:rPr lang="en-US" sz="1975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An toàn Null (Null safety)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220"/>
              <a:buFont typeface="Times New Roman" panose="02020503050405090304"/>
              <a:buChar char="●"/>
            </a:pPr>
            <a:r>
              <a:rPr lang="en-US" sz="1975" b="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Lập trình bất đồng bộ (Async programming) &amp; Streams</a:t>
            </a:r>
            <a:endParaRPr sz="2220" b="1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bg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Hỏi &amp; Đáp / Tài liệu tham khảo</a:t>
            </a:r>
            <a:endParaRPr lang="en-US" sz="3400" b="1">
              <a:solidFill>
                <a:schemeClr val="bg1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291" name="Google Shape;291;p39"/>
          <p:cNvSpPr txBox="1"/>
          <p:nvPr>
            <p:ph type="body" idx="1"/>
          </p:nvPr>
        </p:nvSpPr>
        <p:spPr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4318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r>
              <a:rPr lang="en-US" sz="2200" b="0">
                <a:solidFill>
                  <a:srgbClr val="000000"/>
                </a:solidFill>
                <a:latin typeface="Times New Roman Regular" panose="02020503050405090304" charset="0"/>
                <a:ea typeface="Quattrocento Sans" panose="020B0502050000020003"/>
                <a:cs typeface="Times New Roman Regular" panose="02020503050405090304" charset="0"/>
                <a:sym typeface="Quattrocento Sans" panose="020B0502050000020003"/>
              </a:rPr>
              <a:t>Mastering Flutter (2025), Chương 2</a:t>
            </a:r>
            <a:endParaRPr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  <a:p>
            <a:pPr marL="4318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r>
              <a:rPr lang="en-US" sz="2200" b="0">
                <a:solidFill>
                  <a:srgbClr val="000000"/>
                </a:solidFill>
                <a:latin typeface="Times New Roman Regular" panose="02020503050405090304" charset="0"/>
                <a:ea typeface="Quattrocento Sans" panose="020B0502050000020003"/>
                <a:cs typeface="Times New Roman Regular" panose="02020503050405090304" charset="0"/>
                <a:sym typeface="Quattrocento Sans" panose="020B0502050000020003"/>
              </a:rPr>
              <a:t>docs.flutter.dev</a:t>
            </a:r>
            <a:endParaRPr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  <a:p>
            <a:pPr marL="431800" lvl="0" indent="-342900" algn="l" rtl="0"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SzPts val="2200"/>
              <a:buFont typeface="Arial" panose="020B0604020202090204" pitchFamily="34" charset="0"/>
              <a:buChar char="•"/>
            </a:pPr>
            <a:r>
              <a:rPr lang="en-US" sz="2200" b="0">
                <a:solidFill>
                  <a:srgbClr val="000000"/>
                </a:solidFill>
                <a:latin typeface="Times New Roman Regular" panose="02020503050405090304" charset="0"/>
                <a:ea typeface="Quattrocento Sans" panose="020B0502050000020003"/>
                <a:cs typeface="Times New Roman Regular" panose="02020503050405090304" charset="0"/>
                <a:sym typeface="Quattrocento Sans" panose="020B0502050000020003"/>
              </a:rPr>
              <a:t>dart.dev/tools/dartpad</a:t>
            </a:r>
            <a:endParaRPr sz="2200" b="0">
              <a:solidFill>
                <a:srgbClr val="000000"/>
              </a:solidFill>
              <a:latin typeface="Times New Roman Regular" panose="02020503050405090304" charset="0"/>
              <a:ea typeface="Quattrocento Sans" panose="020B0502050000020003"/>
              <a:cs typeface="Times New Roman Regular" panose="02020503050405090304" charset="0"/>
              <a:sym typeface="Quattrocento Sans" panose="020B05020500000200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8276</Words>
  <Application>WPS Sheets</Application>
  <PresentationFormat/>
  <Paragraphs>354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Arial</vt:lpstr>
      <vt:lpstr>SimSun</vt:lpstr>
      <vt:lpstr>Wingdings</vt:lpstr>
      <vt:lpstr>Arial</vt:lpstr>
      <vt:lpstr>Open Sans</vt:lpstr>
      <vt:lpstr>Tahoma</vt:lpstr>
      <vt:lpstr>Times New Roman</vt:lpstr>
      <vt:lpstr>Consolas</vt:lpstr>
      <vt:lpstr>Thonburi</vt:lpstr>
      <vt:lpstr>Quattrocento Sans</vt:lpstr>
      <vt:lpstr>Microsoft YaHei</vt:lpstr>
      <vt:lpstr>汉仪旗黑</vt:lpstr>
      <vt:lpstr>Arial Unicode MS</vt:lpstr>
      <vt:lpstr>汉仪书宋二KW</vt:lpstr>
      <vt:lpstr>Times New Roman Regular</vt:lpstr>
      <vt:lpstr>Theme1</vt:lpstr>
      <vt:lpstr>Module 2 - Kiến thức cốt lõi về Dart</vt:lpstr>
      <vt:lpstr>Nội dung chính</vt:lpstr>
      <vt:lpstr>Dart là gì?</vt:lpstr>
      <vt:lpstr>Cấu trúc chương trình</vt:lpstr>
      <vt:lpstr>Các kiểu dữ liệu</vt:lpstr>
      <vt:lpstr>Cơ bản về các kiểu dữ liệu</vt:lpstr>
      <vt:lpstr>Các toán tử trong Dart</vt:lpstr>
      <vt:lpstr>Khai báo biến &amp; Khái niệm bộ nhớ</vt:lpstr>
      <vt:lpstr>Chuỗi ký tự &amp; Nội suy chuỗi</vt:lpstr>
      <vt:lpstr>Các tập hợp (List, Set, Map)</vt:lpstr>
      <vt:lpstr>Luồng điều khiển: if / else - switch</vt:lpstr>
      <vt:lpstr>Các vòng lặp: for-in &amp; forEach</vt:lpstr>
      <vt:lpstr>Hàm: Cơ bản &amp; Cú pháp mũi tên (Arrow Syntax)</vt:lpstr>
      <vt:lpstr>Hàm — Tham số tùy chọn &amp; Tham số định danh (Named Params)</vt:lpstr>
      <vt:lpstr>Giới thiệu Lập trình hướng đối tượng (OOP)</vt:lpstr>
      <vt:lpstr>Lớp (Classes) &amp; Đối tượng (Objects)</vt:lpstr>
      <vt:lpstr>Hàm khởi tạo (Constructors) — Mặc định &amp; Định danh</vt:lpstr>
      <vt:lpstr>Kế thừa (Inheritance) &amp; Ghi đè (Override)</vt:lpstr>
      <vt:lpstr>An toàn con trỏ rỗng (Null Safety) — Các toán tử ?, ??, !</vt:lpstr>
      <vt:lpstr>Các tập hợp — Thao tác map &amp; filter (where)</vt:lpstr>
      <vt:lpstr>Xử lý ngoại lệ — try/catch/finally</vt:lpstr>
      <vt:lpstr>Lập trình bất đồng bộ: Future &amp; async/await</vt:lpstr>
      <vt:lpstr>Streams — Dòng dữ liệu phản ứng (Reactive Data)</vt:lpstr>
      <vt:lpstr>Tổng kết bài học - Danh sách sinh viên</vt:lpstr>
      <vt:lpstr>Bài tập thực hành nhỏ</vt:lpstr>
      <vt:lpstr>Hỏi &amp; Đáp / Tài liệu tham khảo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2 - Kiến thức cốt lõi về Dart</dc:title>
  <dc:creator/>
  <cp:lastModifiedBy>king</cp:lastModifiedBy>
  <cp:revision>4</cp:revision>
  <dcterms:created xsi:type="dcterms:W3CDTF">2026-07-30T13:22:24Z</dcterms:created>
  <dcterms:modified xsi:type="dcterms:W3CDTF">2026-07-30T13:22:24Z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3C0B60191A794786234D6B6A6607793B_42</vt:lpwstr>
  </property>
  <property fmtid="{D5CDD505-2E9C-101B-9397-08002B2CF9AE}" pid="3" name="KSOProductBuildVer">
    <vt:lpwstr>1033-12.1.25898.25898</vt:lpwstr>
  </property>
</Properties>
</file>