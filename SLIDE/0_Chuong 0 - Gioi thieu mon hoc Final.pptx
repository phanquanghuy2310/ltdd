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2" userDrawn="1">
          <p15:clr>
            <a:srgbClr val="A4A3A4"/>
          </p15:clr>
        </p15:guide>
        <p15:guide id="2" pos="2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8" d="100"/>
          <a:sy n="78" d="100"/>
        </p:scale>
        <p:origin x="850" y="62"/>
      </p:cViewPr>
      <p:guideLst>
        <p:guide orient="horz" pos="2202"/>
        <p:guide pos="285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9.png"/><Relationship Id="rId7"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jpeg"/><Relationship Id="rId4" Type="http://schemas.openxmlformats.org/officeDocument/2006/relationships/image" Target="../media/image10.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7.png"/><Relationship Id="rId5" Type="http://schemas.openxmlformats.org/officeDocument/2006/relationships/image" Target="../media/image33.png"/><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8.png"/><Relationship Id="rId7" Type="http://schemas.openxmlformats.org/officeDocument/2006/relationships/image" Target="../media/image4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10.png"/><Relationship Id="rId10"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2015490"/>
            <a:ext cx="12192000" cy="3782695"/>
          </a:xfrm>
          <a:prstGeom prst="rect">
            <a:avLst/>
          </a:prstGeom>
        </p:spPr>
      </p:pic>
      <p:pic>
        <p:nvPicPr>
          <p:cNvPr id="3" name="Picture 2" descr="image.png"/>
          <p:cNvPicPr>
            <a:picLocks noChangeAspect="1"/>
          </p:cNvPicPr>
          <p:nvPr/>
        </p:nvPicPr>
        <p:blipFill>
          <a:blip r:embed="rId3"/>
          <a:stretch>
            <a:fillRect/>
          </a:stretch>
        </p:blipFill>
        <p:spPr>
          <a:xfrm>
            <a:off x="5306169" y="447675"/>
            <a:ext cx="1579512" cy="1390650"/>
          </a:xfrm>
          <a:prstGeom prst="rect">
            <a:avLst/>
          </a:prstGeom>
        </p:spPr>
      </p:pic>
      <p:pic>
        <p:nvPicPr>
          <p:cNvPr id="4" name="Picture 3" descr="image.png"/>
          <p:cNvPicPr>
            <a:picLocks noChangeAspect="1"/>
          </p:cNvPicPr>
          <p:nvPr/>
        </p:nvPicPr>
        <p:blipFill>
          <a:blip r:embed="rId4"/>
          <a:stretch>
            <a:fillRect/>
          </a:stretch>
        </p:blipFill>
        <p:spPr>
          <a:xfrm>
            <a:off x="571500" y="2828925"/>
            <a:ext cx="11049000" cy="2800350"/>
          </a:xfrm>
          <a:prstGeom prst="rect">
            <a:avLst/>
          </a:prstGeom>
        </p:spPr>
      </p:pic>
      <p:pic>
        <p:nvPicPr>
          <p:cNvPr id="5" name="Picture 4" descr="image.png"/>
          <p:cNvPicPr>
            <a:picLocks noChangeAspect="1"/>
          </p:cNvPicPr>
          <p:nvPr/>
        </p:nvPicPr>
        <p:blipFill>
          <a:blip r:embed="rId5"/>
          <a:stretch>
            <a:fillRect/>
          </a:stretch>
        </p:blipFill>
        <p:spPr>
          <a:xfrm>
            <a:off x="5413375" y="201930"/>
            <a:ext cx="1363980" cy="1589405"/>
          </a:xfrm>
          <a:prstGeom prst="rect">
            <a:avLst/>
          </a:prstGeom>
        </p:spPr>
      </p:pic>
      <p:sp>
        <p:nvSpPr>
          <p:cNvPr id="6" name="TextBox 5"/>
          <p:cNvSpPr txBox="1"/>
          <p:nvPr/>
        </p:nvSpPr>
        <p:spPr>
          <a:xfrm>
            <a:off x="1115060" y="3277235"/>
            <a:ext cx="9961245" cy="1010920"/>
          </a:xfrm>
          <a:prstGeom prst="rect">
            <a:avLst/>
          </a:prstGeom>
          <a:noFill/>
        </p:spPr>
        <p:txBody>
          <a:bodyPr wrap="square" lIns="0" tIns="0" rIns="0" bIns="0" anchor="t">
            <a:noAutofit/>
          </a:bodyPr>
          <a:lstStyle/>
          <a:p>
            <a:pPr algn="ctr"/>
            <a:r>
              <a:rPr sz="4800" b="0" i="0" u="none">
                <a:solidFill>
                  <a:schemeClr val="accent6"/>
                </a:solidFill>
                <a:latin typeface="Montserrat ExtraBold"/>
              </a:rPr>
              <a:t>LẬP TRÌNH DI ĐỘNG VỚI FLUTTER</a:t>
            </a:r>
          </a:p>
        </p:txBody>
      </p:sp>
      <p:sp>
        <p:nvSpPr>
          <p:cNvPr id="7" name="TextBox 6"/>
          <p:cNvSpPr txBox="1"/>
          <p:nvPr/>
        </p:nvSpPr>
        <p:spPr>
          <a:xfrm>
            <a:off x="1115377" y="4857750"/>
            <a:ext cx="9961245" cy="371475"/>
          </a:xfrm>
          <a:prstGeom prst="rect">
            <a:avLst/>
          </a:prstGeom>
          <a:noFill/>
        </p:spPr>
        <p:txBody>
          <a:bodyPr wrap="square" lIns="0" tIns="0" rIns="0" bIns="0" anchor="t">
            <a:spAutoFit/>
          </a:bodyPr>
          <a:lstStyle/>
          <a:p>
            <a:pPr algn="ctr"/>
            <a:r>
              <a:rPr sz="2400" b="0" i="0" u="none">
                <a:solidFill>
                  <a:srgbClr val="CBD5E1"/>
                </a:solidFill>
                <a:latin typeface="Montserrat Medium"/>
              </a:rPr>
              <a:t>Flutter with Over Platform</a:t>
            </a:r>
          </a:p>
        </p:txBody>
      </p:sp>
      <p:sp>
        <p:nvSpPr>
          <p:cNvPr id="8" name="TextBox 7"/>
          <p:cNvSpPr txBox="1"/>
          <p:nvPr/>
        </p:nvSpPr>
        <p:spPr>
          <a:xfrm>
            <a:off x="4130754" y="2219325"/>
            <a:ext cx="3930491" cy="371475"/>
          </a:xfrm>
          <a:prstGeom prst="rect">
            <a:avLst/>
          </a:prstGeom>
          <a:noFill/>
        </p:spPr>
        <p:txBody>
          <a:bodyPr wrap="square" lIns="0" tIns="0" rIns="0" bIns="0" anchor="t">
            <a:spAutoFit/>
          </a:bodyPr>
          <a:lstStyle/>
          <a:p>
            <a:pPr algn="ctr"/>
            <a:r>
              <a:rPr sz="2400" b="1" i="0" u="none">
                <a:solidFill>
                  <a:srgbClr val="FDB913"/>
                </a:solidFill>
                <a:latin typeface="Montserrat"/>
              </a:rPr>
              <a:t>LẬP TRÌNH DI ĐỘNG</a:t>
            </a:r>
          </a:p>
        </p:txBody>
      </p:sp>
      <p:sp>
        <p:nvSpPr>
          <p:cNvPr id="9" name="TextBox 8"/>
          <p:cNvSpPr txBox="1"/>
          <p:nvPr/>
        </p:nvSpPr>
        <p:spPr>
          <a:xfrm>
            <a:off x="3771900" y="6010275"/>
            <a:ext cx="4758055" cy="403860"/>
          </a:xfrm>
          <a:prstGeom prst="rect">
            <a:avLst/>
          </a:prstGeom>
          <a:noFill/>
        </p:spPr>
        <p:txBody>
          <a:bodyPr wrap="square" lIns="0" tIns="0" rIns="0" bIns="0" anchor="t">
            <a:spAutoFit/>
          </a:bodyPr>
          <a:lstStyle/>
          <a:p>
            <a:pPr algn="ctr">
              <a:lnSpc>
                <a:spcPts val="3150"/>
              </a:lnSpc>
            </a:pPr>
            <a:r>
              <a:rPr lang="vi-VN" sz="2100" b="0" i="0" u="none">
                <a:solidFill>
                  <a:schemeClr val="accent6"/>
                </a:solidFill>
                <a:latin typeface="Nunito SemiBold"/>
              </a:rPr>
              <a:t>Giảng viên: </a:t>
            </a:r>
            <a:r>
              <a:rPr sz="2100" b="0" i="0" u="none">
                <a:solidFill>
                  <a:schemeClr val="accent6"/>
                </a:solidFill>
                <a:latin typeface="Nunito SemiBold"/>
              </a:rPr>
              <a:t>ThS. Nguyễn Hoàng Anh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6381750" y="2162175"/>
            <a:ext cx="2500312" cy="1600200"/>
          </a:xfrm>
          <a:prstGeom prst="rect">
            <a:avLst/>
          </a:prstGeom>
        </p:spPr>
      </p:pic>
      <p:pic>
        <p:nvPicPr>
          <p:cNvPr id="4" name="Picture 3" descr="image.png"/>
          <p:cNvPicPr>
            <a:picLocks noChangeAspect="1"/>
          </p:cNvPicPr>
          <p:nvPr/>
        </p:nvPicPr>
        <p:blipFill>
          <a:blip r:embed="rId4"/>
          <a:stretch>
            <a:fillRect/>
          </a:stretch>
        </p:blipFill>
        <p:spPr>
          <a:xfrm>
            <a:off x="9120187" y="2162175"/>
            <a:ext cx="2500312" cy="1600200"/>
          </a:xfrm>
          <a:prstGeom prst="rect">
            <a:avLst/>
          </a:prstGeom>
        </p:spPr>
      </p:pic>
      <p:pic>
        <p:nvPicPr>
          <p:cNvPr id="5" name="Picture 4" descr="image.png"/>
          <p:cNvPicPr>
            <a:picLocks noChangeAspect="1"/>
          </p:cNvPicPr>
          <p:nvPr/>
        </p:nvPicPr>
        <p:blipFill>
          <a:blip r:embed="rId3"/>
          <a:stretch>
            <a:fillRect/>
          </a:stretch>
        </p:blipFill>
        <p:spPr>
          <a:xfrm>
            <a:off x="6381750" y="4000500"/>
            <a:ext cx="2500312" cy="1600200"/>
          </a:xfrm>
          <a:prstGeom prst="rect">
            <a:avLst/>
          </a:prstGeom>
        </p:spPr>
      </p:pic>
      <p:pic>
        <p:nvPicPr>
          <p:cNvPr id="6" name="Picture 5" descr="image.png"/>
          <p:cNvPicPr>
            <a:picLocks noChangeAspect="1"/>
          </p:cNvPicPr>
          <p:nvPr/>
        </p:nvPicPr>
        <p:blipFill>
          <a:blip r:embed="rId5"/>
          <a:stretch>
            <a:fillRect/>
          </a:stretch>
        </p:blipFill>
        <p:spPr>
          <a:xfrm>
            <a:off x="9120187" y="4000500"/>
            <a:ext cx="2500312" cy="1600200"/>
          </a:xfrm>
          <a:prstGeom prst="rect">
            <a:avLst/>
          </a:prstGeom>
        </p:spPr>
      </p:pic>
      <p:pic>
        <p:nvPicPr>
          <p:cNvPr id="7" name="Picture 6" descr="image.png"/>
          <p:cNvPicPr>
            <a:picLocks noChangeAspect="1"/>
          </p:cNvPicPr>
          <p:nvPr/>
        </p:nvPicPr>
        <p:blipFill>
          <a:blip r:embed="rId6"/>
          <a:stretch>
            <a:fillRect/>
          </a:stretch>
        </p:blipFill>
        <p:spPr>
          <a:xfrm>
            <a:off x="0" y="0"/>
            <a:ext cx="12192000" cy="904875"/>
          </a:xfrm>
          <a:prstGeom prst="rect">
            <a:avLst/>
          </a:prstGeom>
        </p:spPr>
      </p:pic>
      <p:sp>
        <p:nvSpPr>
          <p:cNvPr id="8" name="TextBox 7"/>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GIỚI THIỆU MÔN HỌC</a:t>
            </a:r>
          </a:p>
        </p:txBody>
      </p:sp>
      <p:sp>
        <p:nvSpPr>
          <p:cNvPr id="9" name="Rounded Rectangle 8"/>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08940" y="1381125"/>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7"/>
          <a:stretch>
            <a:fillRect/>
          </a:stretch>
        </p:blipFill>
        <p:spPr>
          <a:xfrm>
            <a:off x="285750" y="142875"/>
            <a:ext cx="531316" cy="619125"/>
          </a:xfrm>
          <a:prstGeom prst="rect">
            <a:avLst/>
          </a:prstGeom>
        </p:spPr>
      </p:pic>
      <p:sp>
        <p:nvSpPr>
          <p:cNvPr id="14" name="TextBox 13"/>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5" name="TextBox 14"/>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6" name="TextBox 15"/>
          <p:cNvSpPr txBox="1"/>
          <p:nvPr/>
        </p:nvSpPr>
        <p:spPr>
          <a:xfrm>
            <a:off x="571500" y="2162175"/>
            <a:ext cx="5500687" cy="371475"/>
          </a:xfrm>
          <a:prstGeom prst="rect">
            <a:avLst/>
          </a:prstGeom>
          <a:noFill/>
        </p:spPr>
        <p:txBody>
          <a:bodyPr wrap="square" lIns="0" tIns="0" rIns="0" bIns="0" anchor="t">
            <a:spAutoFit/>
          </a:bodyPr>
          <a:lstStyle/>
          <a:p>
            <a:pPr algn="l"/>
            <a:r>
              <a:rPr sz="2400" b="1" i="0" u="none">
                <a:solidFill>
                  <a:srgbClr val="1B2452"/>
                </a:solidFill>
                <a:latin typeface="Montserrat"/>
              </a:rPr>
              <a:t>Số tín chỉ: </a:t>
            </a:r>
            <a:r>
              <a:rPr sz="2400" b="1" i="0" u="none">
                <a:solidFill>
                  <a:srgbClr val="FDB913"/>
                </a:solidFill>
                <a:latin typeface="Montserrat"/>
              </a:rPr>
              <a:t>3 tín chỉ</a:t>
            </a:r>
          </a:p>
        </p:txBody>
      </p:sp>
      <p:sp>
        <p:nvSpPr>
          <p:cNvPr id="17" name="TextBox 16"/>
          <p:cNvSpPr txBox="1"/>
          <p:nvPr/>
        </p:nvSpPr>
        <p:spPr>
          <a:xfrm>
            <a:off x="571500" y="2819400"/>
            <a:ext cx="5238750" cy="342900"/>
          </a:xfrm>
          <a:prstGeom prst="rect">
            <a:avLst/>
          </a:prstGeom>
          <a:noFill/>
        </p:spPr>
        <p:txBody>
          <a:bodyPr wrap="square" lIns="0" tIns="0" rIns="0" bIns="0" anchor="t">
            <a:spAutoFit/>
          </a:bodyPr>
          <a:lstStyle/>
          <a:p>
            <a:pPr algn="l">
              <a:lnSpc>
                <a:spcPts val="2700"/>
              </a:lnSpc>
            </a:pPr>
            <a:r>
              <a:rPr sz="1800" b="1" i="0" u="none">
                <a:solidFill>
                  <a:srgbClr val="2C3E50"/>
                </a:solidFill>
                <a:latin typeface="Nunito"/>
              </a:rPr>
              <a:t>Thời gian phân bổ:</a:t>
            </a:r>
          </a:p>
        </p:txBody>
      </p:sp>
      <p:sp>
        <p:nvSpPr>
          <p:cNvPr id="18" name="TextBox 17"/>
          <p:cNvSpPr txBox="1"/>
          <p:nvPr/>
        </p:nvSpPr>
        <p:spPr>
          <a:xfrm>
            <a:off x="904875" y="3352800"/>
            <a:ext cx="4905375" cy="314325"/>
          </a:xfrm>
          <a:prstGeom prst="rect">
            <a:avLst/>
          </a:prstGeom>
          <a:noFill/>
        </p:spPr>
        <p:txBody>
          <a:bodyPr wrap="square" lIns="0" tIns="0" rIns="0" bIns="0" anchor="t">
            <a:spAutoFit/>
          </a:bodyPr>
          <a:lstStyle/>
          <a:p>
            <a:pPr algn="l">
              <a:lnSpc>
                <a:spcPts val="2475"/>
              </a:lnSpc>
            </a:pPr>
            <a:r>
              <a:rPr sz="1650" b="1" i="0" u="none">
                <a:solidFill>
                  <a:srgbClr val="2C3E50"/>
                </a:solidFill>
                <a:latin typeface="Nunito"/>
              </a:rPr>
              <a:t>Giảng lý thuyết trên lớp:</a:t>
            </a:r>
            <a:r>
              <a:rPr sz="1650" b="0" i="0" u="none">
                <a:solidFill>
                  <a:srgbClr val="2C3E50"/>
                </a:solidFill>
                <a:latin typeface="Nunito"/>
              </a:rPr>
              <a:t> 27 tiết</a:t>
            </a:r>
          </a:p>
        </p:txBody>
      </p:sp>
      <p:sp>
        <p:nvSpPr>
          <p:cNvPr id="19" name="TextBox 18"/>
          <p:cNvSpPr txBox="1"/>
          <p:nvPr/>
        </p:nvSpPr>
        <p:spPr>
          <a:xfrm>
            <a:off x="904875" y="3857625"/>
            <a:ext cx="4905375" cy="314325"/>
          </a:xfrm>
          <a:prstGeom prst="rect">
            <a:avLst/>
          </a:prstGeom>
          <a:noFill/>
        </p:spPr>
        <p:txBody>
          <a:bodyPr wrap="square" lIns="0" tIns="0" rIns="0" bIns="0" anchor="t">
            <a:spAutoFit/>
          </a:bodyPr>
          <a:lstStyle/>
          <a:p>
            <a:pPr algn="l">
              <a:lnSpc>
                <a:spcPts val="2475"/>
              </a:lnSpc>
            </a:pPr>
            <a:r>
              <a:rPr sz="1650" b="1" i="0" u="none">
                <a:solidFill>
                  <a:srgbClr val="2C3E50"/>
                </a:solidFill>
                <a:latin typeface="Nunito"/>
              </a:rPr>
              <a:t>Bài tập thảo luận:</a:t>
            </a:r>
            <a:r>
              <a:rPr sz="1650" b="0" i="0" u="none">
                <a:solidFill>
                  <a:srgbClr val="2C3E50"/>
                </a:solidFill>
                <a:latin typeface="Nunito"/>
              </a:rPr>
              <a:t> 09 tiết</a:t>
            </a:r>
          </a:p>
        </p:txBody>
      </p:sp>
      <p:sp>
        <p:nvSpPr>
          <p:cNvPr id="20" name="TextBox 19"/>
          <p:cNvSpPr txBox="1"/>
          <p:nvPr/>
        </p:nvSpPr>
        <p:spPr>
          <a:xfrm>
            <a:off x="904875" y="4362450"/>
            <a:ext cx="4905375" cy="314325"/>
          </a:xfrm>
          <a:prstGeom prst="rect">
            <a:avLst/>
          </a:prstGeom>
          <a:noFill/>
        </p:spPr>
        <p:txBody>
          <a:bodyPr wrap="square" lIns="0" tIns="0" rIns="0" bIns="0" anchor="t">
            <a:spAutoFit/>
          </a:bodyPr>
          <a:lstStyle/>
          <a:p>
            <a:pPr algn="l">
              <a:lnSpc>
                <a:spcPts val="2475"/>
              </a:lnSpc>
            </a:pPr>
            <a:r>
              <a:rPr sz="1650" b="1" i="0" u="none">
                <a:solidFill>
                  <a:srgbClr val="2C3E50"/>
                </a:solidFill>
                <a:latin typeface="Nunito"/>
              </a:rPr>
              <a:t>Thực hành:</a:t>
            </a:r>
            <a:r>
              <a:rPr sz="1650" b="0" i="0" u="none">
                <a:solidFill>
                  <a:srgbClr val="2C3E50"/>
                </a:solidFill>
                <a:latin typeface="Nunito"/>
              </a:rPr>
              <a:t> 24 tiết</a:t>
            </a:r>
          </a:p>
        </p:txBody>
      </p:sp>
      <p:sp>
        <p:nvSpPr>
          <p:cNvPr id="21" name="TextBox 20"/>
          <p:cNvSpPr txBox="1"/>
          <p:nvPr/>
        </p:nvSpPr>
        <p:spPr>
          <a:xfrm>
            <a:off x="904875" y="4867275"/>
            <a:ext cx="4905375" cy="314325"/>
          </a:xfrm>
          <a:prstGeom prst="rect">
            <a:avLst/>
          </a:prstGeom>
          <a:noFill/>
        </p:spPr>
        <p:txBody>
          <a:bodyPr wrap="square" lIns="0" tIns="0" rIns="0" bIns="0" anchor="t">
            <a:spAutoFit/>
          </a:bodyPr>
          <a:lstStyle/>
          <a:p>
            <a:pPr algn="l">
              <a:lnSpc>
                <a:spcPts val="2475"/>
              </a:lnSpc>
            </a:pPr>
            <a:r>
              <a:rPr sz="1650" b="1" i="0" u="none">
                <a:solidFill>
                  <a:srgbClr val="2C3E50"/>
                </a:solidFill>
                <a:latin typeface="Nunito"/>
              </a:rPr>
              <a:t>Tự học:</a:t>
            </a:r>
            <a:r>
              <a:rPr sz="1650" b="0" i="0" u="none">
                <a:solidFill>
                  <a:srgbClr val="2C3E50"/>
                </a:solidFill>
                <a:latin typeface="Nunito"/>
              </a:rPr>
              <a:t> 90 tiết</a:t>
            </a:r>
          </a:p>
        </p:txBody>
      </p:sp>
      <p:sp>
        <p:nvSpPr>
          <p:cNvPr id="22" name="TextBox 21"/>
          <p:cNvSpPr txBox="1"/>
          <p:nvPr/>
        </p:nvSpPr>
        <p:spPr>
          <a:xfrm>
            <a:off x="6591300" y="2466975"/>
            <a:ext cx="2081212" cy="609600"/>
          </a:xfrm>
          <a:prstGeom prst="rect">
            <a:avLst/>
          </a:prstGeom>
          <a:noFill/>
        </p:spPr>
        <p:txBody>
          <a:bodyPr wrap="square" lIns="0" tIns="0" rIns="0" bIns="0" anchor="t">
            <a:spAutoFit/>
          </a:bodyPr>
          <a:lstStyle/>
          <a:p>
            <a:pPr algn="ctr">
              <a:lnSpc>
                <a:spcPts val="4800"/>
              </a:lnSpc>
            </a:pPr>
            <a:r>
              <a:rPr sz="4800" b="0" i="0" u="none">
                <a:solidFill>
                  <a:srgbClr val="1B2452"/>
                </a:solidFill>
                <a:latin typeface="Montserrat ExtraBold"/>
              </a:rPr>
              <a:t>27</a:t>
            </a:r>
          </a:p>
        </p:txBody>
      </p:sp>
      <p:sp>
        <p:nvSpPr>
          <p:cNvPr id="23" name="TextBox 22"/>
          <p:cNvSpPr txBox="1"/>
          <p:nvPr/>
        </p:nvSpPr>
        <p:spPr>
          <a:xfrm>
            <a:off x="6591300" y="3171825"/>
            <a:ext cx="2081212" cy="285750"/>
          </a:xfrm>
          <a:prstGeom prst="rect">
            <a:avLst/>
          </a:prstGeom>
          <a:noFill/>
        </p:spPr>
        <p:txBody>
          <a:bodyPr wrap="square" lIns="0" tIns="0" rIns="0" bIns="0" anchor="t">
            <a:spAutoFit/>
          </a:bodyPr>
          <a:lstStyle/>
          <a:p>
            <a:pPr algn="ctr"/>
            <a:r>
              <a:rPr sz="1650" b="1" i="0" u="none">
                <a:solidFill>
                  <a:srgbClr val="64748B"/>
                </a:solidFill>
                <a:latin typeface="Nunito"/>
              </a:rPr>
              <a:t>Lý thuyết</a:t>
            </a:r>
          </a:p>
        </p:txBody>
      </p:sp>
      <p:sp>
        <p:nvSpPr>
          <p:cNvPr id="24" name="TextBox 23"/>
          <p:cNvSpPr txBox="1"/>
          <p:nvPr/>
        </p:nvSpPr>
        <p:spPr>
          <a:xfrm>
            <a:off x="9329737" y="2466975"/>
            <a:ext cx="2081212" cy="609600"/>
          </a:xfrm>
          <a:prstGeom prst="rect">
            <a:avLst/>
          </a:prstGeom>
          <a:noFill/>
        </p:spPr>
        <p:txBody>
          <a:bodyPr wrap="square" lIns="0" tIns="0" rIns="0" bIns="0" anchor="t">
            <a:spAutoFit/>
          </a:bodyPr>
          <a:lstStyle/>
          <a:p>
            <a:pPr algn="ctr">
              <a:lnSpc>
                <a:spcPts val="4800"/>
              </a:lnSpc>
            </a:pPr>
            <a:r>
              <a:rPr sz="4800" b="0" i="0" u="none">
                <a:solidFill>
                  <a:srgbClr val="1B2452"/>
                </a:solidFill>
                <a:latin typeface="Montserrat ExtraBold"/>
              </a:rPr>
              <a:t>09</a:t>
            </a:r>
          </a:p>
        </p:txBody>
      </p:sp>
      <p:sp>
        <p:nvSpPr>
          <p:cNvPr id="25" name="TextBox 24"/>
          <p:cNvSpPr txBox="1"/>
          <p:nvPr/>
        </p:nvSpPr>
        <p:spPr>
          <a:xfrm>
            <a:off x="9329737" y="3171825"/>
            <a:ext cx="2081212" cy="285750"/>
          </a:xfrm>
          <a:prstGeom prst="rect">
            <a:avLst/>
          </a:prstGeom>
          <a:noFill/>
        </p:spPr>
        <p:txBody>
          <a:bodyPr wrap="square" lIns="0" tIns="0" rIns="0" bIns="0" anchor="t">
            <a:spAutoFit/>
          </a:bodyPr>
          <a:lstStyle/>
          <a:p>
            <a:pPr algn="ctr"/>
            <a:r>
              <a:rPr sz="1650" b="1" i="0" u="none">
                <a:solidFill>
                  <a:srgbClr val="64748B"/>
                </a:solidFill>
                <a:latin typeface="Nunito"/>
              </a:rPr>
              <a:t>Thảo luận</a:t>
            </a:r>
          </a:p>
        </p:txBody>
      </p:sp>
      <p:sp>
        <p:nvSpPr>
          <p:cNvPr id="26" name="TextBox 25"/>
          <p:cNvSpPr txBox="1"/>
          <p:nvPr/>
        </p:nvSpPr>
        <p:spPr>
          <a:xfrm>
            <a:off x="6591300" y="4305300"/>
            <a:ext cx="2081212" cy="609600"/>
          </a:xfrm>
          <a:prstGeom prst="rect">
            <a:avLst/>
          </a:prstGeom>
          <a:noFill/>
        </p:spPr>
        <p:txBody>
          <a:bodyPr wrap="square" lIns="0" tIns="0" rIns="0" bIns="0" anchor="t">
            <a:spAutoFit/>
          </a:bodyPr>
          <a:lstStyle/>
          <a:p>
            <a:pPr algn="ctr">
              <a:lnSpc>
                <a:spcPts val="4800"/>
              </a:lnSpc>
            </a:pPr>
            <a:r>
              <a:rPr sz="4800" b="0" i="0" u="none">
                <a:solidFill>
                  <a:srgbClr val="1B2452"/>
                </a:solidFill>
                <a:latin typeface="Montserrat ExtraBold"/>
              </a:rPr>
              <a:t>24</a:t>
            </a:r>
          </a:p>
        </p:txBody>
      </p:sp>
      <p:sp>
        <p:nvSpPr>
          <p:cNvPr id="27" name="TextBox 26"/>
          <p:cNvSpPr txBox="1"/>
          <p:nvPr/>
        </p:nvSpPr>
        <p:spPr>
          <a:xfrm>
            <a:off x="6591300" y="5010150"/>
            <a:ext cx="2081212" cy="285750"/>
          </a:xfrm>
          <a:prstGeom prst="rect">
            <a:avLst/>
          </a:prstGeom>
          <a:noFill/>
        </p:spPr>
        <p:txBody>
          <a:bodyPr wrap="square" lIns="0" tIns="0" rIns="0" bIns="0" anchor="t">
            <a:spAutoFit/>
          </a:bodyPr>
          <a:lstStyle/>
          <a:p>
            <a:pPr algn="ctr"/>
            <a:r>
              <a:rPr sz="1650" b="1" i="0" u="none">
                <a:solidFill>
                  <a:srgbClr val="64748B"/>
                </a:solidFill>
                <a:latin typeface="Nunito"/>
              </a:rPr>
              <a:t>Thực hành</a:t>
            </a:r>
          </a:p>
        </p:txBody>
      </p:sp>
      <p:sp>
        <p:nvSpPr>
          <p:cNvPr id="28" name="TextBox 27"/>
          <p:cNvSpPr txBox="1"/>
          <p:nvPr/>
        </p:nvSpPr>
        <p:spPr>
          <a:xfrm>
            <a:off x="9329737" y="4305300"/>
            <a:ext cx="2081212" cy="609600"/>
          </a:xfrm>
          <a:prstGeom prst="rect">
            <a:avLst/>
          </a:prstGeom>
          <a:noFill/>
        </p:spPr>
        <p:txBody>
          <a:bodyPr wrap="square" lIns="0" tIns="0" rIns="0" bIns="0" anchor="t">
            <a:spAutoFit/>
          </a:bodyPr>
          <a:lstStyle/>
          <a:p>
            <a:pPr algn="ctr">
              <a:lnSpc>
                <a:spcPts val="4800"/>
              </a:lnSpc>
            </a:pPr>
            <a:r>
              <a:rPr sz="4800" b="0" i="0" u="none">
                <a:solidFill>
                  <a:srgbClr val="FDB913"/>
                </a:solidFill>
                <a:latin typeface="Montserrat ExtraBold"/>
              </a:rPr>
              <a:t>90</a:t>
            </a:r>
          </a:p>
        </p:txBody>
      </p:sp>
      <p:sp>
        <p:nvSpPr>
          <p:cNvPr id="29" name="TextBox 28"/>
          <p:cNvSpPr txBox="1"/>
          <p:nvPr/>
        </p:nvSpPr>
        <p:spPr>
          <a:xfrm>
            <a:off x="9329737" y="5010150"/>
            <a:ext cx="2081212" cy="285750"/>
          </a:xfrm>
          <a:prstGeom prst="rect">
            <a:avLst/>
          </a:prstGeom>
          <a:noFill/>
        </p:spPr>
        <p:txBody>
          <a:bodyPr wrap="square" lIns="0" tIns="0" rIns="0" bIns="0" anchor="t">
            <a:spAutoFit/>
          </a:bodyPr>
          <a:lstStyle/>
          <a:p>
            <a:pPr algn="ctr"/>
            <a:r>
              <a:rPr sz="1650" b="1" i="0" u="none">
                <a:solidFill>
                  <a:srgbClr val="64748B"/>
                </a:solidFill>
                <a:latin typeface="Nunito"/>
              </a:rPr>
              <a:t>Tự học</a:t>
            </a:r>
          </a:p>
        </p:txBody>
      </p:sp>
      <p:pic>
        <p:nvPicPr>
          <p:cNvPr id="30" name="Picture 29" descr="image.png"/>
          <p:cNvPicPr>
            <a:picLocks noChangeAspect="1"/>
          </p:cNvPicPr>
          <p:nvPr/>
        </p:nvPicPr>
        <p:blipFill>
          <a:blip r:embed="rId8"/>
          <a:stretch>
            <a:fillRect/>
          </a:stretch>
        </p:blipFill>
        <p:spPr>
          <a:xfrm>
            <a:off x="571500" y="3371850"/>
            <a:ext cx="228600" cy="247650"/>
          </a:xfrm>
          <a:prstGeom prst="rect">
            <a:avLst/>
          </a:prstGeom>
        </p:spPr>
      </p:pic>
      <p:pic>
        <p:nvPicPr>
          <p:cNvPr id="31" name="Picture 30" descr="image.png"/>
          <p:cNvPicPr>
            <a:picLocks noChangeAspect="1"/>
          </p:cNvPicPr>
          <p:nvPr/>
        </p:nvPicPr>
        <p:blipFill>
          <a:blip r:embed="rId8"/>
          <a:stretch>
            <a:fillRect/>
          </a:stretch>
        </p:blipFill>
        <p:spPr>
          <a:xfrm>
            <a:off x="571500" y="3876675"/>
            <a:ext cx="228600" cy="247650"/>
          </a:xfrm>
          <a:prstGeom prst="rect">
            <a:avLst/>
          </a:prstGeom>
        </p:spPr>
      </p:pic>
      <p:pic>
        <p:nvPicPr>
          <p:cNvPr id="32" name="Picture 31" descr="image.png"/>
          <p:cNvPicPr>
            <a:picLocks noChangeAspect="1"/>
          </p:cNvPicPr>
          <p:nvPr/>
        </p:nvPicPr>
        <p:blipFill>
          <a:blip r:embed="rId8"/>
          <a:stretch>
            <a:fillRect/>
          </a:stretch>
        </p:blipFill>
        <p:spPr>
          <a:xfrm>
            <a:off x="571500" y="4381500"/>
            <a:ext cx="228600" cy="247650"/>
          </a:xfrm>
          <a:prstGeom prst="rect">
            <a:avLst/>
          </a:prstGeom>
        </p:spPr>
      </p:pic>
      <p:pic>
        <p:nvPicPr>
          <p:cNvPr id="33" name="Picture 32" descr="image.png"/>
          <p:cNvPicPr>
            <a:picLocks noChangeAspect="1"/>
          </p:cNvPicPr>
          <p:nvPr/>
        </p:nvPicPr>
        <p:blipFill>
          <a:blip r:embed="rId8"/>
          <a:stretch>
            <a:fillRect/>
          </a:stretch>
        </p:blipFill>
        <p:spPr>
          <a:xfrm>
            <a:off x="571500" y="4886325"/>
            <a:ext cx="228600" cy="2476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571500" y="2162175"/>
            <a:ext cx="3492549" cy="4210050"/>
          </a:xfrm>
          <a:prstGeom prst="rect">
            <a:avLst/>
          </a:prstGeom>
        </p:spPr>
      </p:pic>
      <p:pic>
        <p:nvPicPr>
          <p:cNvPr id="4" name="Picture 3" descr="image.png"/>
          <p:cNvPicPr>
            <a:picLocks noChangeAspect="1"/>
          </p:cNvPicPr>
          <p:nvPr/>
        </p:nvPicPr>
        <p:blipFill>
          <a:blip r:embed="rId4"/>
          <a:stretch>
            <a:fillRect/>
          </a:stretch>
        </p:blipFill>
        <p:spPr>
          <a:xfrm>
            <a:off x="4349799" y="2162175"/>
            <a:ext cx="3492549" cy="4210050"/>
          </a:xfrm>
          <a:prstGeom prst="rect">
            <a:avLst/>
          </a:prstGeom>
        </p:spPr>
      </p:pic>
      <p:pic>
        <p:nvPicPr>
          <p:cNvPr id="5" name="Picture 4" descr="image.png"/>
          <p:cNvPicPr>
            <a:picLocks noChangeAspect="1"/>
          </p:cNvPicPr>
          <p:nvPr/>
        </p:nvPicPr>
        <p:blipFill>
          <a:blip r:embed="rId5"/>
          <a:stretch>
            <a:fillRect/>
          </a:stretch>
        </p:blipFill>
        <p:spPr>
          <a:xfrm>
            <a:off x="8128099" y="2162175"/>
            <a:ext cx="3492549" cy="4210050"/>
          </a:xfrm>
          <a:prstGeom prst="rect">
            <a:avLst/>
          </a:prstGeom>
        </p:spPr>
      </p:pic>
      <p:pic>
        <p:nvPicPr>
          <p:cNvPr id="6" name="Picture 5" descr="image.png"/>
          <p:cNvPicPr>
            <a:picLocks noChangeAspect="1"/>
          </p:cNvPicPr>
          <p:nvPr/>
        </p:nvPicPr>
        <p:blipFill>
          <a:blip r:embed="rId6"/>
          <a:stretch>
            <a:fillRect/>
          </a:stretch>
        </p:blipFill>
        <p:spPr>
          <a:xfrm>
            <a:off x="0" y="0"/>
            <a:ext cx="12192000" cy="904875"/>
          </a:xfrm>
          <a:prstGeom prst="rect">
            <a:avLst/>
          </a:prstGeom>
        </p:spPr>
      </p:pic>
      <p:sp>
        <p:nvSpPr>
          <p:cNvPr id="7" name="TextBox 6"/>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CẤU TRÚC NỘI DUNG HỌC PHẦN</a:t>
            </a:r>
          </a:p>
        </p:txBody>
      </p:sp>
      <p:sp>
        <p:nvSpPr>
          <p:cNvPr id="8" name="Rounded Rectangle 7"/>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0550" y="1333500"/>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7"/>
          <a:stretch>
            <a:fillRect/>
          </a:stretch>
        </p:blipFill>
        <p:spPr>
          <a:xfrm>
            <a:off x="285750" y="142875"/>
            <a:ext cx="531316" cy="619125"/>
          </a:xfrm>
          <a:prstGeom prst="rect">
            <a:avLst/>
          </a:prstGeom>
        </p:spPr>
      </p:pic>
      <p:sp>
        <p:nvSpPr>
          <p:cNvPr id="13" name="TextBox 12"/>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4" name="TextBox 13"/>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5" name="Rectangle 14"/>
          <p:cNvSpPr/>
          <p:nvPr/>
        </p:nvSpPr>
        <p:spPr>
          <a:xfrm>
            <a:off x="590550" y="218122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000" y="235267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Phần 1</a:t>
            </a:r>
          </a:p>
        </p:txBody>
      </p:sp>
      <p:sp>
        <p:nvSpPr>
          <p:cNvPr id="17" name="TextBox 16"/>
          <p:cNvSpPr txBox="1"/>
          <p:nvPr/>
        </p:nvSpPr>
        <p:spPr>
          <a:xfrm>
            <a:off x="704213" y="3067050"/>
            <a:ext cx="3227122" cy="533400"/>
          </a:xfrm>
          <a:prstGeom prst="rect">
            <a:avLst/>
          </a:prstGeom>
          <a:noFill/>
        </p:spPr>
        <p:txBody>
          <a:bodyPr wrap="square" lIns="0" tIns="0" rIns="0" bIns="0" anchor="ctr">
            <a:spAutoFit/>
          </a:bodyPr>
          <a:lstStyle/>
          <a:p>
            <a:pPr algn="ctr">
              <a:lnSpc>
                <a:spcPts val="2100"/>
              </a:lnSpc>
            </a:pPr>
            <a:r>
              <a:rPr sz="1500" b="1" i="0" u="none">
                <a:solidFill>
                  <a:srgbClr val="FDB913"/>
                </a:solidFill>
                <a:latin typeface="Montserrat"/>
              </a:rPr>
              <a:t>Nền tảng ngôn ngữ và Cấu trúc cơ bản</a:t>
            </a:r>
          </a:p>
        </p:txBody>
      </p:sp>
      <p:sp>
        <p:nvSpPr>
          <p:cNvPr id="18" name="Rectangle 17"/>
          <p:cNvSpPr/>
          <p:nvPr/>
        </p:nvSpPr>
        <p:spPr>
          <a:xfrm>
            <a:off x="4368849" y="218122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40299" y="235267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Phần 2</a:t>
            </a:r>
          </a:p>
        </p:txBody>
      </p:sp>
      <p:sp>
        <p:nvSpPr>
          <p:cNvPr id="20" name="TextBox 19"/>
          <p:cNvSpPr txBox="1"/>
          <p:nvPr/>
        </p:nvSpPr>
        <p:spPr>
          <a:xfrm>
            <a:off x="4482513" y="3067050"/>
            <a:ext cx="3227122" cy="533400"/>
          </a:xfrm>
          <a:prstGeom prst="rect">
            <a:avLst/>
          </a:prstGeom>
          <a:noFill/>
        </p:spPr>
        <p:txBody>
          <a:bodyPr wrap="square" lIns="0" tIns="0" rIns="0" bIns="0" anchor="ctr">
            <a:spAutoFit/>
          </a:bodyPr>
          <a:lstStyle/>
          <a:p>
            <a:pPr algn="ctr">
              <a:lnSpc>
                <a:spcPts val="2100"/>
              </a:lnSpc>
            </a:pPr>
            <a:r>
              <a:rPr sz="1500" b="1" i="0" u="none">
                <a:solidFill>
                  <a:srgbClr val="FDB913"/>
                </a:solidFill>
                <a:latin typeface="Montserrat"/>
              </a:rPr>
              <a:t>Xây dựng Giao diện và Quản lý Tương tác</a:t>
            </a:r>
          </a:p>
        </p:txBody>
      </p:sp>
      <p:sp>
        <p:nvSpPr>
          <p:cNvPr id="21" name="Rectangle 20"/>
          <p:cNvSpPr/>
          <p:nvPr/>
        </p:nvSpPr>
        <p:spPr>
          <a:xfrm>
            <a:off x="8147149" y="218122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18599" y="235267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Phần 3</a:t>
            </a:r>
          </a:p>
        </p:txBody>
      </p:sp>
      <p:sp>
        <p:nvSpPr>
          <p:cNvPr id="23" name="TextBox 22"/>
          <p:cNvSpPr txBox="1"/>
          <p:nvPr/>
        </p:nvSpPr>
        <p:spPr>
          <a:xfrm>
            <a:off x="8260812" y="3067050"/>
            <a:ext cx="3227122" cy="533400"/>
          </a:xfrm>
          <a:prstGeom prst="rect">
            <a:avLst/>
          </a:prstGeom>
          <a:noFill/>
        </p:spPr>
        <p:txBody>
          <a:bodyPr wrap="square" lIns="0" tIns="0" rIns="0" bIns="0" anchor="ctr">
            <a:spAutoFit/>
          </a:bodyPr>
          <a:lstStyle/>
          <a:p>
            <a:pPr algn="ctr">
              <a:lnSpc>
                <a:spcPts val="2100"/>
              </a:lnSpc>
            </a:pPr>
            <a:r>
              <a:rPr sz="1500" b="1" i="0" u="none">
                <a:solidFill>
                  <a:srgbClr val="FDB913"/>
                </a:solidFill>
                <a:latin typeface="Montserrat"/>
              </a:rPr>
              <a:t>Tích hợp, Nâng cao và Triển khai thực tế</a:t>
            </a:r>
          </a:p>
        </p:txBody>
      </p:sp>
      <p:sp>
        <p:nvSpPr>
          <p:cNvPr id="24" name="TextBox 23"/>
          <p:cNvSpPr txBox="1"/>
          <p:nvPr/>
        </p:nvSpPr>
        <p:spPr>
          <a:xfrm>
            <a:off x="933450" y="3743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5" name="TextBox 24"/>
          <p:cNvSpPr txBox="1"/>
          <p:nvPr/>
        </p:nvSpPr>
        <p:spPr>
          <a:xfrm>
            <a:off x="1019175" y="374332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1:</a:t>
            </a:r>
            <a:r>
              <a:rPr sz="1350" b="0" i="0" u="none">
                <a:solidFill>
                  <a:srgbClr val="2C3E50"/>
                </a:solidFill>
                <a:latin typeface="Nunito"/>
              </a:rPr>
              <a:t> Giới thiệu về Flutter</a:t>
            </a:r>
          </a:p>
        </p:txBody>
      </p:sp>
      <p:sp>
        <p:nvSpPr>
          <p:cNvPr id="26" name="TextBox 25"/>
          <p:cNvSpPr txBox="1"/>
          <p:nvPr/>
        </p:nvSpPr>
        <p:spPr>
          <a:xfrm>
            <a:off x="933450" y="41433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7" name="TextBox 26"/>
          <p:cNvSpPr txBox="1"/>
          <p:nvPr/>
        </p:nvSpPr>
        <p:spPr>
          <a:xfrm>
            <a:off x="1019175" y="414337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2:</a:t>
            </a:r>
            <a:r>
              <a:rPr sz="1350" b="0" i="0" u="none">
                <a:solidFill>
                  <a:srgbClr val="2C3E50"/>
                </a:solidFill>
                <a:latin typeface="Nunito"/>
              </a:rPr>
              <a:t> Kiến thức cơ bản về Dart</a:t>
            </a:r>
          </a:p>
        </p:txBody>
      </p:sp>
      <p:sp>
        <p:nvSpPr>
          <p:cNvPr id="28" name="TextBox 27"/>
          <p:cNvSpPr txBox="1"/>
          <p:nvPr/>
        </p:nvSpPr>
        <p:spPr>
          <a:xfrm>
            <a:off x="933450" y="45434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9" name="TextBox 28"/>
          <p:cNvSpPr txBox="1"/>
          <p:nvPr/>
        </p:nvSpPr>
        <p:spPr>
          <a:xfrm>
            <a:off x="1019175" y="454342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3:</a:t>
            </a:r>
            <a:r>
              <a:rPr sz="1350" b="0" i="0" u="none">
                <a:solidFill>
                  <a:srgbClr val="2C3E50"/>
                </a:solidFill>
                <a:latin typeface="Nunito"/>
              </a:rPr>
              <a:t> Kỹ thuật lập trình Dart nâng cao</a:t>
            </a:r>
          </a:p>
        </p:txBody>
      </p:sp>
      <p:sp>
        <p:nvSpPr>
          <p:cNvPr id="30" name="TextBox 29"/>
          <p:cNvSpPr txBox="1"/>
          <p:nvPr/>
        </p:nvSpPr>
        <p:spPr>
          <a:xfrm>
            <a:off x="4711749" y="3743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1" name="TextBox 30"/>
          <p:cNvSpPr txBox="1"/>
          <p:nvPr/>
        </p:nvSpPr>
        <p:spPr>
          <a:xfrm>
            <a:off x="4797474" y="374332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4:</a:t>
            </a:r>
            <a:r>
              <a:rPr sz="1350" b="0" i="0" u="none">
                <a:solidFill>
                  <a:srgbClr val="2C3E50"/>
                </a:solidFill>
                <a:latin typeface="Nunito"/>
              </a:rPr>
              <a:t> Giao diện cơ bản với Flutter</a:t>
            </a:r>
          </a:p>
        </p:txBody>
      </p:sp>
      <p:sp>
        <p:nvSpPr>
          <p:cNvPr id="32" name="TextBox 31"/>
          <p:cNvSpPr txBox="1"/>
          <p:nvPr/>
        </p:nvSpPr>
        <p:spPr>
          <a:xfrm>
            <a:off x="4711749" y="4400550"/>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3" name="TextBox 32"/>
          <p:cNvSpPr txBox="1"/>
          <p:nvPr/>
        </p:nvSpPr>
        <p:spPr>
          <a:xfrm>
            <a:off x="4797474" y="4400550"/>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5:</a:t>
            </a:r>
            <a:r>
              <a:rPr sz="1350" b="0" i="0" u="none">
                <a:solidFill>
                  <a:srgbClr val="2C3E50"/>
                </a:solidFill>
                <a:latin typeface="Nunito"/>
              </a:rPr>
              <a:t> Điều hướng màn hình và Quản trị State</a:t>
            </a:r>
          </a:p>
        </p:txBody>
      </p:sp>
      <p:sp>
        <p:nvSpPr>
          <p:cNvPr id="34" name="TextBox 33"/>
          <p:cNvSpPr txBox="1"/>
          <p:nvPr/>
        </p:nvSpPr>
        <p:spPr>
          <a:xfrm>
            <a:off x="4711749" y="50577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5" name="TextBox 34"/>
          <p:cNvSpPr txBox="1"/>
          <p:nvPr/>
        </p:nvSpPr>
        <p:spPr>
          <a:xfrm>
            <a:off x="4797474" y="505777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6:</a:t>
            </a:r>
            <a:r>
              <a:rPr sz="1350" b="0" i="0" u="none">
                <a:solidFill>
                  <a:srgbClr val="2C3E50"/>
                </a:solidFill>
                <a:latin typeface="Nunito"/>
              </a:rPr>
              <a:t> Biểu mẫu và Xác thực ràng buộc dữ liệu</a:t>
            </a:r>
          </a:p>
        </p:txBody>
      </p:sp>
      <p:sp>
        <p:nvSpPr>
          <p:cNvPr id="36" name="TextBox 35"/>
          <p:cNvSpPr txBox="1"/>
          <p:nvPr/>
        </p:nvSpPr>
        <p:spPr>
          <a:xfrm>
            <a:off x="8490049" y="3743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7" name="TextBox 36"/>
          <p:cNvSpPr txBox="1"/>
          <p:nvPr/>
        </p:nvSpPr>
        <p:spPr>
          <a:xfrm>
            <a:off x="8575774" y="374332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7:</a:t>
            </a:r>
            <a:r>
              <a:rPr sz="1350" b="0" i="0" u="none">
                <a:solidFill>
                  <a:srgbClr val="2C3E50"/>
                </a:solidFill>
                <a:latin typeface="Nunito"/>
              </a:rPr>
              <a:t> RESTful APIs &amp; JSON</a:t>
            </a:r>
          </a:p>
        </p:txBody>
      </p:sp>
      <p:sp>
        <p:nvSpPr>
          <p:cNvPr id="38" name="TextBox 37"/>
          <p:cNvSpPr txBox="1"/>
          <p:nvPr/>
        </p:nvSpPr>
        <p:spPr>
          <a:xfrm>
            <a:off x="8490049" y="41433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9" name="TextBox 38"/>
          <p:cNvSpPr txBox="1"/>
          <p:nvPr/>
        </p:nvSpPr>
        <p:spPr>
          <a:xfrm>
            <a:off x="8575774" y="414337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8:</a:t>
            </a:r>
            <a:r>
              <a:rPr sz="1350" b="0" i="0" u="none">
                <a:solidFill>
                  <a:srgbClr val="2C3E50"/>
                </a:solidFill>
                <a:latin typeface="Nunito"/>
              </a:rPr>
              <a:t> Local Storage &amp; Persistence</a:t>
            </a:r>
          </a:p>
        </p:txBody>
      </p:sp>
      <p:sp>
        <p:nvSpPr>
          <p:cNvPr id="40" name="TextBox 39"/>
          <p:cNvSpPr txBox="1"/>
          <p:nvPr/>
        </p:nvSpPr>
        <p:spPr>
          <a:xfrm>
            <a:off x="8490049" y="4800600"/>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41" name="TextBox 40"/>
          <p:cNvSpPr txBox="1"/>
          <p:nvPr/>
        </p:nvSpPr>
        <p:spPr>
          <a:xfrm>
            <a:off x="8575774" y="4800600"/>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9:</a:t>
            </a:r>
            <a:r>
              <a:rPr sz="1350" b="0" i="0" u="none">
                <a:solidFill>
                  <a:srgbClr val="2C3E50"/>
                </a:solidFill>
                <a:latin typeface="Nunito"/>
              </a:rPr>
              <a:t> Auth, Session Management &amp; Notifications</a:t>
            </a:r>
          </a:p>
        </p:txBody>
      </p:sp>
      <p:sp>
        <p:nvSpPr>
          <p:cNvPr id="42" name="TextBox 41"/>
          <p:cNvSpPr txBox="1"/>
          <p:nvPr/>
        </p:nvSpPr>
        <p:spPr>
          <a:xfrm>
            <a:off x="8490049" y="54578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43" name="TextBox 42"/>
          <p:cNvSpPr txBox="1"/>
          <p:nvPr/>
        </p:nvSpPr>
        <p:spPr>
          <a:xfrm>
            <a:off x="8575774" y="545782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Chương 10:</a:t>
            </a:r>
            <a:r>
              <a:rPr sz="1350" b="0" i="0" u="none">
                <a:solidFill>
                  <a:srgbClr val="2C3E50"/>
                </a:solidFill>
                <a:latin typeface="Nunito"/>
              </a:rPr>
              <a:t> Tối ưu hóa, Đo đạc &amp; Đóng gói phát hành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0" y="0"/>
            <a:ext cx="12192000" cy="904875"/>
          </a:xfrm>
          <a:prstGeom prst="rect">
            <a:avLst/>
          </a:prstGeom>
        </p:spPr>
      </p:pic>
      <p:sp>
        <p:nvSpPr>
          <p:cNvPr id="4" name="TextBox 3"/>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PHƯƠNG PHÁP DẠY HỌC</a:t>
            </a:r>
          </a:p>
        </p:txBody>
      </p:sp>
      <p:sp>
        <p:nvSpPr>
          <p:cNvPr id="5" name="TextBox 4"/>
          <p:cNvSpPr txBox="1"/>
          <p:nvPr/>
        </p:nvSpPr>
        <p:spPr>
          <a:xfrm>
            <a:off x="571500" y="2162175"/>
            <a:ext cx="11049000" cy="314325"/>
          </a:xfrm>
          <a:prstGeom prst="rect">
            <a:avLst/>
          </a:prstGeom>
          <a:noFill/>
        </p:spPr>
        <p:txBody>
          <a:bodyPr wrap="square" lIns="0" tIns="0" rIns="0" bIns="0" anchor="t">
            <a:spAutoFit/>
          </a:bodyPr>
          <a:lstStyle/>
          <a:p>
            <a:pPr algn="l">
              <a:lnSpc>
                <a:spcPts val="2475"/>
              </a:lnSpc>
            </a:pPr>
            <a:r>
              <a:rPr sz="1650" b="0" i="1" u="none">
                <a:solidFill>
                  <a:srgbClr val="64748B"/>
                </a:solidFill>
                <a:latin typeface="Nunito"/>
              </a:rPr>
              <a:t>Đề cương hiện sử dụng mô hình kết hợp lý thuyết - minh họa - thực hành và có dự án cuối kỳ.</a:t>
            </a:r>
          </a:p>
        </p:txBody>
      </p:sp>
      <p:sp>
        <p:nvSpPr>
          <p:cNvPr id="6" name="Rounded Rectangle 5"/>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1381125"/>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4"/>
          <a:stretch>
            <a:fillRect/>
          </a:stretch>
        </p:blipFill>
        <p:spPr>
          <a:xfrm>
            <a:off x="285750" y="142875"/>
            <a:ext cx="531316" cy="619125"/>
          </a:xfrm>
          <a:prstGeom prst="rect">
            <a:avLst/>
          </a:prstGeom>
        </p:spPr>
      </p:pic>
      <p:sp>
        <p:nvSpPr>
          <p:cNvPr id="11" name="TextBox 10"/>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2" name="TextBox 11"/>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pic>
        <p:nvPicPr>
          <p:cNvPr id="13" name="Picture 12" descr="image.png"/>
          <p:cNvPicPr>
            <a:picLocks noChangeAspect="1"/>
          </p:cNvPicPr>
          <p:nvPr/>
        </p:nvPicPr>
        <p:blipFill>
          <a:blip r:embed="rId5"/>
          <a:stretch>
            <a:fillRect/>
          </a:stretch>
        </p:blipFill>
        <p:spPr>
          <a:xfrm>
            <a:off x="914400" y="3095625"/>
            <a:ext cx="476250" cy="400050"/>
          </a:xfrm>
          <a:prstGeom prst="rect">
            <a:avLst/>
          </a:prstGeom>
        </p:spPr>
      </p:pic>
      <p:pic>
        <p:nvPicPr>
          <p:cNvPr id="14" name="Picture 13" descr="image.png"/>
          <p:cNvPicPr>
            <a:picLocks noChangeAspect="1"/>
          </p:cNvPicPr>
          <p:nvPr/>
        </p:nvPicPr>
        <p:blipFill>
          <a:blip r:embed="rId6"/>
          <a:stretch>
            <a:fillRect/>
          </a:stretch>
        </p:blipFill>
        <p:spPr>
          <a:xfrm>
            <a:off x="6581775" y="3095625"/>
            <a:ext cx="476250" cy="400050"/>
          </a:xfrm>
          <a:prstGeom prst="rect">
            <a:avLst/>
          </a:prstGeom>
        </p:spPr>
      </p:pic>
      <p:pic>
        <p:nvPicPr>
          <p:cNvPr id="15" name="Picture 14" descr="image.png"/>
          <p:cNvPicPr>
            <a:picLocks noChangeAspect="1"/>
          </p:cNvPicPr>
          <p:nvPr/>
        </p:nvPicPr>
        <p:blipFill>
          <a:blip r:embed="rId7"/>
          <a:stretch>
            <a:fillRect/>
          </a:stretch>
        </p:blipFill>
        <p:spPr>
          <a:xfrm>
            <a:off x="914400" y="5000625"/>
            <a:ext cx="476250" cy="400050"/>
          </a:xfrm>
          <a:prstGeom prst="rect">
            <a:avLst/>
          </a:prstGeom>
        </p:spPr>
      </p:pic>
      <p:pic>
        <p:nvPicPr>
          <p:cNvPr id="16" name="Picture 15" descr="image.png"/>
          <p:cNvPicPr>
            <a:picLocks noChangeAspect="1"/>
          </p:cNvPicPr>
          <p:nvPr/>
        </p:nvPicPr>
        <p:blipFill>
          <a:blip r:embed="rId8"/>
          <a:stretch>
            <a:fillRect/>
          </a:stretch>
        </p:blipFill>
        <p:spPr>
          <a:xfrm>
            <a:off x="6581775" y="5000625"/>
            <a:ext cx="447675" cy="400050"/>
          </a:xfrm>
          <a:prstGeom prst="rect">
            <a:avLst/>
          </a:prstGeom>
        </p:spPr>
      </p:pic>
      <p:sp>
        <p:nvSpPr>
          <p:cNvPr id="17" name="TextBox 16"/>
          <p:cNvSpPr txBox="1"/>
          <p:nvPr/>
        </p:nvSpPr>
        <p:spPr>
          <a:xfrm>
            <a:off x="1628775" y="3048000"/>
            <a:ext cx="4240530" cy="304800"/>
          </a:xfrm>
          <a:prstGeom prst="rect">
            <a:avLst/>
          </a:prstGeom>
          <a:noFill/>
        </p:spPr>
        <p:txBody>
          <a:bodyPr wrap="square" lIns="0" tIns="0" rIns="0" bIns="0" anchor="t">
            <a:spAutoFit/>
          </a:bodyPr>
          <a:lstStyle/>
          <a:p>
            <a:pPr algn="l"/>
            <a:r>
              <a:rPr sz="1950" b="1" i="0" u="none">
                <a:solidFill>
                  <a:srgbClr val="1B2452"/>
                </a:solidFill>
                <a:latin typeface="Montserrat"/>
              </a:rPr>
              <a:t>Giảng dạy</a:t>
            </a:r>
          </a:p>
        </p:txBody>
      </p:sp>
      <p:sp>
        <p:nvSpPr>
          <p:cNvPr id="18" name="TextBox 17"/>
          <p:cNvSpPr txBox="1"/>
          <p:nvPr/>
        </p:nvSpPr>
        <p:spPr>
          <a:xfrm>
            <a:off x="1628775" y="3467100"/>
            <a:ext cx="4038600" cy="542925"/>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Thuyết trình, giải thích nội dung chương, chiếu clip nêu vấn đề. Demo trực tiếp.</a:t>
            </a:r>
          </a:p>
        </p:txBody>
      </p:sp>
      <p:sp>
        <p:nvSpPr>
          <p:cNvPr id="19" name="TextBox 18"/>
          <p:cNvSpPr txBox="1"/>
          <p:nvPr/>
        </p:nvSpPr>
        <p:spPr>
          <a:xfrm>
            <a:off x="7296150" y="3048000"/>
            <a:ext cx="4240530" cy="304800"/>
          </a:xfrm>
          <a:prstGeom prst="rect">
            <a:avLst/>
          </a:prstGeom>
          <a:noFill/>
        </p:spPr>
        <p:txBody>
          <a:bodyPr wrap="square" lIns="0" tIns="0" rIns="0" bIns="0" anchor="t">
            <a:spAutoFit/>
          </a:bodyPr>
          <a:lstStyle/>
          <a:p>
            <a:pPr algn="l"/>
            <a:r>
              <a:rPr sz="1950" b="1" i="0" u="none">
                <a:solidFill>
                  <a:srgbClr val="1B2452"/>
                </a:solidFill>
                <a:latin typeface="Montserrat"/>
              </a:rPr>
              <a:t>Học trên lớp</a:t>
            </a:r>
          </a:p>
        </p:txBody>
      </p:sp>
      <p:sp>
        <p:nvSpPr>
          <p:cNvPr id="20" name="TextBox 19"/>
          <p:cNvSpPr txBox="1"/>
          <p:nvPr/>
        </p:nvSpPr>
        <p:spPr>
          <a:xfrm>
            <a:off x="7296150" y="3467100"/>
            <a:ext cx="4038600" cy="542925"/>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Trả lời câu hỏi, đặt câu hỏi, nghe giảng, ghi chép, tham gia hoạt động nhóm.</a:t>
            </a:r>
          </a:p>
        </p:txBody>
      </p:sp>
      <p:sp>
        <p:nvSpPr>
          <p:cNvPr id="21" name="TextBox 20"/>
          <p:cNvSpPr txBox="1"/>
          <p:nvPr/>
        </p:nvSpPr>
        <p:spPr>
          <a:xfrm>
            <a:off x="1628775" y="4953000"/>
            <a:ext cx="4240530" cy="304800"/>
          </a:xfrm>
          <a:prstGeom prst="rect">
            <a:avLst/>
          </a:prstGeom>
          <a:noFill/>
        </p:spPr>
        <p:txBody>
          <a:bodyPr wrap="square" lIns="0" tIns="0" rIns="0" bIns="0" anchor="t">
            <a:spAutoFit/>
          </a:bodyPr>
          <a:lstStyle/>
          <a:p>
            <a:pPr algn="l"/>
            <a:r>
              <a:rPr sz="1950" b="1" i="0" u="none">
                <a:solidFill>
                  <a:srgbClr val="1B2452"/>
                </a:solidFill>
                <a:latin typeface="Montserrat"/>
              </a:rPr>
              <a:t>Học ở nhà</a:t>
            </a:r>
          </a:p>
        </p:txBody>
      </p:sp>
      <p:sp>
        <p:nvSpPr>
          <p:cNvPr id="22" name="TextBox 21"/>
          <p:cNvSpPr txBox="1"/>
          <p:nvPr/>
        </p:nvSpPr>
        <p:spPr>
          <a:xfrm>
            <a:off x="1628775" y="5372100"/>
            <a:ext cx="4038600" cy="542925"/>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Ôn tập, chuẩn bị môi trường, đọc trước tài liệu, chuẩn bị câu hỏi.</a:t>
            </a:r>
          </a:p>
        </p:txBody>
      </p:sp>
      <p:sp>
        <p:nvSpPr>
          <p:cNvPr id="23" name="TextBox 22"/>
          <p:cNvSpPr txBox="1"/>
          <p:nvPr/>
        </p:nvSpPr>
        <p:spPr>
          <a:xfrm>
            <a:off x="7267575" y="4953000"/>
            <a:ext cx="4270533" cy="304800"/>
          </a:xfrm>
          <a:prstGeom prst="rect">
            <a:avLst/>
          </a:prstGeom>
          <a:noFill/>
        </p:spPr>
        <p:txBody>
          <a:bodyPr wrap="square" lIns="0" tIns="0" rIns="0" bIns="0" anchor="t">
            <a:spAutoFit/>
          </a:bodyPr>
          <a:lstStyle/>
          <a:p>
            <a:pPr algn="l"/>
            <a:r>
              <a:rPr sz="1950" b="1" i="0" u="none">
                <a:solidFill>
                  <a:srgbClr val="1B2452"/>
                </a:solidFill>
                <a:latin typeface="Montserrat"/>
              </a:rPr>
              <a:t>Đánh giá</a:t>
            </a:r>
          </a:p>
        </p:txBody>
      </p:sp>
      <p:sp>
        <p:nvSpPr>
          <p:cNvPr id="24" name="TextBox 23"/>
          <p:cNvSpPr txBox="1"/>
          <p:nvPr/>
        </p:nvSpPr>
        <p:spPr>
          <a:xfrm>
            <a:off x="7267575" y="5372100"/>
            <a:ext cx="4067175" cy="542925"/>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Chuyên cần, 2 bài kiểm tra trắc nghiệm + bài tập, cuối kỳ đánh giá bằng dự 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1000125" y="3438525"/>
            <a:ext cx="857250" cy="857250"/>
          </a:xfrm>
          <a:prstGeom prst="rect">
            <a:avLst/>
          </a:prstGeom>
        </p:spPr>
      </p:pic>
      <p:pic>
        <p:nvPicPr>
          <p:cNvPr id="4" name="Picture 3" descr="image.png"/>
          <p:cNvPicPr>
            <a:picLocks noChangeAspect="1"/>
          </p:cNvPicPr>
          <p:nvPr/>
        </p:nvPicPr>
        <p:blipFill>
          <a:blip r:embed="rId4"/>
          <a:stretch>
            <a:fillRect/>
          </a:stretch>
        </p:blipFill>
        <p:spPr>
          <a:xfrm>
            <a:off x="3333750" y="3438525"/>
            <a:ext cx="857250" cy="857250"/>
          </a:xfrm>
          <a:prstGeom prst="rect">
            <a:avLst/>
          </a:prstGeom>
        </p:spPr>
      </p:pic>
      <p:pic>
        <p:nvPicPr>
          <p:cNvPr id="5" name="Picture 4" descr="image.png"/>
          <p:cNvPicPr>
            <a:picLocks noChangeAspect="1"/>
          </p:cNvPicPr>
          <p:nvPr/>
        </p:nvPicPr>
        <p:blipFill>
          <a:blip r:embed="rId5"/>
          <a:stretch>
            <a:fillRect/>
          </a:stretch>
        </p:blipFill>
        <p:spPr>
          <a:xfrm>
            <a:off x="5667375" y="3438525"/>
            <a:ext cx="857250" cy="857250"/>
          </a:xfrm>
          <a:prstGeom prst="rect">
            <a:avLst/>
          </a:prstGeom>
        </p:spPr>
      </p:pic>
      <p:pic>
        <p:nvPicPr>
          <p:cNvPr id="6" name="Picture 5" descr="image.png"/>
          <p:cNvPicPr>
            <a:picLocks noChangeAspect="1"/>
          </p:cNvPicPr>
          <p:nvPr/>
        </p:nvPicPr>
        <p:blipFill>
          <a:blip r:embed="rId6"/>
          <a:stretch>
            <a:fillRect/>
          </a:stretch>
        </p:blipFill>
        <p:spPr>
          <a:xfrm>
            <a:off x="8001000" y="3438525"/>
            <a:ext cx="857250" cy="857250"/>
          </a:xfrm>
          <a:prstGeom prst="rect">
            <a:avLst/>
          </a:prstGeom>
        </p:spPr>
      </p:pic>
      <p:pic>
        <p:nvPicPr>
          <p:cNvPr id="7" name="Picture 6" descr="image.png"/>
          <p:cNvPicPr>
            <a:picLocks noChangeAspect="1"/>
          </p:cNvPicPr>
          <p:nvPr/>
        </p:nvPicPr>
        <p:blipFill>
          <a:blip r:embed="rId7"/>
          <a:stretch>
            <a:fillRect/>
          </a:stretch>
        </p:blipFill>
        <p:spPr>
          <a:xfrm>
            <a:off x="10334625" y="3438525"/>
            <a:ext cx="857250" cy="857250"/>
          </a:xfrm>
          <a:prstGeom prst="rect">
            <a:avLst/>
          </a:prstGeom>
        </p:spPr>
      </p:pic>
      <p:pic>
        <p:nvPicPr>
          <p:cNvPr id="8" name="Picture 7" descr="image.png"/>
          <p:cNvPicPr>
            <a:picLocks noChangeAspect="1"/>
          </p:cNvPicPr>
          <p:nvPr/>
        </p:nvPicPr>
        <p:blipFill>
          <a:blip r:embed="rId8"/>
          <a:stretch>
            <a:fillRect/>
          </a:stretch>
        </p:blipFill>
        <p:spPr>
          <a:xfrm>
            <a:off x="0" y="0"/>
            <a:ext cx="12192000" cy="904875"/>
          </a:xfrm>
          <a:prstGeom prst="rect">
            <a:avLst/>
          </a:prstGeom>
        </p:spPr>
      </p:pic>
      <p:sp>
        <p:nvSpPr>
          <p:cNvPr id="9" name="TextBox 8"/>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DẠY TRIỂN KHAI DỰ ÁN TRÊN FONT END DI ĐỘNG</a:t>
            </a:r>
          </a:p>
        </p:txBody>
      </p:sp>
      <p:sp>
        <p:nvSpPr>
          <p:cNvPr id="10" name="TextBox 9"/>
          <p:cNvSpPr txBox="1"/>
          <p:nvPr/>
        </p:nvSpPr>
        <p:spPr>
          <a:xfrm>
            <a:off x="638175" y="2162175"/>
            <a:ext cx="10687685" cy="645795"/>
          </a:xfrm>
          <a:prstGeom prst="rect">
            <a:avLst/>
          </a:prstGeom>
          <a:noFill/>
        </p:spPr>
        <p:txBody>
          <a:bodyPr wrap="square" lIns="0" tIns="0" rIns="0" bIns="0" anchor="t">
            <a:spAutoFit/>
          </a:bodyPr>
          <a:lstStyle/>
          <a:p>
            <a:pPr algn="ctr"/>
            <a:r>
              <a:rPr sz="2100" b="1" i="0" u="none">
                <a:solidFill>
                  <a:srgbClr val="64748B"/>
                </a:solidFill>
                <a:latin typeface="Montserrat"/>
              </a:rPr>
              <a:t>Triển khai: </a:t>
            </a:r>
            <a:r>
              <a:rPr lang="vi-VN" sz="2100" b="1" i="0" u="none">
                <a:solidFill>
                  <a:srgbClr val="64748B"/>
                </a:solidFill>
                <a:latin typeface="Montserrat"/>
              </a:rPr>
              <a:t>Sinh viên tiếp cận từ các vấn đề nhỏ để đảm bảo thời điểm hình thành dự án tương ứng với chất lượng sản phẩm</a:t>
            </a:r>
          </a:p>
        </p:txBody>
      </p:sp>
      <p:sp>
        <p:nvSpPr>
          <p:cNvPr id="11" name="Rounded Rectangle 10"/>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63880" y="1428750"/>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9"/>
          <a:stretch>
            <a:fillRect/>
          </a:stretch>
        </p:blipFill>
        <p:spPr>
          <a:xfrm>
            <a:off x="285750" y="142875"/>
            <a:ext cx="531316" cy="619125"/>
          </a:xfrm>
          <a:prstGeom prst="rect">
            <a:avLst/>
          </a:prstGeom>
        </p:spPr>
      </p:pic>
      <p:sp>
        <p:nvSpPr>
          <p:cNvPr id="16" name="TextBox 15"/>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7" name="TextBox 16"/>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8" name="TextBox 17"/>
          <p:cNvSpPr txBox="1"/>
          <p:nvPr/>
        </p:nvSpPr>
        <p:spPr>
          <a:xfrm>
            <a:off x="563641" y="4533900"/>
            <a:ext cx="1730216" cy="266700"/>
          </a:xfrm>
          <a:prstGeom prst="rect">
            <a:avLst/>
          </a:prstGeom>
          <a:noFill/>
        </p:spPr>
        <p:txBody>
          <a:bodyPr wrap="square" lIns="0" tIns="0" rIns="0" bIns="0" anchor="t">
            <a:spAutoFit/>
          </a:bodyPr>
          <a:lstStyle/>
          <a:p>
            <a:pPr algn="ctr">
              <a:lnSpc>
                <a:spcPts val="2100"/>
              </a:lnSpc>
            </a:pPr>
            <a:r>
              <a:rPr sz="1500" b="1" i="0" u="none">
                <a:solidFill>
                  <a:srgbClr val="1B2452"/>
                </a:solidFill>
                <a:latin typeface="Montserrat"/>
              </a:rPr>
              <a:t>Bài tập đơn giản</a:t>
            </a:r>
          </a:p>
        </p:txBody>
      </p:sp>
      <p:sp>
        <p:nvSpPr>
          <p:cNvPr id="19" name="TextBox 18"/>
          <p:cNvSpPr txBox="1"/>
          <p:nvPr/>
        </p:nvSpPr>
        <p:spPr>
          <a:xfrm>
            <a:off x="3082290" y="4533900"/>
            <a:ext cx="1360170" cy="266700"/>
          </a:xfrm>
          <a:prstGeom prst="rect">
            <a:avLst/>
          </a:prstGeom>
          <a:noFill/>
        </p:spPr>
        <p:txBody>
          <a:bodyPr wrap="square" lIns="0" tIns="0" rIns="0" bIns="0" anchor="t">
            <a:spAutoFit/>
          </a:bodyPr>
          <a:lstStyle/>
          <a:p>
            <a:pPr algn="ctr">
              <a:lnSpc>
                <a:spcPts val="2100"/>
              </a:lnSpc>
            </a:pPr>
            <a:r>
              <a:rPr sz="1500" b="1" i="0" u="none">
                <a:solidFill>
                  <a:srgbClr val="1B2452"/>
                </a:solidFill>
                <a:latin typeface="Montserrat"/>
              </a:rPr>
              <a:t>Các task nhỏ</a:t>
            </a:r>
          </a:p>
        </p:txBody>
      </p:sp>
      <p:sp>
        <p:nvSpPr>
          <p:cNvPr id="20" name="TextBox 19"/>
          <p:cNvSpPr txBox="1"/>
          <p:nvPr/>
        </p:nvSpPr>
        <p:spPr>
          <a:xfrm>
            <a:off x="2819400" y="4895850"/>
            <a:ext cx="1800225" cy="226695"/>
          </a:xfrm>
          <a:prstGeom prst="rect">
            <a:avLst/>
          </a:prstGeom>
          <a:noFill/>
        </p:spPr>
        <p:txBody>
          <a:bodyPr wrap="square" lIns="0" tIns="0" rIns="0" bIns="0" anchor="t">
            <a:noAutofit/>
          </a:bodyPr>
          <a:lstStyle/>
          <a:p>
            <a:pPr algn="ctr">
              <a:lnSpc>
                <a:spcPts val="1800"/>
              </a:lnSpc>
            </a:pPr>
            <a:r>
              <a:rPr sz="1200" b="0" i="0" u="none">
                <a:solidFill>
                  <a:srgbClr val="64748B"/>
                </a:solidFill>
                <a:latin typeface="Nunito"/>
              </a:rPr>
              <a:t>Bám sát yêu cầu dự án</a:t>
            </a:r>
          </a:p>
        </p:txBody>
      </p:sp>
      <p:sp>
        <p:nvSpPr>
          <p:cNvPr id="21" name="TextBox 20"/>
          <p:cNvSpPr txBox="1"/>
          <p:nvPr/>
        </p:nvSpPr>
        <p:spPr>
          <a:xfrm>
            <a:off x="5195887" y="4533900"/>
            <a:ext cx="1800225" cy="533400"/>
          </a:xfrm>
          <a:prstGeom prst="rect">
            <a:avLst/>
          </a:prstGeom>
          <a:noFill/>
        </p:spPr>
        <p:txBody>
          <a:bodyPr wrap="square" lIns="0" tIns="0" rIns="0" bIns="0" anchor="t">
            <a:spAutoFit/>
          </a:bodyPr>
          <a:lstStyle/>
          <a:p>
            <a:pPr algn="ctr">
              <a:lnSpc>
                <a:spcPts val="2100"/>
              </a:lnSpc>
            </a:pPr>
            <a:r>
              <a:rPr sz="1500" b="1" i="0" u="none">
                <a:solidFill>
                  <a:srgbClr val="1B2452"/>
                </a:solidFill>
                <a:latin typeface="Montserrat"/>
              </a:rPr>
              <a:t>Chia nhỏ mục tiêu</a:t>
            </a:r>
          </a:p>
        </p:txBody>
      </p:sp>
      <p:sp>
        <p:nvSpPr>
          <p:cNvPr id="22" name="TextBox 21"/>
          <p:cNvSpPr txBox="1"/>
          <p:nvPr/>
        </p:nvSpPr>
        <p:spPr>
          <a:xfrm>
            <a:off x="5368290" y="4977765"/>
            <a:ext cx="1360170" cy="181610"/>
          </a:xfrm>
          <a:prstGeom prst="rect">
            <a:avLst/>
          </a:prstGeom>
          <a:noFill/>
        </p:spPr>
        <p:txBody>
          <a:bodyPr wrap="square" lIns="0" tIns="0" rIns="0" bIns="0" anchor="t">
            <a:noAutofit/>
          </a:bodyPr>
          <a:lstStyle/>
          <a:p>
            <a:pPr algn="ctr">
              <a:lnSpc>
                <a:spcPts val="1800"/>
              </a:lnSpc>
            </a:pPr>
            <a:r>
              <a:rPr sz="1200" b="0" i="0" u="none">
                <a:solidFill>
                  <a:srgbClr val="64748B"/>
                </a:solidFill>
                <a:latin typeface="Nunito"/>
              </a:rPr>
              <a:t>Mục tiêu dự án</a:t>
            </a:r>
          </a:p>
        </p:txBody>
      </p:sp>
      <p:sp>
        <p:nvSpPr>
          <p:cNvPr id="23" name="TextBox 22"/>
          <p:cNvSpPr txBox="1"/>
          <p:nvPr/>
        </p:nvSpPr>
        <p:spPr>
          <a:xfrm>
            <a:off x="7859553" y="4533900"/>
            <a:ext cx="1140142" cy="266700"/>
          </a:xfrm>
          <a:prstGeom prst="rect">
            <a:avLst/>
          </a:prstGeom>
          <a:noFill/>
        </p:spPr>
        <p:txBody>
          <a:bodyPr wrap="square" lIns="0" tIns="0" rIns="0" bIns="0" anchor="t">
            <a:spAutoFit/>
          </a:bodyPr>
          <a:lstStyle/>
          <a:p>
            <a:pPr algn="ctr">
              <a:lnSpc>
                <a:spcPts val="2100"/>
              </a:lnSpc>
            </a:pPr>
            <a:r>
              <a:rPr sz="1500" b="1" i="0" u="none">
                <a:solidFill>
                  <a:srgbClr val="1B2452"/>
                </a:solidFill>
                <a:latin typeface="Montserrat"/>
              </a:rPr>
              <a:t>Lên khung</a:t>
            </a:r>
          </a:p>
        </p:txBody>
      </p:sp>
      <p:sp>
        <p:nvSpPr>
          <p:cNvPr id="24" name="TextBox 23"/>
          <p:cNvSpPr txBox="1"/>
          <p:nvPr/>
        </p:nvSpPr>
        <p:spPr>
          <a:xfrm>
            <a:off x="7620000" y="4895850"/>
            <a:ext cx="1619250" cy="228600"/>
          </a:xfrm>
          <a:prstGeom prst="rect">
            <a:avLst/>
          </a:prstGeom>
          <a:noFill/>
        </p:spPr>
        <p:txBody>
          <a:bodyPr wrap="square" lIns="0" tIns="0" rIns="0" bIns="0" anchor="t">
            <a:spAutoFit/>
          </a:bodyPr>
          <a:lstStyle/>
          <a:p>
            <a:pPr algn="ctr">
              <a:lnSpc>
                <a:spcPts val="1800"/>
              </a:lnSpc>
            </a:pPr>
            <a:r>
              <a:rPr sz="1200" b="0" i="0" u="none">
                <a:solidFill>
                  <a:srgbClr val="64748B"/>
                </a:solidFill>
                <a:latin typeface="Nunito"/>
              </a:rPr>
              <a:t>Prototype &amp; Wireframe</a:t>
            </a:r>
          </a:p>
        </p:txBody>
      </p:sp>
      <p:sp>
        <p:nvSpPr>
          <p:cNvPr id="25" name="TextBox 24"/>
          <p:cNvSpPr txBox="1"/>
          <p:nvPr/>
        </p:nvSpPr>
        <p:spPr>
          <a:xfrm>
            <a:off x="9898141" y="4533900"/>
            <a:ext cx="1730216" cy="266700"/>
          </a:xfrm>
          <a:prstGeom prst="rect">
            <a:avLst/>
          </a:prstGeom>
          <a:noFill/>
        </p:spPr>
        <p:txBody>
          <a:bodyPr wrap="square" lIns="0" tIns="0" rIns="0" bIns="0" anchor="t">
            <a:spAutoFit/>
          </a:bodyPr>
          <a:lstStyle/>
          <a:p>
            <a:pPr algn="ctr">
              <a:lnSpc>
                <a:spcPts val="2100"/>
              </a:lnSpc>
            </a:pPr>
            <a:r>
              <a:rPr sz="1500" b="1" i="0" u="none">
                <a:solidFill>
                  <a:srgbClr val="1B2452"/>
                </a:solidFill>
                <a:latin typeface="Montserrat"/>
              </a:rPr>
              <a:t>Sản phẩm demo</a:t>
            </a:r>
          </a:p>
        </p:txBody>
      </p:sp>
      <p:sp>
        <p:nvSpPr>
          <p:cNvPr id="26" name="Rectangle 25"/>
          <p:cNvSpPr/>
          <p:nvPr/>
        </p:nvSpPr>
        <p:spPr>
          <a:xfrm>
            <a:off x="1000125" y="3270885"/>
            <a:ext cx="10096500" cy="571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162175"/>
            <a:ext cx="11049000" cy="3939331"/>
          </a:xfrm>
          <a:prstGeom prst="rect">
            <a:avLst/>
          </a:prstGeom>
        </p:spPr>
      </p:pic>
      <p:pic>
        <p:nvPicPr>
          <p:cNvPr id="3" name="Picture 2" descr="image.png"/>
          <p:cNvPicPr>
            <a:picLocks noChangeAspect="1"/>
          </p:cNvPicPr>
          <p:nvPr/>
        </p:nvPicPr>
        <p:blipFill>
          <a:blip r:embed="rId3"/>
          <a:stretch>
            <a:fillRect/>
          </a:stretch>
        </p:blipFill>
        <p:spPr>
          <a:xfrm>
            <a:off x="0" y="0"/>
            <a:ext cx="1102816" cy="904875"/>
          </a:xfrm>
          <a:prstGeom prst="rect">
            <a:avLst/>
          </a:prstGeom>
        </p:spPr>
      </p:pic>
      <p:pic>
        <p:nvPicPr>
          <p:cNvPr id="4" name="Picture 3" descr="image.png"/>
          <p:cNvPicPr>
            <a:picLocks noChangeAspect="1"/>
          </p:cNvPicPr>
          <p:nvPr/>
        </p:nvPicPr>
        <p:blipFill>
          <a:blip r:embed="rId4"/>
          <a:stretch>
            <a:fillRect/>
          </a:stretch>
        </p:blipFill>
        <p:spPr>
          <a:xfrm>
            <a:off x="0" y="0"/>
            <a:ext cx="12192000" cy="904875"/>
          </a:xfrm>
          <a:prstGeom prst="rect">
            <a:avLst/>
          </a:prstGeom>
        </p:spPr>
      </p:pic>
      <p:sp>
        <p:nvSpPr>
          <p:cNvPr id="5" name="TextBox 4"/>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MÔ HÌNH TỔ CHỨC THỰC HIỆN PROJECT</a:t>
            </a:r>
          </a:p>
        </p:txBody>
      </p:sp>
      <p:sp>
        <p:nvSpPr>
          <p:cNvPr id="6" name="Rounded Rectangle 5"/>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1344295"/>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71500" y="2162175"/>
            <a:ext cx="11049000" cy="3939331"/>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p:cNvGraphicFramePr>
            <a:graphicFrameLocks noGrp="1"/>
          </p:cNvGraphicFramePr>
          <p:nvPr/>
        </p:nvGraphicFramePr>
        <p:xfrm>
          <a:off x="708660" y="2162175"/>
          <a:ext cx="10911840" cy="3939331"/>
        </p:xfrm>
        <a:graphic>
          <a:graphicData uri="http://schemas.openxmlformats.org/drawingml/2006/table">
            <a:tbl>
              <a:tblPr firstRow="1" bandRow="1">
                <a:tableStyleId>{5C22544A-7EE6-4342-B048-85BDC9FD1C3A}</a:tableStyleId>
              </a:tblPr>
              <a:tblGrid>
                <a:gridCol w="152019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3867150">
                  <a:extLst>
                    <a:ext uri="{9D8B030D-6E8A-4147-A177-3AD203B41FA5}">
                      <a16:colId xmlns:a16="http://schemas.microsoft.com/office/drawing/2014/main" val="20003"/>
                    </a:ext>
                  </a:extLst>
                </a:gridCol>
              </a:tblGrid>
              <a:tr h="984832">
                <a:tc>
                  <a:txBody>
                    <a:bodyPr/>
                    <a:lstStyle/>
                    <a:p>
                      <a:pPr algn="l"/>
                      <a:r>
                        <a:rPr sz="1650" b="1" i="0" u="none">
                          <a:solidFill>
                            <a:srgbClr val="FFFFFF"/>
                          </a:solidFill>
                          <a:latin typeface="Nunito"/>
                        </a:rPr>
                        <a:t>Sprint</a:t>
                      </a:r>
                    </a:p>
                  </a:txBody>
                  <a:tcPr marL="63500" marR="63500" marT="25400" marB="25400" anchor="ctr">
                    <a:lnL>
                      <a:noFill/>
                    </a:lnL>
                    <a:lnR>
                      <a:noFill/>
                    </a:lnR>
                    <a:lnT>
                      <a:noFill/>
                    </a:lnT>
                    <a:lnB>
                      <a:noFill/>
                    </a:lnB>
                    <a:solidFill>
                      <a:srgbClr val="1B2452"/>
                    </a:solidFill>
                  </a:tcPr>
                </a:tc>
                <a:tc>
                  <a:txBody>
                    <a:bodyPr/>
                    <a:lstStyle/>
                    <a:p>
                      <a:pPr algn="l"/>
                      <a:r>
                        <a:rPr sz="1650" b="1" i="0" u="none">
                          <a:solidFill>
                            <a:srgbClr val="FFFFFF"/>
                          </a:solidFill>
                          <a:latin typeface="Nunito"/>
                        </a:rPr>
                        <a:t>Mục tiêu</a:t>
                      </a:r>
                    </a:p>
                  </a:txBody>
                  <a:tcPr marL="63500" marR="63500" marT="25400" marB="25400" anchor="ctr">
                    <a:lnL>
                      <a:noFill/>
                    </a:lnL>
                    <a:lnR>
                      <a:noFill/>
                    </a:lnR>
                    <a:lnT>
                      <a:noFill/>
                    </a:lnT>
                    <a:lnB>
                      <a:noFill/>
                    </a:lnB>
                    <a:solidFill>
                      <a:srgbClr val="1B2452"/>
                    </a:solidFill>
                  </a:tcPr>
                </a:tc>
                <a:tc>
                  <a:txBody>
                    <a:bodyPr/>
                    <a:lstStyle/>
                    <a:p>
                      <a:pPr algn="l"/>
                      <a:r>
                        <a:rPr sz="1650" b="1" i="0" u="none">
                          <a:solidFill>
                            <a:srgbClr val="FFFFFF"/>
                          </a:solidFill>
                          <a:latin typeface="Nunito"/>
                        </a:rPr>
                        <a:t>Kiến thức Flutter</a:t>
                      </a:r>
                    </a:p>
                  </a:txBody>
                  <a:tcPr marL="63500" marR="63500" marT="25400" marB="25400" anchor="ctr">
                    <a:lnL>
                      <a:noFill/>
                    </a:lnL>
                    <a:lnR>
                      <a:noFill/>
                    </a:lnR>
                    <a:lnT>
                      <a:noFill/>
                    </a:lnT>
                    <a:lnB>
                      <a:noFill/>
                    </a:lnB>
                    <a:solidFill>
                      <a:srgbClr val="1B2452"/>
                    </a:solidFill>
                  </a:tcPr>
                </a:tc>
                <a:tc>
                  <a:txBody>
                    <a:bodyPr/>
                    <a:lstStyle/>
                    <a:p>
                      <a:pPr algn="l"/>
                      <a:r>
                        <a:rPr sz="1650" b="1" i="0" u="none">
                          <a:solidFill>
                            <a:srgbClr val="FFFFFF"/>
                          </a:solidFill>
                          <a:latin typeface="Nunito"/>
                        </a:rPr>
                        <a:t>Deliverable</a:t>
                      </a:r>
                    </a:p>
                  </a:txBody>
                  <a:tcPr marL="63500" marR="63500" marT="25400" marB="25400" anchor="ctr">
                    <a:lnL>
                      <a:noFill/>
                    </a:lnL>
                    <a:lnR>
                      <a:noFill/>
                    </a:lnR>
                    <a:lnT>
                      <a:noFill/>
                    </a:lnT>
                    <a:lnB>
                      <a:noFill/>
                    </a:lnB>
                    <a:solidFill>
                      <a:srgbClr val="1B2452"/>
                    </a:solidFill>
                  </a:tcPr>
                </a:tc>
                <a:extLst>
                  <a:ext uri="{0D108BD9-81ED-4DB2-BD59-A6C34878D82A}">
                    <a16:rowId xmlns:a16="http://schemas.microsoft.com/office/drawing/2014/main" val="10000"/>
                  </a:ext>
                </a:extLst>
              </a:tr>
              <a:tr h="984832">
                <a:tc>
                  <a:txBody>
                    <a:bodyPr/>
                    <a:lstStyle/>
                    <a:p>
                      <a:pPr algn="l"/>
                      <a:r>
                        <a:rPr sz="1500" b="1" i="0" u="none">
                          <a:solidFill>
                            <a:srgbClr val="FDB913"/>
                          </a:solidFill>
                          <a:latin typeface="Montserrat"/>
                        </a:rPr>
                        <a:t>Sprint 1</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Xây dựng giao diện và điều hướng</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Dart cơ bản, Widget, Layout, Navigation</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Ứng dụng có nhiều màn hình, chuyển màn hình được</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984832">
                <a:tc>
                  <a:txBody>
                    <a:bodyPr/>
                    <a:lstStyle/>
                    <a:p>
                      <a:pPr algn="l"/>
                      <a:r>
                        <a:rPr sz="1500" b="1" i="0" u="none">
                          <a:solidFill>
                            <a:srgbClr val="FDB913"/>
                          </a:solidFill>
                          <a:latin typeface="Montserrat"/>
                        </a:rPr>
                        <a:t>Sprint 2</a:t>
                      </a:r>
                    </a:p>
                  </a:txBody>
                  <a:tcPr marL="63500" marR="63500" marT="25400" marB="25400" anchor="ctr">
                    <a:lnL>
                      <a:noFill/>
                    </a:lnL>
                    <a:lnR>
                      <a:noFill/>
                    </a:lnR>
                    <a:lnT>
                      <a:noFill/>
                    </a:lnT>
                    <a:lnB>
                      <a:noFill/>
                    </a:lnB>
                    <a:solidFill>
                      <a:srgbClr val="F4F6F9"/>
                    </a:solidFill>
                  </a:tcPr>
                </a:tc>
                <a:tc>
                  <a:txBody>
                    <a:bodyPr/>
                    <a:lstStyle/>
                    <a:p>
                      <a:pPr algn="l"/>
                      <a:r>
                        <a:rPr sz="1350" b="0" i="0" u="none">
                          <a:solidFill>
                            <a:srgbClr val="2C3E50"/>
                          </a:solidFill>
                          <a:latin typeface="Nunito"/>
                        </a:rPr>
                        <a:t>Quản lý dữ liệu và trạng thái</a:t>
                      </a:r>
                    </a:p>
                  </a:txBody>
                  <a:tcPr marL="63500" marR="63500" marT="25400" marB="25400" anchor="ctr">
                    <a:lnL>
                      <a:noFill/>
                    </a:lnL>
                    <a:lnR>
                      <a:noFill/>
                    </a:lnR>
                    <a:lnT>
                      <a:noFill/>
                    </a:lnT>
                    <a:lnB>
                      <a:noFill/>
                    </a:lnB>
                    <a:solidFill>
                      <a:srgbClr val="F4F6F9"/>
                    </a:solidFill>
                  </a:tcPr>
                </a:tc>
                <a:tc>
                  <a:txBody>
                    <a:bodyPr/>
                    <a:lstStyle/>
                    <a:p>
                      <a:pPr algn="l"/>
                      <a:r>
                        <a:rPr sz="1350" b="0" i="0" u="none">
                          <a:solidFill>
                            <a:srgbClr val="2C3E50"/>
                          </a:solidFill>
                          <a:latin typeface="Nunito"/>
                        </a:rPr>
                        <a:t>State Management, Form, Validation, Local Storage</a:t>
                      </a:r>
                    </a:p>
                  </a:txBody>
                  <a:tcPr marL="63500" marR="63500" marT="25400" marB="25400" anchor="ctr">
                    <a:lnL>
                      <a:noFill/>
                    </a:lnL>
                    <a:lnR>
                      <a:noFill/>
                    </a:lnR>
                    <a:lnT>
                      <a:noFill/>
                    </a:lnT>
                    <a:lnB>
                      <a:noFill/>
                    </a:lnB>
                    <a:solidFill>
                      <a:srgbClr val="F4F6F9"/>
                    </a:solidFill>
                  </a:tcPr>
                </a:tc>
                <a:tc>
                  <a:txBody>
                    <a:bodyPr/>
                    <a:lstStyle/>
                    <a:p>
                      <a:pPr algn="l"/>
                      <a:r>
                        <a:rPr sz="1350" b="0" i="0" u="none">
                          <a:solidFill>
                            <a:srgbClr val="2C3E50"/>
                          </a:solidFill>
                          <a:latin typeface="Nunito"/>
                        </a:rPr>
                        <a:t>CRUD dữ liệu cục bộ, lưu được dữ liệu</a:t>
                      </a:r>
                    </a:p>
                  </a:txBody>
                  <a:tcPr marL="63500" marR="63500" marT="25400" marB="25400" anchor="ctr">
                    <a:lnL>
                      <a:noFill/>
                    </a:lnL>
                    <a:lnR>
                      <a:noFill/>
                    </a:lnR>
                    <a:lnT>
                      <a:noFill/>
                    </a:lnT>
                    <a:lnB>
                      <a:noFill/>
                    </a:lnB>
                    <a:solidFill>
                      <a:srgbClr val="F4F6F9"/>
                    </a:solidFill>
                  </a:tcPr>
                </a:tc>
                <a:extLst>
                  <a:ext uri="{0D108BD9-81ED-4DB2-BD59-A6C34878D82A}">
                    <a16:rowId xmlns:a16="http://schemas.microsoft.com/office/drawing/2014/main" val="10002"/>
                  </a:ext>
                </a:extLst>
              </a:tr>
              <a:tr h="984835">
                <a:tc>
                  <a:txBody>
                    <a:bodyPr/>
                    <a:lstStyle/>
                    <a:p>
                      <a:pPr algn="l"/>
                      <a:r>
                        <a:rPr sz="1500" b="1" i="0" u="none">
                          <a:solidFill>
                            <a:srgbClr val="FDB913"/>
                          </a:solidFill>
                          <a:latin typeface="Montserrat"/>
                        </a:rPr>
                        <a:t>Sprint 3</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Kết nối hệ thống hoàn chỉnh</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REST API, JSON, Async/Await, Authentication (nếu có), Hoàn thiện UI</a:t>
                      </a:r>
                    </a:p>
                  </a:txBody>
                  <a:tcPr marL="63500" marR="63500" marT="25400" marB="25400" anchor="ctr">
                    <a:lnL>
                      <a:noFill/>
                    </a:lnL>
                    <a:lnR>
                      <a:noFill/>
                    </a:lnR>
                    <a:lnT>
                      <a:noFill/>
                    </a:lnT>
                    <a:lnB>
                      <a:noFill/>
                    </a:lnB>
                    <a:noFill/>
                  </a:tcPr>
                </a:tc>
                <a:tc>
                  <a:txBody>
                    <a:bodyPr/>
                    <a:lstStyle/>
                    <a:p>
                      <a:pPr algn="l"/>
                      <a:r>
                        <a:rPr sz="1350" b="0" i="0" u="none">
                          <a:solidFill>
                            <a:srgbClr val="2C3E50"/>
                          </a:solidFill>
                          <a:latin typeface="Nunito"/>
                        </a:rPr>
                        <a:t>Ứng dụng hoàn chỉnh kết nối API và sẵn sàng demo</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pic>
        <p:nvPicPr>
          <p:cNvPr id="12" name="Picture 11" descr="image.png"/>
          <p:cNvPicPr>
            <a:picLocks noChangeAspect="1"/>
          </p:cNvPicPr>
          <p:nvPr/>
        </p:nvPicPr>
        <p:blipFill>
          <a:blip r:embed="rId5"/>
          <a:stretch>
            <a:fillRect/>
          </a:stretch>
        </p:blipFill>
        <p:spPr>
          <a:xfrm>
            <a:off x="285750" y="142875"/>
            <a:ext cx="531316" cy="619125"/>
          </a:xfrm>
          <a:prstGeom prst="rect">
            <a:avLst/>
          </a:prstGeom>
        </p:spPr>
      </p:pic>
      <p:sp>
        <p:nvSpPr>
          <p:cNvPr id="13" name="TextBox 12"/>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4" name="TextBox 13"/>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5" name="Rectangle 14"/>
          <p:cNvSpPr/>
          <p:nvPr/>
        </p:nvSpPr>
        <p:spPr>
          <a:xfrm>
            <a:off x="571500" y="3858517"/>
            <a:ext cx="1657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28850" y="3858517"/>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91100" y="3858517"/>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53350" y="3858517"/>
            <a:ext cx="38671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1500" y="4835723"/>
            <a:ext cx="1657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28850" y="4835723"/>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991100" y="4835723"/>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753350" y="4835723"/>
            <a:ext cx="38671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71500" y="6087219"/>
            <a:ext cx="1657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228850" y="6087219"/>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991100" y="6087219"/>
            <a:ext cx="2762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53350" y="6087219"/>
            <a:ext cx="38671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4" name="Picture 3" descr="image.png"/>
          <p:cNvPicPr>
            <a:picLocks noChangeAspect="1"/>
          </p:cNvPicPr>
          <p:nvPr/>
        </p:nvPicPr>
        <p:blipFill>
          <a:blip r:embed="rId3"/>
          <a:stretch>
            <a:fillRect/>
          </a:stretch>
        </p:blipFill>
        <p:spPr>
          <a:xfrm>
            <a:off x="0" y="0"/>
            <a:ext cx="12192000" cy="904875"/>
          </a:xfrm>
          <a:prstGeom prst="rect">
            <a:avLst/>
          </a:prstGeom>
        </p:spPr>
      </p:pic>
      <p:sp>
        <p:nvSpPr>
          <p:cNvPr id="5" name="TextBox 4"/>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BÀI TẬP LỚN (YÊU CẦU)</a:t>
            </a:r>
          </a:p>
        </p:txBody>
      </p:sp>
      <p:sp>
        <p:nvSpPr>
          <p:cNvPr id="6" name="Rounded Rectangle 5"/>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1356360"/>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4"/>
          <a:stretch>
            <a:fillRect/>
          </a:stretch>
        </p:blipFill>
        <p:spPr>
          <a:xfrm>
            <a:off x="285750" y="142875"/>
            <a:ext cx="531316" cy="619125"/>
          </a:xfrm>
          <a:prstGeom prst="rect">
            <a:avLst/>
          </a:prstGeom>
        </p:spPr>
      </p:pic>
      <p:sp>
        <p:nvSpPr>
          <p:cNvPr id="11" name="TextBox 10"/>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2" name="TextBox 11"/>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3" name="TextBox 12"/>
          <p:cNvSpPr txBox="1"/>
          <p:nvPr/>
        </p:nvSpPr>
        <p:spPr>
          <a:xfrm>
            <a:off x="571500" y="2162175"/>
            <a:ext cx="6660832" cy="276225"/>
          </a:xfrm>
          <a:prstGeom prst="rect">
            <a:avLst/>
          </a:prstGeom>
          <a:noFill/>
        </p:spPr>
        <p:txBody>
          <a:bodyPr wrap="square" lIns="0" tIns="0" rIns="0" bIns="0" anchor="t">
            <a:spAutoFit/>
          </a:bodyPr>
          <a:lstStyle/>
          <a:p>
            <a:pPr algn="l"/>
            <a:r>
              <a:rPr sz="1800" b="1" i="0" u="none">
                <a:solidFill>
                  <a:srgbClr val="1B2452"/>
                </a:solidFill>
                <a:latin typeface="Montserrat"/>
              </a:rPr>
              <a:t>Đề tài</a:t>
            </a:r>
          </a:p>
        </p:txBody>
      </p:sp>
      <p:sp>
        <p:nvSpPr>
          <p:cNvPr id="14" name="TextBox 13"/>
          <p:cNvSpPr txBox="1"/>
          <p:nvPr/>
        </p:nvSpPr>
        <p:spPr>
          <a:xfrm>
            <a:off x="571500" y="2581275"/>
            <a:ext cx="6343650" cy="514350"/>
          </a:xfrm>
          <a:prstGeom prst="rect">
            <a:avLst/>
          </a:prstGeom>
          <a:noFill/>
        </p:spPr>
        <p:txBody>
          <a:bodyPr wrap="square" lIns="0" tIns="0" rIns="0" bIns="0" anchor="t">
            <a:spAutoFit/>
          </a:bodyPr>
          <a:lstStyle/>
          <a:p>
            <a:pPr algn="l">
              <a:lnSpc>
                <a:spcPts val="2025"/>
              </a:lnSpc>
            </a:pPr>
            <a:r>
              <a:rPr sz="1350" b="0" i="0" u="none">
                <a:solidFill>
                  <a:srgbClr val="2C3E50"/>
                </a:solidFill>
                <a:latin typeface="Nunito"/>
              </a:rPr>
              <a:t>Sinh viên tự chọn 01 đề tài cá nhân, theo mẫu: </a:t>
            </a:r>
            <a:r>
              <a:rPr sz="1350" b="1" i="0" u="none">
                <a:solidFill>
                  <a:srgbClr val="2C3E50"/>
                </a:solidFill>
                <a:latin typeface="Nunito"/>
              </a:rPr>
              <a:t>Ứng dụng + chức năng chính + đối tượng sử dụng</a:t>
            </a:r>
            <a:r>
              <a:rPr sz="1350" b="0" i="0" u="none">
                <a:solidFill>
                  <a:srgbClr val="2C3E50"/>
                </a:solidFill>
                <a:latin typeface="Nunito"/>
              </a:rPr>
              <a:t>.</a:t>
            </a:r>
          </a:p>
        </p:txBody>
      </p:sp>
      <p:sp>
        <p:nvSpPr>
          <p:cNvPr id="15" name="TextBox 14"/>
          <p:cNvSpPr txBox="1"/>
          <p:nvPr/>
        </p:nvSpPr>
        <p:spPr>
          <a:xfrm>
            <a:off x="571500" y="3238500"/>
            <a:ext cx="6343650" cy="514350"/>
          </a:xfrm>
          <a:prstGeom prst="rect">
            <a:avLst/>
          </a:prstGeom>
          <a:noFill/>
        </p:spPr>
        <p:txBody>
          <a:bodyPr wrap="square" lIns="0" tIns="0" rIns="0" bIns="0" anchor="t">
            <a:spAutoFit/>
          </a:bodyPr>
          <a:lstStyle/>
          <a:p>
            <a:pPr algn="l">
              <a:lnSpc>
                <a:spcPts val="2025"/>
              </a:lnSpc>
            </a:pPr>
            <a:r>
              <a:rPr sz="1350" b="0" i="1" u="none">
                <a:solidFill>
                  <a:srgbClr val="D97706"/>
                </a:solidFill>
                <a:latin typeface="Nunito"/>
              </a:rPr>
              <a:t>*Khuyến khích: Đề tài liên quan đến tài chính ngân hàng, quản lý nguồn nhân lực trong ngân hàng.</a:t>
            </a:r>
          </a:p>
        </p:txBody>
      </p:sp>
      <p:sp>
        <p:nvSpPr>
          <p:cNvPr id="16" name="TextBox 15"/>
          <p:cNvSpPr txBox="1"/>
          <p:nvPr/>
        </p:nvSpPr>
        <p:spPr>
          <a:xfrm>
            <a:off x="571500" y="3990975"/>
            <a:ext cx="6660832" cy="276225"/>
          </a:xfrm>
          <a:prstGeom prst="rect">
            <a:avLst/>
          </a:prstGeom>
          <a:noFill/>
        </p:spPr>
        <p:txBody>
          <a:bodyPr wrap="square" lIns="0" tIns="0" rIns="0" bIns="0" anchor="t">
            <a:spAutoFit/>
          </a:bodyPr>
          <a:lstStyle/>
          <a:p>
            <a:pPr algn="l"/>
            <a:r>
              <a:rPr sz="1800" b="1" i="0" u="none">
                <a:solidFill>
                  <a:srgbClr val="1B2452"/>
                </a:solidFill>
                <a:latin typeface="Montserrat"/>
              </a:rPr>
              <a:t>Ứng dụng phải đáp ứng các yêu cầu sau:</a:t>
            </a:r>
          </a:p>
        </p:txBody>
      </p:sp>
      <p:sp>
        <p:nvSpPr>
          <p:cNvPr id="18" name="TextBox 17"/>
          <p:cNvSpPr txBox="1"/>
          <p:nvPr/>
        </p:nvSpPr>
        <p:spPr>
          <a:xfrm>
            <a:off x="1000125" y="4410075"/>
            <a:ext cx="5915025"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Giao diện rõ ràng, thân thiện, tối ưu cho mobile.</a:t>
            </a:r>
          </a:p>
        </p:txBody>
      </p:sp>
      <p:sp>
        <p:nvSpPr>
          <p:cNvPr id="19" name="TextBox 18"/>
          <p:cNvSpPr txBox="1"/>
          <p:nvPr/>
        </p:nvSpPr>
        <p:spPr>
          <a:xfrm>
            <a:off x="1000125" y="4872037"/>
            <a:ext cx="5915025"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Có chức năng đăng nhập / đăng ký.</a:t>
            </a:r>
          </a:p>
        </p:txBody>
      </p:sp>
      <p:sp>
        <p:nvSpPr>
          <p:cNvPr id="20" name="TextBox 19"/>
          <p:cNvSpPr txBox="1"/>
          <p:nvPr/>
        </p:nvSpPr>
        <p:spPr>
          <a:xfrm>
            <a:off x="1000125" y="5334000"/>
            <a:ext cx="5915025"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Có chức năng chính theo đề tài (đặt lịch, mua hàng, tìm kiếm, quản lý,…).</a:t>
            </a:r>
          </a:p>
        </p:txBody>
      </p:sp>
      <p:sp>
        <p:nvSpPr>
          <p:cNvPr id="21" name="TextBox 20"/>
          <p:cNvSpPr txBox="1"/>
          <p:nvPr/>
        </p:nvSpPr>
        <p:spPr>
          <a:xfrm>
            <a:off x="1000125" y="5795962"/>
            <a:ext cx="5915025"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Kết nối backend qua RESTful API.</a:t>
            </a:r>
          </a:p>
        </p:txBody>
      </p:sp>
      <p:sp>
        <p:nvSpPr>
          <p:cNvPr id="22" name="TextBox 21"/>
          <p:cNvSpPr txBox="1"/>
          <p:nvPr/>
        </p:nvSpPr>
        <p:spPr>
          <a:xfrm>
            <a:off x="1000125" y="6257925"/>
            <a:ext cx="5915025"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Dữ liệu lấy từ server thực tế, không hardcode.</a:t>
            </a:r>
          </a:p>
        </p:txBody>
      </p:sp>
      <p:pic>
        <p:nvPicPr>
          <p:cNvPr id="23" name="Picture 22" descr="image.png"/>
          <p:cNvPicPr>
            <a:picLocks noChangeAspect="1"/>
          </p:cNvPicPr>
          <p:nvPr/>
        </p:nvPicPr>
        <p:blipFill>
          <a:blip r:embed="rId5"/>
          <a:stretch>
            <a:fillRect/>
          </a:stretch>
        </p:blipFill>
        <p:spPr>
          <a:xfrm>
            <a:off x="571500" y="4429125"/>
            <a:ext cx="171450" cy="247650"/>
          </a:xfrm>
          <a:prstGeom prst="rect">
            <a:avLst/>
          </a:prstGeom>
        </p:spPr>
      </p:pic>
      <p:pic>
        <p:nvPicPr>
          <p:cNvPr id="24" name="Picture 23" descr="image.png"/>
          <p:cNvPicPr>
            <a:picLocks noChangeAspect="1"/>
          </p:cNvPicPr>
          <p:nvPr/>
        </p:nvPicPr>
        <p:blipFill>
          <a:blip r:embed="rId6"/>
          <a:stretch>
            <a:fillRect/>
          </a:stretch>
        </p:blipFill>
        <p:spPr>
          <a:xfrm>
            <a:off x="571500" y="4891087"/>
            <a:ext cx="285750" cy="247650"/>
          </a:xfrm>
          <a:prstGeom prst="rect">
            <a:avLst/>
          </a:prstGeom>
        </p:spPr>
      </p:pic>
      <p:pic>
        <p:nvPicPr>
          <p:cNvPr id="25" name="Picture 24" descr="image.png"/>
          <p:cNvPicPr>
            <a:picLocks noChangeAspect="1"/>
          </p:cNvPicPr>
          <p:nvPr/>
        </p:nvPicPr>
        <p:blipFill>
          <a:blip r:embed="rId7"/>
          <a:stretch>
            <a:fillRect/>
          </a:stretch>
        </p:blipFill>
        <p:spPr>
          <a:xfrm>
            <a:off x="571500" y="5353050"/>
            <a:ext cx="257175" cy="247650"/>
          </a:xfrm>
          <a:prstGeom prst="rect">
            <a:avLst/>
          </a:prstGeom>
        </p:spPr>
      </p:pic>
      <p:pic>
        <p:nvPicPr>
          <p:cNvPr id="26" name="Picture 25" descr="image.png"/>
          <p:cNvPicPr>
            <a:picLocks noChangeAspect="1"/>
          </p:cNvPicPr>
          <p:nvPr/>
        </p:nvPicPr>
        <p:blipFill>
          <a:blip r:embed="rId8"/>
          <a:stretch>
            <a:fillRect/>
          </a:stretch>
        </p:blipFill>
        <p:spPr>
          <a:xfrm>
            <a:off x="571500" y="5815012"/>
            <a:ext cx="285750" cy="247650"/>
          </a:xfrm>
          <a:prstGeom prst="rect">
            <a:avLst/>
          </a:prstGeom>
        </p:spPr>
      </p:pic>
      <p:pic>
        <p:nvPicPr>
          <p:cNvPr id="27" name="Picture 26" descr="image.png"/>
          <p:cNvPicPr>
            <a:picLocks noChangeAspect="1"/>
          </p:cNvPicPr>
          <p:nvPr/>
        </p:nvPicPr>
        <p:blipFill>
          <a:blip r:embed="rId9"/>
          <a:stretch>
            <a:fillRect/>
          </a:stretch>
        </p:blipFill>
        <p:spPr>
          <a:xfrm>
            <a:off x="571500" y="6276975"/>
            <a:ext cx="200025" cy="247650"/>
          </a:xfrm>
          <a:prstGeom prst="rect">
            <a:avLst/>
          </a:prstGeom>
        </p:spPr>
      </p:pic>
      <p:pic>
        <p:nvPicPr>
          <p:cNvPr id="28" name="Picture 27" descr="d0ee761c-6c76-4828-9cb7-19ffd709b5bd"/>
          <p:cNvPicPr>
            <a:picLocks noChangeAspect="1"/>
          </p:cNvPicPr>
          <p:nvPr/>
        </p:nvPicPr>
        <p:blipFill>
          <a:blip r:embed="rId10"/>
          <a:srcRect l="10314" t="28794" r="55987" b="14575"/>
          <a:stretch>
            <a:fillRect/>
          </a:stretch>
        </p:blipFill>
        <p:spPr>
          <a:xfrm>
            <a:off x="7211060" y="2381885"/>
            <a:ext cx="4592955" cy="3164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162175"/>
            <a:ext cx="11049000" cy="800100"/>
          </a:xfrm>
          <a:prstGeom prst="rect">
            <a:avLst/>
          </a:prstGeom>
        </p:spPr>
      </p:pic>
      <p:pic>
        <p:nvPicPr>
          <p:cNvPr id="3" name="Picture 2" descr="image.png"/>
          <p:cNvPicPr>
            <a:picLocks noChangeAspect="1"/>
          </p:cNvPicPr>
          <p:nvPr/>
        </p:nvPicPr>
        <p:blipFill>
          <a:blip r:embed="rId3"/>
          <a:stretch>
            <a:fillRect/>
          </a:stretch>
        </p:blipFill>
        <p:spPr>
          <a:xfrm>
            <a:off x="0" y="0"/>
            <a:ext cx="1102816" cy="904875"/>
          </a:xfrm>
          <a:prstGeom prst="rect">
            <a:avLst/>
          </a:prstGeom>
        </p:spPr>
      </p:pic>
      <p:pic>
        <p:nvPicPr>
          <p:cNvPr id="4" name="Picture 3" descr="image.png"/>
          <p:cNvPicPr>
            <a:picLocks noChangeAspect="1"/>
          </p:cNvPicPr>
          <p:nvPr/>
        </p:nvPicPr>
        <p:blipFill>
          <a:blip r:embed="rId4"/>
          <a:stretch>
            <a:fillRect/>
          </a:stretch>
        </p:blipFill>
        <p:spPr>
          <a:xfrm>
            <a:off x="571500" y="3248025"/>
            <a:ext cx="3492549" cy="3419475"/>
          </a:xfrm>
          <a:prstGeom prst="rect">
            <a:avLst/>
          </a:prstGeom>
        </p:spPr>
      </p:pic>
      <p:pic>
        <p:nvPicPr>
          <p:cNvPr id="5" name="Picture 4" descr="image.png"/>
          <p:cNvPicPr>
            <a:picLocks noChangeAspect="1"/>
          </p:cNvPicPr>
          <p:nvPr/>
        </p:nvPicPr>
        <p:blipFill>
          <a:blip r:embed="rId5"/>
          <a:stretch>
            <a:fillRect/>
          </a:stretch>
        </p:blipFill>
        <p:spPr>
          <a:xfrm>
            <a:off x="4349799" y="3248025"/>
            <a:ext cx="3492549" cy="3419475"/>
          </a:xfrm>
          <a:prstGeom prst="rect">
            <a:avLst/>
          </a:prstGeom>
        </p:spPr>
      </p:pic>
      <p:pic>
        <p:nvPicPr>
          <p:cNvPr id="6" name="Picture 5" descr="image.png"/>
          <p:cNvPicPr>
            <a:picLocks noChangeAspect="1"/>
          </p:cNvPicPr>
          <p:nvPr/>
        </p:nvPicPr>
        <p:blipFill>
          <a:blip r:embed="rId6"/>
          <a:stretch>
            <a:fillRect/>
          </a:stretch>
        </p:blipFill>
        <p:spPr>
          <a:xfrm>
            <a:off x="8128099" y="3248025"/>
            <a:ext cx="3492549" cy="3419475"/>
          </a:xfrm>
          <a:prstGeom prst="rect">
            <a:avLst/>
          </a:prstGeom>
        </p:spPr>
      </p:pic>
      <p:pic>
        <p:nvPicPr>
          <p:cNvPr id="7" name="Picture 6" descr="image.png"/>
          <p:cNvPicPr>
            <a:picLocks noChangeAspect="1"/>
          </p:cNvPicPr>
          <p:nvPr/>
        </p:nvPicPr>
        <p:blipFill>
          <a:blip r:embed="rId7"/>
          <a:stretch>
            <a:fillRect/>
          </a:stretch>
        </p:blipFill>
        <p:spPr>
          <a:xfrm>
            <a:off x="0" y="0"/>
            <a:ext cx="12192000" cy="904875"/>
          </a:xfrm>
          <a:prstGeom prst="rect">
            <a:avLst/>
          </a:prstGeom>
        </p:spPr>
      </p:pic>
      <p:sp>
        <p:nvSpPr>
          <p:cNvPr id="8" name="TextBox 7"/>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BÀI TẬP LỚN (YÊU CẦU KỸ THUẬT)</a:t>
            </a:r>
          </a:p>
        </p:txBody>
      </p:sp>
      <p:sp>
        <p:nvSpPr>
          <p:cNvPr id="9" name="Rounded Rectangle 8"/>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4350" y="1428750"/>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6775" y="2305050"/>
            <a:ext cx="10515600" cy="514350"/>
          </a:xfrm>
          <a:prstGeom prst="rect">
            <a:avLst/>
          </a:prstGeom>
          <a:noFill/>
        </p:spPr>
        <p:txBody>
          <a:bodyPr wrap="square" lIns="0" tIns="0" rIns="0" bIns="0" anchor="t">
            <a:spAutoFit/>
          </a:bodyPr>
          <a:lstStyle/>
          <a:p>
            <a:pPr algn="l">
              <a:lnSpc>
                <a:spcPts val="2025"/>
              </a:lnSpc>
            </a:pPr>
            <a:r>
              <a:rPr sz="1350" b="1" i="0" u="none">
                <a:solidFill>
                  <a:srgbClr val="2C3E50"/>
                </a:solidFill>
                <a:latin typeface="Nunito"/>
              </a:rPr>
              <a:t>Lưu ý:</a:t>
            </a:r>
            <a:r>
              <a:rPr sz="1350" b="0" i="0" u="none">
                <a:solidFill>
                  <a:srgbClr val="2C3E50"/>
                </a:solidFill>
                <a:latin typeface="Nunito"/>
              </a:rPr>
              <a:t> Mỗi nhóm gồm 6 sinh viên làm 01 project riêng. Đề tài phải thực tế, có luồng chức năng rõ ràng, không đồng ý với app có chức năng quá đơn giản.</a:t>
            </a:r>
          </a:p>
        </p:txBody>
      </p:sp>
      <p:pic>
        <p:nvPicPr>
          <p:cNvPr id="14" name="Picture 13" descr="image.png"/>
          <p:cNvPicPr>
            <a:picLocks noChangeAspect="1"/>
          </p:cNvPicPr>
          <p:nvPr/>
        </p:nvPicPr>
        <p:blipFill>
          <a:blip r:embed="rId8"/>
          <a:stretch>
            <a:fillRect/>
          </a:stretch>
        </p:blipFill>
        <p:spPr>
          <a:xfrm>
            <a:off x="285750" y="142875"/>
            <a:ext cx="531316" cy="619125"/>
          </a:xfrm>
          <a:prstGeom prst="rect">
            <a:avLst/>
          </a:prstGeom>
        </p:spPr>
      </p:pic>
      <p:sp>
        <p:nvSpPr>
          <p:cNvPr id="15" name="TextBox 14"/>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6" name="TextBox 15"/>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7" name="Rectangle 16"/>
          <p:cNvSpPr/>
          <p:nvPr/>
        </p:nvSpPr>
        <p:spPr>
          <a:xfrm>
            <a:off x="590550" y="326707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2000" y="343852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Frontend (Mobile App)</a:t>
            </a:r>
          </a:p>
        </p:txBody>
      </p:sp>
      <p:sp>
        <p:nvSpPr>
          <p:cNvPr id="19" name="Rectangle 18"/>
          <p:cNvSpPr/>
          <p:nvPr/>
        </p:nvSpPr>
        <p:spPr>
          <a:xfrm>
            <a:off x="4368849" y="326707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40299" y="343852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Backend (Chọn 1)</a:t>
            </a:r>
          </a:p>
        </p:txBody>
      </p:sp>
      <p:sp>
        <p:nvSpPr>
          <p:cNvPr id="21" name="Rectangle 20"/>
          <p:cNvSpPr/>
          <p:nvPr/>
        </p:nvSpPr>
        <p:spPr>
          <a:xfrm>
            <a:off x="8147149" y="3267075"/>
            <a:ext cx="3454449" cy="647700"/>
          </a:xfrm>
          <a:prstGeom prst="rect">
            <a:avLst/>
          </a:prstGeom>
          <a:solidFill>
            <a:srgbClr val="1B2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18599" y="3438525"/>
            <a:ext cx="3111549" cy="304800"/>
          </a:xfrm>
          <a:prstGeom prst="rect">
            <a:avLst/>
          </a:prstGeom>
          <a:noFill/>
        </p:spPr>
        <p:txBody>
          <a:bodyPr wrap="square" lIns="0" tIns="0" rIns="0" bIns="0" anchor="t">
            <a:spAutoFit/>
          </a:bodyPr>
          <a:lstStyle/>
          <a:p>
            <a:pPr algn="ctr"/>
            <a:r>
              <a:rPr sz="1800" b="1" i="0" u="none">
                <a:solidFill>
                  <a:srgbClr val="FFFFFF"/>
                </a:solidFill>
                <a:latin typeface="Nunito"/>
              </a:rPr>
              <a:t>Database (Chọn 1)</a:t>
            </a:r>
          </a:p>
        </p:txBody>
      </p:sp>
      <p:pic>
        <p:nvPicPr>
          <p:cNvPr id="23" name="Picture 22" descr="image.png"/>
          <p:cNvPicPr>
            <a:picLocks noChangeAspect="1"/>
          </p:cNvPicPr>
          <p:nvPr/>
        </p:nvPicPr>
        <p:blipFill>
          <a:blip r:embed="rId9"/>
          <a:stretch>
            <a:fillRect/>
          </a:stretch>
        </p:blipFill>
        <p:spPr>
          <a:xfrm>
            <a:off x="819100" y="3455035"/>
            <a:ext cx="180975" cy="228600"/>
          </a:xfrm>
          <a:prstGeom prst="rect">
            <a:avLst/>
          </a:prstGeom>
        </p:spPr>
      </p:pic>
      <p:sp>
        <p:nvSpPr>
          <p:cNvPr id="24" name="TextBox 23"/>
          <p:cNvSpPr txBox="1"/>
          <p:nvPr/>
        </p:nvSpPr>
        <p:spPr>
          <a:xfrm>
            <a:off x="933450" y="4124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5" name="TextBox 24"/>
          <p:cNvSpPr txBox="1"/>
          <p:nvPr/>
        </p:nvSpPr>
        <p:spPr>
          <a:xfrm>
            <a:off x="1019175" y="412432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Flutter + Dart</a:t>
            </a:r>
            <a:r>
              <a:rPr sz="1350" b="0" i="0" u="none">
                <a:solidFill>
                  <a:srgbClr val="2C3E50"/>
                </a:solidFill>
                <a:latin typeface="Nunito"/>
              </a:rPr>
              <a:t> (bắt buộc)</a:t>
            </a:r>
          </a:p>
        </p:txBody>
      </p:sp>
      <p:sp>
        <p:nvSpPr>
          <p:cNvPr id="26" name="TextBox 25"/>
          <p:cNvSpPr txBox="1"/>
          <p:nvPr/>
        </p:nvSpPr>
        <p:spPr>
          <a:xfrm>
            <a:off x="933450" y="45243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7" name="TextBox 26"/>
          <p:cNvSpPr txBox="1"/>
          <p:nvPr/>
        </p:nvSpPr>
        <p:spPr>
          <a:xfrm>
            <a:off x="1019175" y="4524375"/>
            <a:ext cx="2787699" cy="514350"/>
          </a:xfrm>
          <a:prstGeom prst="rect">
            <a:avLst/>
          </a:prstGeom>
          <a:noFill/>
        </p:spPr>
        <p:txBody>
          <a:bodyPr wrap="square" lIns="85725" tIns="0" rIns="0" bIns="0" anchor="t">
            <a:spAutoFit/>
          </a:bodyPr>
          <a:lstStyle/>
          <a:p>
            <a:pPr algn="l">
              <a:lnSpc>
                <a:spcPts val="2025"/>
              </a:lnSpc>
            </a:pPr>
            <a:r>
              <a:rPr sz="1350" b="0" i="0" u="none">
                <a:solidFill>
                  <a:srgbClr val="2C3E50"/>
                </a:solidFill>
                <a:latin typeface="Nunito"/>
              </a:rPr>
              <a:t>Chạy trên thiết bị </a:t>
            </a:r>
            <a:r>
              <a:rPr sz="1350" b="1" i="0" u="none">
                <a:solidFill>
                  <a:srgbClr val="2C3E50"/>
                </a:solidFill>
                <a:latin typeface="Nunito"/>
              </a:rPr>
              <a:t>Android</a:t>
            </a:r>
            <a:r>
              <a:rPr sz="1350" b="0" i="0" u="none">
                <a:solidFill>
                  <a:srgbClr val="2C3E50"/>
                </a:solidFill>
                <a:latin typeface="Nunito"/>
              </a:rPr>
              <a:t> (chạy được trên iOS là một điểm cộng lớn)</a:t>
            </a:r>
          </a:p>
        </p:txBody>
      </p:sp>
      <p:sp>
        <p:nvSpPr>
          <p:cNvPr id="28" name="TextBox 27"/>
          <p:cNvSpPr txBox="1"/>
          <p:nvPr/>
        </p:nvSpPr>
        <p:spPr>
          <a:xfrm>
            <a:off x="933450" y="5181600"/>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29" name="TextBox 28"/>
          <p:cNvSpPr txBox="1"/>
          <p:nvPr/>
        </p:nvSpPr>
        <p:spPr>
          <a:xfrm>
            <a:off x="1019175" y="5181600"/>
            <a:ext cx="2787699" cy="257175"/>
          </a:xfrm>
          <a:prstGeom prst="rect">
            <a:avLst/>
          </a:prstGeom>
          <a:noFill/>
        </p:spPr>
        <p:txBody>
          <a:bodyPr wrap="square" lIns="85725" tIns="0" rIns="0" bIns="0" anchor="t">
            <a:spAutoFit/>
          </a:bodyPr>
          <a:lstStyle/>
          <a:p>
            <a:pPr algn="l">
              <a:lnSpc>
                <a:spcPts val="2025"/>
              </a:lnSpc>
            </a:pPr>
            <a:r>
              <a:rPr sz="1350" b="0" i="0" u="none">
                <a:solidFill>
                  <a:srgbClr val="2C3E50"/>
                </a:solidFill>
                <a:latin typeface="Nunito"/>
              </a:rPr>
              <a:t>UI/UX chuyên nghiệp</a:t>
            </a:r>
          </a:p>
        </p:txBody>
      </p:sp>
      <p:pic>
        <p:nvPicPr>
          <p:cNvPr id="30" name="Picture 29" descr="image.png"/>
          <p:cNvPicPr>
            <a:picLocks noChangeAspect="1"/>
          </p:cNvPicPr>
          <p:nvPr/>
        </p:nvPicPr>
        <p:blipFill>
          <a:blip r:embed="rId10"/>
          <a:stretch>
            <a:fillRect/>
          </a:stretch>
        </p:blipFill>
        <p:spPr>
          <a:xfrm>
            <a:off x="4770120" y="3442970"/>
            <a:ext cx="238125" cy="228600"/>
          </a:xfrm>
          <a:prstGeom prst="rect">
            <a:avLst/>
          </a:prstGeom>
        </p:spPr>
      </p:pic>
      <p:sp>
        <p:nvSpPr>
          <p:cNvPr id="31" name="TextBox 30"/>
          <p:cNvSpPr txBox="1"/>
          <p:nvPr/>
        </p:nvSpPr>
        <p:spPr>
          <a:xfrm>
            <a:off x="4711749" y="4124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2" name="TextBox 31"/>
          <p:cNvSpPr txBox="1"/>
          <p:nvPr/>
        </p:nvSpPr>
        <p:spPr>
          <a:xfrm>
            <a:off x="4797474" y="412432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PHP / Node.js</a:t>
            </a:r>
          </a:p>
        </p:txBody>
      </p:sp>
      <p:sp>
        <p:nvSpPr>
          <p:cNvPr id="33" name="TextBox 32"/>
          <p:cNvSpPr txBox="1"/>
          <p:nvPr/>
        </p:nvSpPr>
        <p:spPr>
          <a:xfrm>
            <a:off x="4711749" y="45243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4" name="TextBox 33"/>
          <p:cNvSpPr txBox="1"/>
          <p:nvPr/>
        </p:nvSpPr>
        <p:spPr>
          <a:xfrm>
            <a:off x="4797474" y="452437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Java / C#</a:t>
            </a:r>
          </a:p>
        </p:txBody>
      </p:sp>
      <p:sp>
        <p:nvSpPr>
          <p:cNvPr id="35" name="TextBox 34"/>
          <p:cNvSpPr txBox="1"/>
          <p:nvPr/>
        </p:nvSpPr>
        <p:spPr>
          <a:xfrm>
            <a:off x="4711749" y="49244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6" name="TextBox 35"/>
          <p:cNvSpPr txBox="1"/>
          <p:nvPr/>
        </p:nvSpPr>
        <p:spPr>
          <a:xfrm>
            <a:off x="4797474" y="492442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Python</a:t>
            </a:r>
            <a:r>
              <a:rPr sz="1350" b="0" i="0" u="none">
                <a:solidFill>
                  <a:srgbClr val="2C3E50"/>
                </a:solidFill>
                <a:latin typeface="Nunito"/>
              </a:rPr>
              <a:t> (Flask, FastAPI, Django REST)</a:t>
            </a:r>
          </a:p>
        </p:txBody>
      </p:sp>
      <p:sp>
        <p:nvSpPr>
          <p:cNvPr id="37" name="TextBox 36"/>
          <p:cNvSpPr txBox="1"/>
          <p:nvPr/>
        </p:nvSpPr>
        <p:spPr>
          <a:xfrm>
            <a:off x="4711749" y="5581650"/>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38" name="TextBox 37"/>
          <p:cNvSpPr txBox="1"/>
          <p:nvPr/>
        </p:nvSpPr>
        <p:spPr>
          <a:xfrm>
            <a:off x="4797474" y="5581650"/>
            <a:ext cx="2787699" cy="257175"/>
          </a:xfrm>
          <a:prstGeom prst="rect">
            <a:avLst/>
          </a:prstGeom>
          <a:noFill/>
        </p:spPr>
        <p:txBody>
          <a:bodyPr wrap="square" lIns="85725" tIns="0" rIns="0" bIns="0" anchor="t">
            <a:spAutoFit/>
          </a:bodyPr>
          <a:lstStyle/>
          <a:p>
            <a:pPr algn="l">
              <a:lnSpc>
                <a:spcPts val="2025"/>
              </a:lnSpc>
            </a:pPr>
            <a:r>
              <a:rPr sz="1350" b="0" i="0" u="none">
                <a:solidFill>
                  <a:srgbClr val="2C3E50"/>
                </a:solidFill>
                <a:latin typeface="Nunito"/>
              </a:rPr>
              <a:t>Phải cung cấp RESTful API chuẩn</a:t>
            </a:r>
          </a:p>
        </p:txBody>
      </p:sp>
      <p:pic>
        <p:nvPicPr>
          <p:cNvPr id="39" name="Picture 38" descr="image.png"/>
          <p:cNvPicPr>
            <a:picLocks noChangeAspect="1"/>
          </p:cNvPicPr>
          <p:nvPr/>
        </p:nvPicPr>
        <p:blipFill>
          <a:blip r:embed="rId11"/>
          <a:stretch>
            <a:fillRect/>
          </a:stretch>
        </p:blipFill>
        <p:spPr>
          <a:xfrm>
            <a:off x="8522384" y="3455035"/>
            <a:ext cx="209550" cy="228600"/>
          </a:xfrm>
          <a:prstGeom prst="rect">
            <a:avLst/>
          </a:prstGeom>
        </p:spPr>
      </p:pic>
      <p:sp>
        <p:nvSpPr>
          <p:cNvPr id="40" name="TextBox 39"/>
          <p:cNvSpPr txBox="1"/>
          <p:nvPr/>
        </p:nvSpPr>
        <p:spPr>
          <a:xfrm>
            <a:off x="8490049" y="41243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41" name="TextBox 40"/>
          <p:cNvSpPr txBox="1"/>
          <p:nvPr/>
        </p:nvSpPr>
        <p:spPr>
          <a:xfrm>
            <a:off x="8575774" y="412432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MySQL / SQL Server</a:t>
            </a:r>
          </a:p>
        </p:txBody>
      </p:sp>
      <p:sp>
        <p:nvSpPr>
          <p:cNvPr id="42" name="TextBox 41"/>
          <p:cNvSpPr txBox="1"/>
          <p:nvPr/>
        </p:nvSpPr>
        <p:spPr>
          <a:xfrm>
            <a:off x="8490049" y="452437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43" name="TextBox 42"/>
          <p:cNvSpPr txBox="1"/>
          <p:nvPr/>
        </p:nvSpPr>
        <p:spPr>
          <a:xfrm>
            <a:off x="8575774" y="4524375"/>
            <a:ext cx="2787699" cy="257175"/>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MongoDB</a:t>
            </a:r>
          </a:p>
        </p:txBody>
      </p:sp>
      <p:sp>
        <p:nvSpPr>
          <p:cNvPr id="44" name="TextBox 43"/>
          <p:cNvSpPr txBox="1"/>
          <p:nvPr/>
        </p:nvSpPr>
        <p:spPr>
          <a:xfrm>
            <a:off x="8490049" y="4924425"/>
            <a:ext cx="85725" cy="257175"/>
          </a:xfrm>
          <a:prstGeom prst="rect">
            <a:avLst/>
          </a:prstGeom>
          <a:noFill/>
        </p:spPr>
        <p:txBody>
          <a:bodyPr wrap="square" lIns="0" tIns="0" rIns="0" bIns="0" anchor="t">
            <a:spAutoFit/>
          </a:bodyPr>
          <a:lstStyle/>
          <a:p>
            <a:pPr algn="l"/>
            <a:r>
              <a:rPr sz="1350" b="0" i="0" u="none">
                <a:solidFill>
                  <a:srgbClr val="2C3E50"/>
                </a:solidFill>
                <a:latin typeface="Nunito"/>
              </a:rPr>
              <a:t>•</a:t>
            </a:r>
          </a:p>
        </p:txBody>
      </p:sp>
      <p:sp>
        <p:nvSpPr>
          <p:cNvPr id="45" name="TextBox 44"/>
          <p:cNvSpPr txBox="1"/>
          <p:nvPr/>
        </p:nvSpPr>
        <p:spPr>
          <a:xfrm>
            <a:off x="8575774" y="4924425"/>
            <a:ext cx="2787699" cy="514350"/>
          </a:xfrm>
          <a:prstGeom prst="rect">
            <a:avLst/>
          </a:prstGeom>
          <a:noFill/>
        </p:spPr>
        <p:txBody>
          <a:bodyPr wrap="square" lIns="85725" tIns="0" rIns="0" bIns="0" anchor="t">
            <a:spAutoFit/>
          </a:bodyPr>
          <a:lstStyle/>
          <a:p>
            <a:pPr algn="l">
              <a:lnSpc>
                <a:spcPts val="2025"/>
              </a:lnSpc>
            </a:pPr>
            <a:r>
              <a:rPr sz="1350" b="1" i="0" u="none">
                <a:solidFill>
                  <a:srgbClr val="2C3E50"/>
                </a:solidFill>
                <a:latin typeface="Nunito"/>
              </a:rPr>
              <a:t>Firebase</a:t>
            </a:r>
            <a:r>
              <a:rPr sz="1350" b="0" i="0" u="none">
                <a:solidFill>
                  <a:srgbClr val="2C3E50"/>
                </a:solidFill>
                <a:latin typeface="Nunito"/>
              </a:rPr>
              <a:t> (Firestore / Realtime Database)</a:t>
            </a:r>
          </a:p>
        </p:txBody>
      </p:sp>
      <p:sp>
        <p:nvSpPr>
          <p:cNvPr id="46" name="TextBox 45"/>
          <p:cNvSpPr txBox="1"/>
          <p:nvPr/>
        </p:nvSpPr>
        <p:spPr>
          <a:xfrm>
            <a:off x="8499574" y="5581650"/>
            <a:ext cx="76200" cy="228600"/>
          </a:xfrm>
          <a:prstGeom prst="rect">
            <a:avLst/>
          </a:prstGeom>
          <a:noFill/>
        </p:spPr>
        <p:txBody>
          <a:bodyPr wrap="square" lIns="0" tIns="0" rIns="0" bIns="0" anchor="t">
            <a:spAutoFit/>
          </a:bodyPr>
          <a:lstStyle/>
          <a:p>
            <a:pPr algn="l"/>
            <a:r>
              <a:rPr sz="1200" b="0" i="0" u="none">
                <a:solidFill>
                  <a:srgbClr val="EF4444"/>
                </a:solidFill>
                <a:latin typeface="Nunito"/>
              </a:rPr>
              <a:t>•</a:t>
            </a:r>
          </a:p>
        </p:txBody>
      </p:sp>
      <p:sp>
        <p:nvSpPr>
          <p:cNvPr id="47" name="TextBox 46"/>
          <p:cNvSpPr txBox="1"/>
          <p:nvPr/>
        </p:nvSpPr>
        <p:spPr>
          <a:xfrm>
            <a:off x="8575774" y="5581650"/>
            <a:ext cx="2787699" cy="685800"/>
          </a:xfrm>
          <a:prstGeom prst="rect">
            <a:avLst/>
          </a:prstGeom>
          <a:noFill/>
        </p:spPr>
        <p:txBody>
          <a:bodyPr wrap="square" lIns="76200" tIns="0" rIns="0" bIns="0" anchor="t">
            <a:spAutoFit/>
          </a:bodyPr>
          <a:lstStyle/>
          <a:p>
            <a:pPr algn="l">
              <a:lnSpc>
                <a:spcPts val="1800"/>
              </a:lnSpc>
            </a:pPr>
            <a:r>
              <a:rPr sz="1200" b="0" i="0" u="none">
                <a:solidFill>
                  <a:srgbClr val="EF4444"/>
                </a:solidFill>
                <a:latin typeface="Nunito"/>
              </a:rPr>
              <a:t>*Không sử dụng SQLite làm DB chính (Có thể dùng SharedPreferences cho token, setting)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7391400" y="2224087"/>
            <a:ext cx="4229100" cy="4000500"/>
          </a:xfrm>
          <a:prstGeom prst="rect">
            <a:avLst/>
          </a:prstGeom>
        </p:spPr>
      </p:pic>
      <p:pic>
        <p:nvPicPr>
          <p:cNvPr id="4" name="Picture 3" descr="image.png"/>
          <p:cNvPicPr>
            <a:picLocks noChangeAspect="1"/>
          </p:cNvPicPr>
          <p:nvPr/>
        </p:nvPicPr>
        <p:blipFill>
          <a:blip r:embed="rId4"/>
          <a:stretch>
            <a:fillRect/>
          </a:stretch>
        </p:blipFill>
        <p:spPr>
          <a:xfrm>
            <a:off x="571500" y="3195637"/>
            <a:ext cx="6343650" cy="1390650"/>
          </a:xfrm>
          <a:prstGeom prst="rect">
            <a:avLst/>
          </a:prstGeom>
        </p:spPr>
      </p:pic>
      <p:pic>
        <p:nvPicPr>
          <p:cNvPr id="5" name="Picture 4" descr="image.png"/>
          <p:cNvPicPr>
            <a:picLocks noChangeAspect="1"/>
          </p:cNvPicPr>
          <p:nvPr/>
        </p:nvPicPr>
        <p:blipFill>
          <a:blip r:embed="rId5"/>
          <a:stretch>
            <a:fillRect/>
          </a:stretch>
        </p:blipFill>
        <p:spPr>
          <a:xfrm>
            <a:off x="571500" y="4776787"/>
            <a:ext cx="6343650" cy="1390650"/>
          </a:xfrm>
          <a:prstGeom prst="rect">
            <a:avLst/>
          </a:prstGeom>
        </p:spPr>
      </p:pic>
      <p:pic>
        <p:nvPicPr>
          <p:cNvPr id="6" name="Picture 5" descr="image.png"/>
          <p:cNvPicPr>
            <a:picLocks noChangeAspect="1"/>
          </p:cNvPicPr>
          <p:nvPr/>
        </p:nvPicPr>
        <p:blipFill>
          <a:blip r:embed="rId6"/>
          <a:stretch>
            <a:fillRect/>
          </a:stretch>
        </p:blipFill>
        <p:spPr>
          <a:xfrm>
            <a:off x="0" y="0"/>
            <a:ext cx="12192000" cy="904875"/>
          </a:xfrm>
          <a:prstGeom prst="rect">
            <a:avLst/>
          </a:prstGeom>
        </p:spPr>
      </p:pic>
      <p:sp>
        <p:nvSpPr>
          <p:cNvPr id="7" name="TextBox 6"/>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MILESTONE VÀ NỘP BÀI</a:t>
            </a:r>
          </a:p>
        </p:txBody>
      </p:sp>
      <p:sp>
        <p:nvSpPr>
          <p:cNvPr id="8" name="Rounded Rectangle 7"/>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71500" y="1381125"/>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7"/>
          <a:stretch>
            <a:fillRect/>
          </a:stretch>
        </p:blipFill>
        <p:spPr>
          <a:xfrm>
            <a:off x="285750" y="142875"/>
            <a:ext cx="531316" cy="619125"/>
          </a:xfrm>
          <a:prstGeom prst="rect">
            <a:avLst/>
          </a:prstGeom>
        </p:spPr>
      </p:pic>
      <p:sp>
        <p:nvSpPr>
          <p:cNvPr id="13" name="TextBox 12"/>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4" name="TextBox 13"/>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5" name="TextBox 14"/>
          <p:cNvSpPr txBox="1"/>
          <p:nvPr/>
        </p:nvSpPr>
        <p:spPr>
          <a:xfrm>
            <a:off x="571500" y="2281237"/>
            <a:ext cx="6343650" cy="628650"/>
          </a:xfrm>
          <a:prstGeom prst="rect">
            <a:avLst/>
          </a:prstGeom>
          <a:noFill/>
        </p:spPr>
        <p:txBody>
          <a:bodyPr wrap="square" lIns="0" tIns="0" rIns="0" bIns="0" anchor="t">
            <a:spAutoFit/>
          </a:bodyPr>
          <a:lstStyle/>
          <a:p>
            <a:pPr algn="l">
              <a:lnSpc>
                <a:spcPts val="2475"/>
              </a:lnSpc>
            </a:pPr>
            <a:r>
              <a:rPr sz="1650" b="0" i="0" u="none">
                <a:solidFill>
                  <a:srgbClr val="2C3E50"/>
                </a:solidFill>
                <a:latin typeface="Nunito"/>
              </a:rPr>
              <a:t>Nhằm đảm bảo chất lượng, dự án sẽ được chia thành các mốc nộp nhỏ để giảng viên kiểm soát tiến độ và hỗ trợ kịp thời.</a:t>
            </a:r>
          </a:p>
        </p:txBody>
      </p:sp>
      <p:pic>
        <p:nvPicPr>
          <p:cNvPr id="16" name="Picture 15" descr="image.png"/>
          <p:cNvPicPr>
            <a:picLocks noChangeAspect="1"/>
          </p:cNvPicPr>
          <p:nvPr/>
        </p:nvPicPr>
        <p:blipFill>
          <a:blip r:embed="rId8"/>
          <a:stretch>
            <a:fillRect/>
          </a:stretch>
        </p:blipFill>
        <p:spPr>
          <a:xfrm>
            <a:off x="7391400" y="2224087"/>
            <a:ext cx="4229100" cy="4000500"/>
          </a:xfrm>
          <a:prstGeom prst="rect">
            <a:avLst/>
          </a:prstGeom>
        </p:spPr>
      </p:pic>
      <p:sp>
        <p:nvSpPr>
          <p:cNvPr id="17" name="TextBox 16"/>
          <p:cNvSpPr txBox="1"/>
          <p:nvPr/>
        </p:nvSpPr>
        <p:spPr>
          <a:xfrm>
            <a:off x="866775" y="3433762"/>
            <a:ext cx="6100762" cy="304800"/>
          </a:xfrm>
          <a:prstGeom prst="rect">
            <a:avLst/>
          </a:prstGeom>
          <a:noFill/>
        </p:spPr>
        <p:txBody>
          <a:bodyPr wrap="square" lIns="0" tIns="0" rIns="0" bIns="0" anchor="t">
            <a:spAutoFit/>
          </a:bodyPr>
          <a:lstStyle/>
          <a:p>
            <a:pPr algn="l"/>
            <a:r>
              <a:rPr sz="1950" b="1" i="0" u="none">
                <a:solidFill>
                  <a:srgbClr val="1B2452"/>
                </a:solidFill>
                <a:latin typeface="Montserrat"/>
              </a:rPr>
              <a:t>Sprint 1</a:t>
            </a:r>
          </a:p>
        </p:txBody>
      </p:sp>
      <p:sp>
        <p:nvSpPr>
          <p:cNvPr id="18" name="TextBox 17"/>
          <p:cNvSpPr txBox="1"/>
          <p:nvPr/>
        </p:nvSpPr>
        <p:spPr>
          <a:xfrm>
            <a:off x="866775" y="3833812"/>
            <a:ext cx="5810250" cy="514350"/>
          </a:xfrm>
          <a:prstGeom prst="rect">
            <a:avLst/>
          </a:prstGeom>
          <a:noFill/>
        </p:spPr>
        <p:txBody>
          <a:bodyPr wrap="square" lIns="0" tIns="0" rIns="0" bIns="0" anchor="t">
            <a:spAutoFit/>
          </a:bodyPr>
          <a:lstStyle/>
          <a:p>
            <a:pPr algn="l">
              <a:lnSpc>
                <a:spcPts val="2025"/>
              </a:lnSpc>
            </a:pPr>
            <a:r>
              <a:rPr sz="1350" b="0" i="0" u="none">
                <a:solidFill>
                  <a:srgbClr val="2C3E50"/>
                </a:solidFill>
                <a:latin typeface="Nunito"/>
              </a:rPr>
              <a:t>Kiểm tra thiết kế UI/UX và logic điều hướng cơ bản. Kết quả sẽ được lấy điểm cho </a:t>
            </a:r>
            <a:r>
              <a:rPr sz="1350" b="1" i="0" u="none">
                <a:solidFill>
                  <a:srgbClr val="2C3E50"/>
                </a:solidFill>
                <a:latin typeface="Nunito"/>
              </a:rPr>
              <a:t>Đầu điểm 1</a:t>
            </a:r>
            <a:r>
              <a:rPr sz="1350" b="0" i="0" u="none">
                <a:solidFill>
                  <a:srgbClr val="2C3E50"/>
                </a:solidFill>
                <a:latin typeface="Nunito"/>
              </a:rPr>
              <a:t>.</a:t>
            </a:r>
          </a:p>
        </p:txBody>
      </p:sp>
      <p:sp>
        <p:nvSpPr>
          <p:cNvPr id="19" name="TextBox 18"/>
          <p:cNvSpPr txBox="1"/>
          <p:nvPr/>
        </p:nvSpPr>
        <p:spPr>
          <a:xfrm>
            <a:off x="866775" y="5014912"/>
            <a:ext cx="6100762" cy="304800"/>
          </a:xfrm>
          <a:prstGeom prst="rect">
            <a:avLst/>
          </a:prstGeom>
          <a:noFill/>
        </p:spPr>
        <p:txBody>
          <a:bodyPr wrap="square" lIns="0" tIns="0" rIns="0" bIns="0" anchor="t">
            <a:spAutoFit/>
          </a:bodyPr>
          <a:lstStyle/>
          <a:p>
            <a:pPr algn="l"/>
            <a:r>
              <a:rPr sz="1950" b="1" i="0" u="none">
                <a:solidFill>
                  <a:srgbClr val="1B2452"/>
                </a:solidFill>
                <a:latin typeface="Montserrat"/>
              </a:rPr>
              <a:t>Sprint 2 &amp; 3</a:t>
            </a:r>
          </a:p>
        </p:txBody>
      </p:sp>
      <p:sp>
        <p:nvSpPr>
          <p:cNvPr id="20" name="TextBox 19"/>
          <p:cNvSpPr txBox="1"/>
          <p:nvPr/>
        </p:nvSpPr>
        <p:spPr>
          <a:xfrm>
            <a:off x="866775" y="5414962"/>
            <a:ext cx="5810250" cy="514350"/>
          </a:xfrm>
          <a:prstGeom prst="rect">
            <a:avLst/>
          </a:prstGeom>
          <a:noFill/>
        </p:spPr>
        <p:txBody>
          <a:bodyPr wrap="square" lIns="0" tIns="0" rIns="0" bIns="0" anchor="t">
            <a:spAutoFit/>
          </a:bodyPr>
          <a:lstStyle/>
          <a:p>
            <a:pPr algn="l">
              <a:lnSpc>
                <a:spcPts val="2025"/>
              </a:lnSpc>
            </a:pPr>
            <a:r>
              <a:rPr sz="1350" b="0" i="0" u="none">
                <a:solidFill>
                  <a:srgbClr val="2C3E50"/>
                </a:solidFill>
                <a:latin typeface="Nunito"/>
              </a:rPr>
              <a:t>Kiểm tra tích hợp API, xử lý dữ liệu và hoàn thiện ứng dụng. Kết quả sẽ được lấy điểm cho </a:t>
            </a:r>
            <a:r>
              <a:rPr sz="1350" b="1" i="0" u="none">
                <a:solidFill>
                  <a:srgbClr val="2C3E50"/>
                </a:solidFill>
                <a:latin typeface="Nunito"/>
              </a:rPr>
              <a:t>Đầu điểm 2</a:t>
            </a:r>
            <a:r>
              <a:rPr sz="1350" b="0" i="0" u="none">
                <a:solidFill>
                  <a:srgbClr val="2C3E50"/>
                </a:solidFill>
                <a:latin typeface="Nunito"/>
              </a:rPr>
              <a:t>.</a:t>
            </a:r>
          </a:p>
        </p:txBody>
      </p:sp>
      <p:sp>
        <p:nvSpPr>
          <p:cNvPr id="21" name="TextBox 20">
            <a:extLst>
              <a:ext uri="{FF2B5EF4-FFF2-40B4-BE49-F238E27FC236}">
                <a16:creationId xmlns:a16="http://schemas.microsoft.com/office/drawing/2014/main" id="{2AEC1C2D-8B7F-C55A-0599-C261FB04C778}"/>
              </a:ext>
            </a:extLst>
          </p:cNvPr>
          <p:cNvSpPr txBox="1"/>
          <p:nvPr/>
        </p:nvSpPr>
        <p:spPr>
          <a:xfrm>
            <a:off x="5810865" y="1120877"/>
            <a:ext cx="6352560" cy="1092607"/>
          </a:xfrm>
          <a:prstGeom prst="rect">
            <a:avLst/>
          </a:prstGeom>
          <a:noFill/>
        </p:spPr>
        <p:txBody>
          <a:bodyPr wrap="square" rtlCol="0">
            <a:spAutoFit/>
          </a:bodyPr>
          <a:lstStyle/>
          <a:p>
            <a:r>
              <a:rPr lang="vi-VN" sz="1300" dirty="0"/>
              <a:t>- </a:t>
            </a:r>
            <a:r>
              <a:rPr lang="vi-VN" sz="1300" dirty="0" err="1"/>
              <a:t>Frontend</a:t>
            </a:r>
            <a:r>
              <a:rPr lang="vi-VN" sz="1300" dirty="0"/>
              <a:t>: làm đánh giá về UX, </a:t>
            </a:r>
            <a:r>
              <a:rPr lang="vi-VN" sz="1300" dirty="0" err="1"/>
              <a:t>ko</a:t>
            </a:r>
            <a:r>
              <a:rPr lang="vi-VN" sz="1300" dirty="0"/>
              <a:t> đánh giá nhiều UI: chức năng phải đủ luồng, xử lý thắt luồng – thắt luồng là một luồng đi từ </a:t>
            </a:r>
            <a:r>
              <a:rPr lang="vi-VN" sz="1300" dirty="0" err="1"/>
              <a:t>start</a:t>
            </a:r>
            <a:r>
              <a:rPr lang="vi-VN" sz="1300" dirty="0"/>
              <a:t> to </a:t>
            </a:r>
            <a:r>
              <a:rPr lang="vi-VN" sz="1300" dirty="0" err="1"/>
              <a:t>end</a:t>
            </a:r>
            <a:r>
              <a:rPr lang="vi-VN" sz="1300" dirty="0"/>
              <a:t>, bắt đầu là gì đều phải có kết thúc, ví dụ thanh toán bắt đầu là tính tổng hóa đơn, kết thúc là thanh toán thành công và báo về cho </a:t>
            </a:r>
            <a:r>
              <a:rPr lang="vi-VN" sz="1300" dirty="0" err="1"/>
              <a:t>users</a:t>
            </a:r>
            <a:r>
              <a:rPr lang="vi-VN" sz="1300" dirty="0"/>
              <a:t> ( làm khoảng 5, 6 chức năng).</a:t>
            </a:r>
          </a:p>
          <a:p>
            <a:r>
              <a:rPr lang="vi-VN" sz="1300" dirty="0"/>
              <a:t>- </a:t>
            </a:r>
            <a:r>
              <a:rPr lang="vi-VN" sz="1300" dirty="0" err="1"/>
              <a:t>Backend</a:t>
            </a:r>
            <a:r>
              <a:rPr lang="vi-VN" sz="1300" dirty="0"/>
              <a:t>: phải mô tả dùng gì.</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571500" y="2495550"/>
            <a:ext cx="4757737" cy="4000500"/>
          </a:xfrm>
          <a:prstGeom prst="rect">
            <a:avLst/>
          </a:prstGeom>
        </p:spPr>
      </p:pic>
      <p:pic>
        <p:nvPicPr>
          <p:cNvPr id="4" name="Picture 3" descr="image.png"/>
          <p:cNvPicPr>
            <a:picLocks noChangeAspect="1"/>
          </p:cNvPicPr>
          <p:nvPr/>
        </p:nvPicPr>
        <p:blipFill>
          <a:blip r:embed="rId4"/>
          <a:stretch>
            <a:fillRect/>
          </a:stretch>
        </p:blipFill>
        <p:spPr>
          <a:xfrm>
            <a:off x="0" y="0"/>
            <a:ext cx="12192000" cy="904875"/>
          </a:xfrm>
          <a:prstGeom prst="rect">
            <a:avLst/>
          </a:prstGeom>
        </p:spPr>
      </p:pic>
      <p:sp>
        <p:nvSpPr>
          <p:cNvPr id="5" name="TextBox 4"/>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ĐÁNH GIÁ DỰ ÁN</a:t>
            </a:r>
          </a:p>
        </p:txBody>
      </p:sp>
      <p:sp>
        <p:nvSpPr>
          <p:cNvPr id="6" name="Rounded Rectangle 5"/>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1381125"/>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5"/>
          <a:stretch>
            <a:fillRect/>
          </a:stretch>
        </p:blipFill>
        <p:spPr>
          <a:xfrm>
            <a:off x="285750" y="142875"/>
            <a:ext cx="531316" cy="619125"/>
          </a:xfrm>
          <a:prstGeom prst="rect">
            <a:avLst/>
          </a:prstGeom>
        </p:spPr>
      </p:pic>
      <p:sp>
        <p:nvSpPr>
          <p:cNvPr id="11" name="TextBox 10"/>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2" name="TextBox 11"/>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pic>
        <p:nvPicPr>
          <p:cNvPr id="13" name="Picture 12" descr="image.png"/>
          <p:cNvPicPr>
            <a:picLocks noChangeAspect="1"/>
          </p:cNvPicPr>
          <p:nvPr/>
        </p:nvPicPr>
        <p:blipFill>
          <a:blip r:embed="rId6"/>
          <a:stretch>
            <a:fillRect/>
          </a:stretch>
        </p:blipFill>
        <p:spPr>
          <a:xfrm>
            <a:off x="571500" y="2495550"/>
            <a:ext cx="4757737" cy="4000500"/>
          </a:xfrm>
          <a:prstGeom prst="rect">
            <a:avLst/>
          </a:prstGeom>
        </p:spPr>
      </p:pic>
      <p:sp>
        <p:nvSpPr>
          <p:cNvPr id="14" name="TextBox 13"/>
          <p:cNvSpPr txBox="1"/>
          <p:nvPr/>
        </p:nvSpPr>
        <p:spPr>
          <a:xfrm>
            <a:off x="5805487" y="2162175"/>
            <a:ext cx="6105763" cy="323850"/>
          </a:xfrm>
          <a:prstGeom prst="rect">
            <a:avLst/>
          </a:prstGeom>
          <a:noFill/>
        </p:spPr>
        <p:txBody>
          <a:bodyPr wrap="square" lIns="0" tIns="0" rIns="0" bIns="0" anchor="t">
            <a:spAutoFit/>
          </a:bodyPr>
          <a:lstStyle/>
          <a:p>
            <a:pPr algn="l"/>
            <a:r>
              <a:rPr sz="2100" b="1" i="0" u="none">
                <a:solidFill>
                  <a:srgbClr val="1B2452"/>
                </a:solidFill>
                <a:latin typeface="Montserrat"/>
              </a:rPr>
              <a:t>Mục tiêu cốt lõi</a:t>
            </a:r>
          </a:p>
        </p:txBody>
      </p:sp>
      <p:sp>
        <p:nvSpPr>
          <p:cNvPr id="15" name="TextBox 14"/>
          <p:cNvSpPr txBox="1"/>
          <p:nvPr/>
        </p:nvSpPr>
        <p:spPr>
          <a:xfrm>
            <a:off x="5805487" y="2628900"/>
            <a:ext cx="5815012" cy="771525"/>
          </a:xfrm>
          <a:prstGeom prst="rect">
            <a:avLst/>
          </a:prstGeom>
          <a:noFill/>
        </p:spPr>
        <p:txBody>
          <a:bodyPr wrap="square" lIns="0" tIns="0" rIns="0" bIns="0" anchor="t">
            <a:spAutoFit/>
          </a:bodyPr>
          <a:lstStyle/>
          <a:p>
            <a:pPr algn="l">
              <a:lnSpc>
                <a:spcPts val="2025"/>
              </a:lnSpc>
            </a:pPr>
            <a:r>
              <a:rPr sz="1350" b="0" i="0" u="none">
                <a:solidFill>
                  <a:srgbClr val="2C3E50"/>
                </a:solidFill>
                <a:latin typeface="Nunito"/>
              </a:rPr>
              <a:t>Sinh viên áp dụng toàn bộ kiến thức đã học để xây dựng một ứng dụng di động hoàn chỉnh bằng Flutter, có kết nối backend và cơ sở dữ liệu thực tế, triển khai theo đúng tiến độ.</a:t>
            </a:r>
          </a:p>
        </p:txBody>
      </p:sp>
      <p:sp>
        <p:nvSpPr>
          <p:cNvPr id="16" name="TextBox 15"/>
          <p:cNvSpPr txBox="1"/>
          <p:nvPr/>
        </p:nvSpPr>
        <p:spPr>
          <a:xfrm>
            <a:off x="5805487" y="3638550"/>
            <a:ext cx="6105763" cy="276225"/>
          </a:xfrm>
          <a:prstGeom prst="rect">
            <a:avLst/>
          </a:prstGeom>
          <a:noFill/>
        </p:spPr>
        <p:txBody>
          <a:bodyPr wrap="square" lIns="0" tIns="0" rIns="0" bIns="0" anchor="t">
            <a:spAutoFit/>
          </a:bodyPr>
          <a:lstStyle/>
          <a:p>
            <a:pPr algn="l"/>
            <a:r>
              <a:rPr sz="1800" b="1" i="0" u="none">
                <a:solidFill>
                  <a:srgbClr val="1B2452"/>
                </a:solidFill>
                <a:latin typeface="Montserrat"/>
              </a:rPr>
              <a:t>Project nhằm đánh giá:</a:t>
            </a:r>
          </a:p>
        </p:txBody>
      </p:sp>
      <p:sp>
        <p:nvSpPr>
          <p:cNvPr id="17" name="TextBox 16"/>
          <p:cNvSpPr txBox="1"/>
          <p:nvPr/>
        </p:nvSpPr>
        <p:spPr>
          <a:xfrm>
            <a:off x="6234112" y="4057650"/>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Hiểu và sử dụng thành thạo Flutter &amp; Dart.</a:t>
            </a:r>
          </a:p>
        </p:txBody>
      </p:sp>
      <p:sp>
        <p:nvSpPr>
          <p:cNvPr id="18" name="TextBox 17"/>
          <p:cNvSpPr txBox="1"/>
          <p:nvPr/>
        </p:nvSpPr>
        <p:spPr>
          <a:xfrm>
            <a:off x="6234112" y="4519612"/>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Xây dựng UI đa nền tảng đẹp mắt, chuẩn UX.</a:t>
            </a:r>
          </a:p>
        </p:txBody>
      </p:sp>
      <p:sp>
        <p:nvSpPr>
          <p:cNvPr id="19" name="TextBox 18"/>
          <p:cNvSpPr txBox="1"/>
          <p:nvPr/>
        </p:nvSpPr>
        <p:spPr>
          <a:xfrm>
            <a:off x="6234112" y="4981575"/>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Quản lý state, navigation, và form dữ liệu.</a:t>
            </a:r>
          </a:p>
        </p:txBody>
      </p:sp>
      <p:sp>
        <p:nvSpPr>
          <p:cNvPr id="20" name="TextBox 19"/>
          <p:cNvSpPr txBox="1"/>
          <p:nvPr/>
        </p:nvSpPr>
        <p:spPr>
          <a:xfrm>
            <a:off x="6234112" y="5443537"/>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Xử lý lập trình bất đồng bộ (Asynchronous).</a:t>
            </a:r>
          </a:p>
        </p:txBody>
      </p:sp>
      <p:sp>
        <p:nvSpPr>
          <p:cNvPr id="21" name="TextBox 20"/>
          <p:cNvSpPr txBox="1"/>
          <p:nvPr/>
        </p:nvSpPr>
        <p:spPr>
          <a:xfrm>
            <a:off x="6234112" y="5905500"/>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Kết nối RESTful API trơn tru, không lỗi.</a:t>
            </a:r>
          </a:p>
        </p:txBody>
      </p:sp>
      <p:sp>
        <p:nvSpPr>
          <p:cNvPr id="22" name="TextBox 21"/>
          <p:cNvSpPr txBox="1"/>
          <p:nvPr/>
        </p:nvSpPr>
        <p:spPr>
          <a:xfrm>
            <a:off x="6234112" y="6367462"/>
            <a:ext cx="5386387" cy="271462"/>
          </a:xfrm>
          <a:prstGeom prst="rect">
            <a:avLst/>
          </a:prstGeom>
          <a:noFill/>
        </p:spPr>
        <p:txBody>
          <a:bodyPr wrap="square" lIns="0" tIns="0" rIns="0" bIns="0" anchor="t">
            <a:spAutoFit/>
          </a:bodyPr>
          <a:lstStyle/>
          <a:p>
            <a:pPr algn="l">
              <a:lnSpc>
                <a:spcPts val="2135"/>
              </a:lnSpc>
            </a:pPr>
            <a:r>
              <a:rPr sz="1425" b="0" i="0" u="none">
                <a:solidFill>
                  <a:srgbClr val="2C3E50"/>
                </a:solidFill>
                <a:latin typeface="Nunito"/>
              </a:rPr>
              <a:t>Lưu trữ dữ liệu và triển khai ứng dụng thực tế.</a:t>
            </a:r>
          </a:p>
        </p:txBody>
      </p:sp>
      <p:pic>
        <p:nvPicPr>
          <p:cNvPr id="23" name="Picture 22" descr="image.png"/>
          <p:cNvPicPr>
            <a:picLocks noChangeAspect="1"/>
          </p:cNvPicPr>
          <p:nvPr/>
        </p:nvPicPr>
        <p:blipFill>
          <a:blip r:embed="rId7"/>
          <a:stretch>
            <a:fillRect/>
          </a:stretch>
        </p:blipFill>
        <p:spPr>
          <a:xfrm>
            <a:off x="5805487" y="4076700"/>
            <a:ext cx="200025" cy="247650"/>
          </a:xfrm>
          <a:prstGeom prst="rect">
            <a:avLst/>
          </a:prstGeom>
        </p:spPr>
      </p:pic>
      <p:pic>
        <p:nvPicPr>
          <p:cNvPr id="24" name="Picture 23" descr="image.png"/>
          <p:cNvPicPr>
            <a:picLocks noChangeAspect="1"/>
          </p:cNvPicPr>
          <p:nvPr/>
        </p:nvPicPr>
        <p:blipFill>
          <a:blip r:embed="rId7"/>
          <a:stretch>
            <a:fillRect/>
          </a:stretch>
        </p:blipFill>
        <p:spPr>
          <a:xfrm>
            <a:off x="5805487" y="4538662"/>
            <a:ext cx="200025" cy="247650"/>
          </a:xfrm>
          <a:prstGeom prst="rect">
            <a:avLst/>
          </a:prstGeom>
        </p:spPr>
      </p:pic>
      <p:pic>
        <p:nvPicPr>
          <p:cNvPr id="25" name="Picture 24" descr="image.png"/>
          <p:cNvPicPr>
            <a:picLocks noChangeAspect="1"/>
          </p:cNvPicPr>
          <p:nvPr/>
        </p:nvPicPr>
        <p:blipFill>
          <a:blip r:embed="rId7"/>
          <a:stretch>
            <a:fillRect/>
          </a:stretch>
        </p:blipFill>
        <p:spPr>
          <a:xfrm>
            <a:off x="5805487" y="5000625"/>
            <a:ext cx="200025" cy="247650"/>
          </a:xfrm>
          <a:prstGeom prst="rect">
            <a:avLst/>
          </a:prstGeom>
        </p:spPr>
      </p:pic>
      <p:pic>
        <p:nvPicPr>
          <p:cNvPr id="26" name="Picture 25" descr="image.png"/>
          <p:cNvPicPr>
            <a:picLocks noChangeAspect="1"/>
          </p:cNvPicPr>
          <p:nvPr/>
        </p:nvPicPr>
        <p:blipFill>
          <a:blip r:embed="rId7"/>
          <a:stretch>
            <a:fillRect/>
          </a:stretch>
        </p:blipFill>
        <p:spPr>
          <a:xfrm>
            <a:off x="5805487" y="5462587"/>
            <a:ext cx="200025" cy="247650"/>
          </a:xfrm>
          <a:prstGeom prst="rect">
            <a:avLst/>
          </a:prstGeom>
        </p:spPr>
      </p:pic>
      <p:pic>
        <p:nvPicPr>
          <p:cNvPr id="27" name="Picture 26" descr="image.png"/>
          <p:cNvPicPr>
            <a:picLocks noChangeAspect="1"/>
          </p:cNvPicPr>
          <p:nvPr/>
        </p:nvPicPr>
        <p:blipFill>
          <a:blip r:embed="rId7"/>
          <a:stretch>
            <a:fillRect/>
          </a:stretch>
        </p:blipFill>
        <p:spPr>
          <a:xfrm>
            <a:off x="5805487" y="5924550"/>
            <a:ext cx="200025" cy="247650"/>
          </a:xfrm>
          <a:prstGeom prst="rect">
            <a:avLst/>
          </a:prstGeom>
        </p:spPr>
      </p:pic>
      <p:pic>
        <p:nvPicPr>
          <p:cNvPr id="28" name="Picture 27" descr="image.png"/>
          <p:cNvPicPr>
            <a:picLocks noChangeAspect="1"/>
          </p:cNvPicPr>
          <p:nvPr/>
        </p:nvPicPr>
        <p:blipFill>
          <a:blip r:embed="rId7"/>
          <a:stretch>
            <a:fillRect/>
          </a:stretch>
        </p:blipFill>
        <p:spPr>
          <a:xfrm>
            <a:off x="5805487" y="6386512"/>
            <a:ext cx="200025" cy="2476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102816" cy="904875"/>
          </a:xfrm>
          <a:prstGeom prst="rect">
            <a:avLst/>
          </a:prstGeom>
        </p:spPr>
      </p:pic>
      <p:pic>
        <p:nvPicPr>
          <p:cNvPr id="3" name="Picture 2" descr="image.png"/>
          <p:cNvPicPr>
            <a:picLocks noChangeAspect="1"/>
          </p:cNvPicPr>
          <p:nvPr/>
        </p:nvPicPr>
        <p:blipFill>
          <a:blip r:embed="rId3"/>
          <a:stretch>
            <a:fillRect/>
          </a:stretch>
        </p:blipFill>
        <p:spPr>
          <a:xfrm>
            <a:off x="7391400" y="2224087"/>
            <a:ext cx="4229100" cy="4000500"/>
          </a:xfrm>
          <a:prstGeom prst="rect">
            <a:avLst/>
          </a:prstGeom>
        </p:spPr>
      </p:pic>
      <p:pic>
        <p:nvPicPr>
          <p:cNvPr id="4" name="Picture 3" descr="image.png"/>
          <p:cNvPicPr>
            <a:picLocks noChangeAspect="1"/>
          </p:cNvPicPr>
          <p:nvPr/>
        </p:nvPicPr>
        <p:blipFill>
          <a:blip r:embed="rId4"/>
          <a:stretch>
            <a:fillRect/>
          </a:stretch>
        </p:blipFill>
        <p:spPr>
          <a:xfrm>
            <a:off x="0" y="0"/>
            <a:ext cx="12192000" cy="904875"/>
          </a:xfrm>
          <a:prstGeom prst="rect">
            <a:avLst/>
          </a:prstGeom>
        </p:spPr>
      </p:pic>
      <p:sp>
        <p:nvSpPr>
          <p:cNvPr id="5" name="TextBox 4"/>
          <p:cNvSpPr txBox="1"/>
          <p:nvPr/>
        </p:nvSpPr>
        <p:spPr>
          <a:xfrm>
            <a:off x="762000" y="1333500"/>
            <a:ext cx="11401425" cy="495300"/>
          </a:xfrm>
          <a:prstGeom prst="rect">
            <a:avLst/>
          </a:prstGeom>
          <a:noFill/>
        </p:spPr>
        <p:txBody>
          <a:bodyPr wrap="square" lIns="0" tIns="0" rIns="0" bIns="0" anchor="t">
            <a:spAutoFit/>
          </a:bodyPr>
          <a:lstStyle/>
          <a:p>
            <a:pPr algn="l"/>
            <a:r>
              <a:rPr sz="3150" b="0" i="0" u="none">
                <a:solidFill>
                  <a:srgbClr val="1B2452"/>
                </a:solidFill>
                <a:latin typeface="Montserrat ExtraBold"/>
              </a:rPr>
              <a:t>SỬ DỤNG AI HIỆU QUẢ (KHÔNG LẠM DỤNG)</a:t>
            </a:r>
          </a:p>
        </p:txBody>
      </p:sp>
      <p:sp>
        <p:nvSpPr>
          <p:cNvPr id="6" name="Rounded Rectangle 5"/>
          <p:cNvSpPr/>
          <p:nvPr/>
        </p:nvSpPr>
        <p:spPr>
          <a:xfrm>
            <a:off x="10820400" y="433387"/>
            <a:ext cx="571500" cy="381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87150" y="395287"/>
            <a:ext cx="114300" cy="11430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696700" y="395287"/>
            <a:ext cx="114300" cy="114300"/>
          </a:xfrm>
          <a:prstGeom prst="roundRect">
            <a:avLst>
              <a:gd name="adj" fmla="val 16666"/>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2140" y="1332230"/>
            <a:ext cx="76200" cy="400050"/>
          </a:xfrm>
          <a:prstGeom prst="roundRect">
            <a:avLst>
              <a:gd name="adj" fmla="val 50000"/>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5"/>
          <a:stretch>
            <a:fillRect/>
          </a:stretch>
        </p:blipFill>
        <p:spPr>
          <a:xfrm>
            <a:off x="285750" y="142875"/>
            <a:ext cx="531316" cy="619125"/>
          </a:xfrm>
          <a:prstGeom prst="rect">
            <a:avLst/>
          </a:prstGeom>
        </p:spPr>
      </p:pic>
      <p:sp>
        <p:nvSpPr>
          <p:cNvPr id="11" name="TextBox 10"/>
          <p:cNvSpPr txBox="1"/>
          <p:nvPr/>
        </p:nvSpPr>
        <p:spPr>
          <a:xfrm>
            <a:off x="1388566" y="200025"/>
            <a:ext cx="2800350" cy="304800"/>
          </a:xfrm>
          <a:prstGeom prst="rect">
            <a:avLst/>
          </a:prstGeom>
          <a:noFill/>
        </p:spPr>
        <p:txBody>
          <a:bodyPr wrap="square" lIns="0" tIns="0" rIns="0" bIns="0" anchor="t">
            <a:spAutoFit/>
          </a:bodyPr>
          <a:lstStyle/>
          <a:p>
            <a:pPr algn="l"/>
            <a:r>
              <a:rPr sz="1800" b="1" i="0" u="none">
                <a:solidFill>
                  <a:srgbClr val="FFFFFF"/>
                </a:solidFill>
                <a:latin typeface="Nunito"/>
              </a:rPr>
              <a:t>HỌC VIỆN NGÂN HÀNG</a:t>
            </a:r>
          </a:p>
        </p:txBody>
      </p:sp>
      <p:sp>
        <p:nvSpPr>
          <p:cNvPr id="12" name="TextBox 11"/>
          <p:cNvSpPr txBox="1"/>
          <p:nvPr/>
        </p:nvSpPr>
        <p:spPr>
          <a:xfrm>
            <a:off x="1388566" y="523875"/>
            <a:ext cx="2800350" cy="180975"/>
          </a:xfrm>
          <a:prstGeom prst="rect">
            <a:avLst/>
          </a:prstGeom>
          <a:noFill/>
        </p:spPr>
        <p:txBody>
          <a:bodyPr wrap="square" lIns="0" tIns="0" rIns="0" bIns="0" anchor="t">
            <a:spAutoFit/>
          </a:bodyPr>
          <a:lstStyle/>
          <a:p>
            <a:pPr algn="l"/>
            <a:r>
              <a:rPr sz="1050" b="0" i="0" u="none">
                <a:solidFill>
                  <a:srgbClr val="FDB913"/>
                </a:solidFill>
                <a:latin typeface="Nunito SemiBold"/>
              </a:rPr>
              <a:t>BANKING ACADEMY OF VIETNAM</a:t>
            </a:r>
          </a:p>
        </p:txBody>
      </p:sp>
      <p:sp>
        <p:nvSpPr>
          <p:cNvPr id="13" name="TextBox 12"/>
          <p:cNvSpPr txBox="1"/>
          <p:nvPr/>
        </p:nvSpPr>
        <p:spPr>
          <a:xfrm>
            <a:off x="571500" y="2188368"/>
            <a:ext cx="6343650" cy="628650"/>
          </a:xfrm>
          <a:prstGeom prst="rect">
            <a:avLst/>
          </a:prstGeom>
          <a:noFill/>
        </p:spPr>
        <p:txBody>
          <a:bodyPr wrap="square" lIns="0" tIns="0" rIns="0" bIns="0" anchor="t">
            <a:spAutoFit/>
          </a:bodyPr>
          <a:lstStyle/>
          <a:p>
            <a:pPr algn="l">
              <a:lnSpc>
                <a:spcPts val="2475"/>
              </a:lnSpc>
            </a:pPr>
            <a:r>
              <a:rPr sz="1650" b="0" i="0" u="none">
                <a:solidFill>
                  <a:srgbClr val="2C3E50"/>
                </a:solidFill>
                <a:latin typeface="Nunito"/>
              </a:rPr>
              <a:t>AI là công cụ hỗ trợ đắc lực, nhưng để thực sự làm chủ công nghệ, sinh viên cần áp dụng các phương pháp sau:</a:t>
            </a:r>
          </a:p>
        </p:txBody>
      </p:sp>
      <p:pic>
        <p:nvPicPr>
          <p:cNvPr id="14" name="Picture 13" descr="image.png"/>
          <p:cNvPicPr>
            <a:picLocks noChangeAspect="1"/>
          </p:cNvPicPr>
          <p:nvPr/>
        </p:nvPicPr>
        <p:blipFill>
          <a:blip r:embed="rId6"/>
          <a:stretch>
            <a:fillRect/>
          </a:stretch>
        </p:blipFill>
        <p:spPr>
          <a:xfrm>
            <a:off x="7391400" y="2224087"/>
            <a:ext cx="4229100" cy="4000500"/>
          </a:xfrm>
          <a:prstGeom prst="rect">
            <a:avLst/>
          </a:prstGeom>
        </p:spPr>
      </p:pic>
      <p:sp>
        <p:nvSpPr>
          <p:cNvPr id="15" name="TextBox 14"/>
          <p:cNvSpPr txBox="1"/>
          <p:nvPr/>
        </p:nvSpPr>
        <p:spPr>
          <a:xfrm>
            <a:off x="1000125" y="3055143"/>
            <a:ext cx="5915025" cy="542925"/>
          </a:xfrm>
          <a:prstGeom prst="rect">
            <a:avLst/>
          </a:prstGeom>
          <a:noFill/>
        </p:spPr>
        <p:txBody>
          <a:bodyPr wrap="square" lIns="0" tIns="0" rIns="0" bIns="0" anchor="t">
            <a:spAutoFit/>
          </a:bodyPr>
          <a:lstStyle/>
          <a:p>
            <a:pPr algn="l">
              <a:lnSpc>
                <a:spcPts val="2135"/>
              </a:lnSpc>
            </a:pPr>
            <a:r>
              <a:rPr sz="1425" b="1" i="0" u="none">
                <a:solidFill>
                  <a:srgbClr val="2C3E50"/>
                </a:solidFill>
                <a:latin typeface="Nunito"/>
              </a:rPr>
              <a:t>Hiểu Code Trước Khi Dùng:</a:t>
            </a:r>
            <a:r>
              <a:rPr sz="1425" b="0" i="0" u="none">
                <a:solidFill>
                  <a:srgbClr val="2C3E50"/>
                </a:solidFill>
                <a:latin typeface="Nunito"/>
              </a:rPr>
              <a:t> Tuyệt đối không copy-paste mù quáng. Hãy yêu cầu AI giải thích từng dòng code để hiểu rõ logic.</a:t>
            </a:r>
          </a:p>
        </p:txBody>
      </p:sp>
      <p:sp>
        <p:nvSpPr>
          <p:cNvPr id="16" name="TextBox 15"/>
          <p:cNvSpPr txBox="1"/>
          <p:nvPr/>
        </p:nvSpPr>
        <p:spPr>
          <a:xfrm>
            <a:off x="1000125" y="3788568"/>
            <a:ext cx="5915025" cy="814387"/>
          </a:xfrm>
          <a:prstGeom prst="rect">
            <a:avLst/>
          </a:prstGeom>
          <a:noFill/>
        </p:spPr>
        <p:txBody>
          <a:bodyPr wrap="square" lIns="0" tIns="0" rIns="0" bIns="0" anchor="t">
            <a:spAutoFit/>
          </a:bodyPr>
          <a:lstStyle/>
          <a:p>
            <a:pPr algn="l">
              <a:lnSpc>
                <a:spcPts val="2135"/>
              </a:lnSpc>
            </a:pPr>
            <a:r>
              <a:rPr sz="1425" b="1" i="0" u="none">
                <a:solidFill>
                  <a:srgbClr val="2C3E50"/>
                </a:solidFill>
                <a:latin typeface="Nunito"/>
              </a:rPr>
              <a:t>Dùng AI như một Mentor:</a:t>
            </a:r>
            <a:r>
              <a:rPr sz="1425" b="0" i="0" u="none">
                <a:solidFill>
                  <a:srgbClr val="2C3E50"/>
                </a:solidFill>
                <a:latin typeface="Nunito"/>
              </a:rPr>
              <a:t> Đặt câu hỏi về tư duy kiến trúc hệ thống, cách chọn State Management phù hợp thay vì nhờ sinh code toàn bộ ứng dụng.</a:t>
            </a:r>
          </a:p>
        </p:txBody>
      </p:sp>
      <p:sp>
        <p:nvSpPr>
          <p:cNvPr id="17" name="TextBox 16"/>
          <p:cNvSpPr txBox="1"/>
          <p:nvPr/>
        </p:nvSpPr>
        <p:spPr>
          <a:xfrm>
            <a:off x="1000125" y="4793456"/>
            <a:ext cx="5915025" cy="542925"/>
          </a:xfrm>
          <a:prstGeom prst="rect">
            <a:avLst/>
          </a:prstGeom>
          <a:noFill/>
        </p:spPr>
        <p:txBody>
          <a:bodyPr wrap="square" lIns="0" tIns="0" rIns="0" bIns="0" anchor="t">
            <a:spAutoFit/>
          </a:bodyPr>
          <a:lstStyle/>
          <a:p>
            <a:pPr algn="l">
              <a:lnSpc>
                <a:spcPts val="2135"/>
              </a:lnSpc>
            </a:pPr>
            <a:r>
              <a:rPr sz="1425" b="1" i="0" u="none">
                <a:solidFill>
                  <a:srgbClr val="2C3E50"/>
                </a:solidFill>
                <a:latin typeface="Nunito"/>
              </a:rPr>
              <a:t>Hỗ trợ Debug thông minh:</a:t>
            </a:r>
            <a:r>
              <a:rPr sz="1425" b="0" i="0" u="none">
                <a:solidFill>
                  <a:srgbClr val="2C3E50"/>
                </a:solidFill>
                <a:latin typeface="Nunito"/>
              </a:rPr>
              <a:t> Cung cấp log lỗi (stack trace) cho AI để phân tích và tìm ra nguyên nhân, từ đó rút kinh nghiệm.</a:t>
            </a:r>
          </a:p>
        </p:txBody>
      </p:sp>
      <p:sp>
        <p:nvSpPr>
          <p:cNvPr id="18" name="TextBox 17"/>
          <p:cNvSpPr txBox="1"/>
          <p:nvPr/>
        </p:nvSpPr>
        <p:spPr>
          <a:xfrm>
            <a:off x="1000125" y="5526881"/>
            <a:ext cx="5915025" cy="542925"/>
          </a:xfrm>
          <a:prstGeom prst="rect">
            <a:avLst/>
          </a:prstGeom>
          <a:noFill/>
        </p:spPr>
        <p:txBody>
          <a:bodyPr wrap="square" lIns="0" tIns="0" rIns="0" bIns="0" anchor="t">
            <a:spAutoFit/>
          </a:bodyPr>
          <a:lstStyle/>
          <a:p>
            <a:pPr algn="l">
              <a:lnSpc>
                <a:spcPts val="2135"/>
              </a:lnSpc>
            </a:pPr>
            <a:r>
              <a:rPr sz="1425" b="1" i="0" u="none">
                <a:solidFill>
                  <a:srgbClr val="2C3E50"/>
                </a:solidFill>
                <a:latin typeface="Nunito"/>
              </a:rPr>
              <a:t>Sinh Dữ Liệu Mẫu (Mock Data):</a:t>
            </a:r>
            <a:r>
              <a:rPr sz="1425" b="0" i="0" u="none">
                <a:solidFill>
                  <a:srgbClr val="2C3E50"/>
                </a:solidFill>
                <a:latin typeface="Nunito"/>
              </a:rPr>
              <a:t> Nhờ AI tạo nhanh các file JSON cấu trúc để làm dữ liệu giả lập test UI trong lúc chờ Backend hoàn thành.</a:t>
            </a:r>
          </a:p>
        </p:txBody>
      </p:sp>
      <p:pic>
        <p:nvPicPr>
          <p:cNvPr id="19" name="Picture 18" descr="image.png"/>
          <p:cNvPicPr>
            <a:picLocks noChangeAspect="1"/>
          </p:cNvPicPr>
          <p:nvPr/>
        </p:nvPicPr>
        <p:blipFill>
          <a:blip r:embed="rId7"/>
          <a:stretch>
            <a:fillRect/>
          </a:stretch>
        </p:blipFill>
        <p:spPr>
          <a:xfrm>
            <a:off x="571500" y="3074193"/>
            <a:ext cx="171450" cy="247650"/>
          </a:xfrm>
          <a:prstGeom prst="rect">
            <a:avLst/>
          </a:prstGeom>
        </p:spPr>
      </p:pic>
      <p:pic>
        <p:nvPicPr>
          <p:cNvPr id="20" name="Picture 19" descr="image.png"/>
          <p:cNvPicPr>
            <a:picLocks noChangeAspect="1"/>
          </p:cNvPicPr>
          <p:nvPr/>
        </p:nvPicPr>
        <p:blipFill>
          <a:blip r:embed="rId8"/>
          <a:stretch>
            <a:fillRect/>
          </a:stretch>
        </p:blipFill>
        <p:spPr>
          <a:xfrm>
            <a:off x="571500" y="3807618"/>
            <a:ext cx="200025" cy="247650"/>
          </a:xfrm>
          <a:prstGeom prst="rect">
            <a:avLst/>
          </a:prstGeom>
        </p:spPr>
      </p:pic>
      <p:pic>
        <p:nvPicPr>
          <p:cNvPr id="21" name="Picture 20" descr="image.png"/>
          <p:cNvPicPr>
            <a:picLocks noChangeAspect="1"/>
          </p:cNvPicPr>
          <p:nvPr/>
        </p:nvPicPr>
        <p:blipFill>
          <a:blip r:embed="rId9"/>
          <a:stretch>
            <a:fillRect/>
          </a:stretch>
        </p:blipFill>
        <p:spPr>
          <a:xfrm>
            <a:off x="571500" y="4812506"/>
            <a:ext cx="285750" cy="247650"/>
          </a:xfrm>
          <a:prstGeom prst="rect">
            <a:avLst/>
          </a:prstGeom>
        </p:spPr>
      </p:pic>
      <p:pic>
        <p:nvPicPr>
          <p:cNvPr id="22" name="Picture 21" descr="image.png"/>
          <p:cNvPicPr>
            <a:picLocks noChangeAspect="1"/>
          </p:cNvPicPr>
          <p:nvPr/>
        </p:nvPicPr>
        <p:blipFill>
          <a:blip r:embed="rId10"/>
          <a:stretch>
            <a:fillRect/>
          </a:stretch>
        </p:blipFill>
        <p:spPr>
          <a:xfrm>
            <a:off x="571500" y="5545931"/>
            <a:ext cx="200025" cy="2476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833880" y="4217035"/>
            <a:ext cx="8166100" cy="1802765"/>
          </a:xfrm>
          <a:prstGeom prst="rect">
            <a:avLst/>
          </a:prstGeom>
        </p:spPr>
      </p:pic>
      <p:sp>
        <p:nvSpPr>
          <p:cNvPr id="4" name="TextBox 3"/>
          <p:cNvSpPr txBox="1"/>
          <p:nvPr/>
        </p:nvSpPr>
        <p:spPr>
          <a:xfrm>
            <a:off x="1015365" y="1314450"/>
            <a:ext cx="10161270" cy="742950"/>
          </a:xfrm>
          <a:prstGeom prst="rect">
            <a:avLst/>
          </a:prstGeom>
          <a:noFill/>
        </p:spPr>
        <p:txBody>
          <a:bodyPr wrap="square" lIns="0" tIns="0" rIns="0" bIns="0" anchor="t">
            <a:spAutoFit/>
          </a:bodyPr>
          <a:lstStyle/>
          <a:p>
            <a:pPr algn="ctr"/>
            <a:r>
              <a:rPr sz="4800" b="0" i="0" u="none">
                <a:solidFill>
                  <a:srgbClr val="FDB913"/>
                </a:solidFill>
                <a:latin typeface="Montserrat ExtraBold"/>
              </a:rPr>
              <a:t>THANK YOU FOR WATCHING</a:t>
            </a:r>
          </a:p>
        </p:txBody>
      </p:sp>
      <p:sp>
        <p:nvSpPr>
          <p:cNvPr id="5" name="TextBox 4"/>
          <p:cNvSpPr txBox="1"/>
          <p:nvPr/>
        </p:nvSpPr>
        <p:spPr>
          <a:xfrm>
            <a:off x="2649855" y="4636135"/>
            <a:ext cx="6553200" cy="368935"/>
          </a:xfrm>
          <a:prstGeom prst="rect">
            <a:avLst/>
          </a:prstGeom>
          <a:noFill/>
        </p:spPr>
        <p:txBody>
          <a:bodyPr wrap="square" lIns="0" tIns="0" rIns="0" bIns="0" anchor="t">
            <a:spAutoFit/>
          </a:bodyPr>
          <a:lstStyle/>
          <a:p>
            <a:pPr algn="ctr"/>
            <a:r>
              <a:rPr sz="2400" b="1" i="0" u="none">
                <a:solidFill>
                  <a:srgbClr val="FFFFFF"/>
                </a:solidFill>
                <a:latin typeface="Montserrat"/>
              </a:rPr>
              <a:t>HỌC VIỆN NGÂN HÀNG</a:t>
            </a:r>
          </a:p>
        </p:txBody>
      </p:sp>
      <p:sp>
        <p:nvSpPr>
          <p:cNvPr id="6" name="TextBox 5"/>
          <p:cNvSpPr txBox="1"/>
          <p:nvPr/>
        </p:nvSpPr>
        <p:spPr>
          <a:xfrm>
            <a:off x="2807335" y="5245735"/>
            <a:ext cx="6240145" cy="288290"/>
          </a:xfrm>
          <a:prstGeom prst="rect">
            <a:avLst/>
          </a:prstGeom>
          <a:noFill/>
        </p:spPr>
        <p:txBody>
          <a:bodyPr wrap="square" lIns="0" tIns="0" rIns="0" bIns="0" anchor="t">
            <a:spAutoFit/>
          </a:bodyPr>
          <a:lstStyle/>
          <a:p>
            <a:pPr algn="ctr">
              <a:lnSpc>
                <a:spcPts val="2250"/>
              </a:lnSpc>
            </a:pPr>
            <a:r>
              <a:rPr sz="1500" b="0" i="0" u="none">
                <a:solidFill>
                  <a:srgbClr val="CBD5E1"/>
                </a:solidFill>
                <a:latin typeface="Nunito"/>
              </a:rPr>
              <a:t>12 P. Chùa Bộc, P. Kim Liên, TP. Hà Nội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1358</Words>
  <Application>Microsoft Office PowerPoint</Application>
  <PresentationFormat>Widescreen</PresentationFormat>
  <Paragraphs>167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Montserrat</vt:lpstr>
      <vt:lpstr>Montserrat ExtraBold</vt:lpstr>
      <vt:lpstr>Montserrat Medium</vt:lpstr>
      <vt:lpstr>Nunito</vt:lpstr>
      <vt:lpstr>Nunito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Phan Quang Huy</cp:lastModifiedBy>
  <cp:revision>5</cp:revision>
  <dcterms:created xsi:type="dcterms:W3CDTF">2026-08-04T07:48:10Z</dcterms:created>
  <dcterms:modified xsi:type="dcterms:W3CDTF">2026-08-11T10:19:11Z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CE44586A1D5040835396716AEEA2215E_42</vt:lpwstr>
  </property>
  <property fmtid="{D5CDD505-2E9C-101B-9397-08002B2CF9AE}" pid="3" name="KSOProductBuildVer">
    <vt:lpwstr>1033-12.1.25898.25898</vt:lpwstr>
  </property>
</Properties>
</file>